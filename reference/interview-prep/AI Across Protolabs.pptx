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18" d="100"/>
          <a:sy n="118" d="100"/>
        </p:scale>
        <p:origin x="250"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828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628650" y="857250"/>
            <a:ext cx="4629150" cy="155377"/>
          </a:xfrm>
          <a:prstGeom prst="rect">
            <a:avLst/>
          </a:prstGeom>
          <a:noFill/>
          <a:ln/>
        </p:spPr>
        <p:txBody>
          <a:bodyPr wrap="none" lIns="0" tIns="0" rIns="0" bIns="0" rtlCol="0" anchor="t">
            <a:spAutoFit/>
          </a:bodyPr>
          <a:lstStyle/>
          <a:p>
            <a:pPr marL="0" indent="0" algn="l">
              <a:lnSpc>
                <a:spcPts val="1200"/>
              </a:lnSpc>
              <a:buNone/>
            </a:pPr>
            <a:r>
              <a:rPr lang="en-US" sz="885" b="1" kern="0" spc="3" dirty="0">
                <a:solidFill>
                  <a:srgbClr val="1D4ED8"/>
                </a:solidFill>
                <a:latin typeface="Inter" pitchFamily="34" charset="0"/>
                <a:ea typeface="Inter" pitchFamily="34" charset="-122"/>
                <a:cs typeface="Inter" pitchFamily="34" charset="-120"/>
              </a:rPr>
              <a:t>INTERVIEW STRATEGY DECK</a:t>
            </a:r>
            <a:endParaRPr lang="en-US" sz="885" dirty="0"/>
          </a:p>
        </p:txBody>
      </p:sp>
      <p:sp>
        <p:nvSpPr>
          <p:cNvPr id="4" name="Text 1"/>
          <p:cNvSpPr/>
          <p:nvPr/>
        </p:nvSpPr>
        <p:spPr>
          <a:xfrm>
            <a:off x="628650" y="1212652"/>
            <a:ext cx="4629150" cy="1398975"/>
          </a:xfrm>
          <a:prstGeom prst="rect">
            <a:avLst/>
          </a:prstGeom>
          <a:noFill/>
          <a:ln/>
        </p:spPr>
        <p:txBody>
          <a:bodyPr wrap="square" lIns="0" tIns="0" rIns="0" bIns="0" rtlCol="0" anchor="t">
            <a:spAutoFit/>
          </a:bodyPr>
          <a:lstStyle/>
          <a:p>
            <a:pPr marL="0" indent="0" algn="l">
              <a:lnSpc>
                <a:spcPts val="3700"/>
              </a:lnSpc>
              <a:buNone/>
            </a:pPr>
            <a:r>
              <a:rPr lang="en-US" sz="3294" b="1" dirty="0">
                <a:solidFill>
                  <a:srgbClr val="123B6D"/>
                </a:solidFill>
                <a:latin typeface="Inter" pitchFamily="34" charset="0"/>
                <a:ea typeface="Inter" pitchFamily="34" charset="-122"/>
                <a:cs typeface="Inter" pitchFamily="34" charset="-120"/>
              </a:rPr>
              <a:t>AI Across Protolabs' Production Manufacturing Flow</a:t>
            </a:r>
            <a:endParaRPr lang="en-US" sz="3294" dirty="0"/>
          </a:p>
        </p:txBody>
      </p:sp>
      <p:sp>
        <p:nvSpPr>
          <p:cNvPr id="5" name="Text 2"/>
          <p:cNvSpPr/>
          <p:nvPr/>
        </p:nvSpPr>
        <p:spPr>
          <a:xfrm>
            <a:off x="628650" y="2811652"/>
            <a:ext cx="4572000" cy="1002916"/>
          </a:xfrm>
          <a:prstGeom prst="rect">
            <a:avLst/>
          </a:prstGeom>
          <a:noFill/>
          <a:ln/>
        </p:spPr>
        <p:txBody>
          <a:bodyPr wrap="square" lIns="0" tIns="0" rIns="0" bIns="0" rtlCol="0" anchor="t">
            <a:spAutoFit/>
          </a:bodyPr>
          <a:lstStyle/>
          <a:p>
            <a:pPr marL="0" indent="0" algn="l">
              <a:lnSpc>
                <a:spcPts val="2000"/>
              </a:lnSpc>
              <a:buNone/>
            </a:pPr>
            <a:r>
              <a:rPr lang="en-US" sz="1295" b="1" dirty="0">
                <a:solidFill>
                  <a:srgbClr val="334155"/>
                </a:solidFill>
                <a:latin typeface="Inter" pitchFamily="34" charset="0"/>
                <a:ea typeface="Inter" pitchFamily="34" charset="-122"/>
                <a:cs typeface="Inter" pitchFamily="34" charset="-120"/>
              </a:rPr>
              <a:t>Business opportunities by stage, the ML and camera capabilities required, a practical implementation path, and the metrics that prove value.</a:t>
            </a:r>
            <a:endParaRPr lang="en-US" sz="1295" dirty="0"/>
          </a:p>
        </p:txBody>
      </p:sp>
      <p:sp>
        <p:nvSpPr>
          <p:cNvPr id="6" name="Text 3"/>
          <p:cNvSpPr/>
          <p:nvPr/>
        </p:nvSpPr>
        <p:spPr>
          <a:xfrm>
            <a:off x="628650" y="4186042"/>
            <a:ext cx="4429125" cy="453628"/>
          </a:xfrm>
          <a:prstGeom prst="rect">
            <a:avLst/>
          </a:prstGeom>
          <a:noFill/>
          <a:ln/>
        </p:spPr>
        <p:txBody>
          <a:bodyPr wrap="square" lIns="0" tIns="153035" rIns="0" bIns="0" rtlCol="0" anchor="t">
            <a:spAutoFit/>
          </a:bodyPr>
          <a:lstStyle/>
          <a:p>
            <a:pPr marL="0" indent="0" algn="l">
              <a:lnSpc>
                <a:spcPts val="1200"/>
              </a:lnSpc>
              <a:buNone/>
            </a:pPr>
            <a:r>
              <a:rPr lang="en-US" sz="942" dirty="0">
                <a:solidFill>
                  <a:srgbClr val="475569"/>
                </a:solidFill>
                <a:latin typeface="Inter" pitchFamily="34" charset="0"/>
                <a:ea typeface="Inter" pitchFamily="34" charset="-122"/>
                <a:cs typeface="Inter" pitchFamily="34" charset="-120"/>
              </a:rPr>
              <a:t>Round 2  · Expanded version with stage-by-stage companion slides for disruption logic, execution, and measurable outcomes.</a:t>
            </a:r>
            <a:endParaRPr lang="en-US" sz="942" dirty="0"/>
          </a:p>
        </p:txBody>
      </p:sp>
      <p:sp>
        <p:nvSpPr>
          <p:cNvPr id="7" name="Shape 4"/>
          <p:cNvSpPr/>
          <p:nvPr/>
        </p:nvSpPr>
        <p:spPr>
          <a:xfrm>
            <a:off x="5557838" y="921544"/>
            <a:ext cx="3071813" cy="3857625"/>
          </a:xfrm>
          <a:prstGeom prst="rect">
            <a:avLst/>
          </a:prstGeom>
          <a:solidFill>
            <a:srgbClr val="FFFFFF">
              <a:alpha val="30000"/>
            </a:srgbClr>
          </a:solidFill>
          <a:ln w="18288">
            <a:solidFill>
              <a:srgbClr val="123B6D">
                <a:alpha val="18000"/>
              </a:srgbClr>
            </a:solidFill>
            <a:prstDash val="solid"/>
          </a:ln>
        </p:spPr>
        <p:txBody>
          <a:bodyPr/>
          <a:lstStyle/>
          <a:p>
            <a:endParaRPr lang="en-NL"/>
          </a:p>
        </p:txBody>
      </p:sp>
      <p:sp>
        <p:nvSpPr>
          <p:cNvPr id="8" name="Text 5"/>
          <p:cNvSpPr/>
          <p:nvPr/>
        </p:nvSpPr>
        <p:spPr>
          <a:xfrm>
            <a:off x="5757863" y="4552355"/>
            <a:ext cx="374991" cy="112514"/>
          </a:xfrm>
          <a:prstGeom prst="rect">
            <a:avLst/>
          </a:prstGeom>
          <a:noFill/>
          <a:ln/>
        </p:spPr>
        <p:txBody>
          <a:bodyPr wrap="none" lIns="0" tIns="0" rIns="0" bIns="0" rtlCol="0" anchor="t">
            <a:spAutoFit/>
          </a:bodyPr>
          <a:lstStyle/>
          <a:p>
            <a:pPr marL="0" indent="0" algn="l">
              <a:lnSpc>
                <a:spcPts val="900"/>
              </a:lnSpc>
              <a:buNone/>
            </a:pPr>
            <a:r>
              <a:rPr lang="en-US" sz="674" kern="0" spc="1" dirty="0">
                <a:solidFill>
                  <a:srgbClr val="64748B"/>
                </a:solidFill>
                <a:latin typeface="Inter" pitchFamily="34" charset="0"/>
                <a:ea typeface="Inter" pitchFamily="34" charset="-122"/>
                <a:cs typeface="Inter" pitchFamily="34" charset="-120"/>
              </a:rPr>
              <a:t>INTAKE</a:t>
            </a:r>
            <a:endParaRPr lang="en-US" sz="674" dirty="0"/>
          </a:p>
        </p:txBody>
      </p:sp>
      <p:sp>
        <p:nvSpPr>
          <p:cNvPr id="9" name="Text 6"/>
          <p:cNvSpPr/>
          <p:nvPr/>
        </p:nvSpPr>
        <p:spPr>
          <a:xfrm>
            <a:off x="6249749" y="4552355"/>
            <a:ext cx="687167" cy="112514"/>
          </a:xfrm>
          <a:prstGeom prst="rect">
            <a:avLst/>
          </a:prstGeom>
          <a:noFill/>
          <a:ln/>
        </p:spPr>
        <p:txBody>
          <a:bodyPr wrap="none" lIns="0" tIns="0" rIns="0" bIns="0" rtlCol="0" anchor="t">
            <a:spAutoFit/>
          </a:bodyPr>
          <a:lstStyle/>
          <a:p>
            <a:pPr marL="0" indent="0" algn="l">
              <a:lnSpc>
                <a:spcPts val="900"/>
              </a:lnSpc>
              <a:buNone/>
            </a:pPr>
            <a:r>
              <a:rPr lang="en-US" sz="674" kern="0" spc="1" dirty="0">
                <a:solidFill>
                  <a:srgbClr val="64748B"/>
                </a:solidFill>
                <a:latin typeface="Inter" pitchFamily="34" charset="0"/>
                <a:ea typeface="Inter" pitchFamily="34" charset="-122"/>
                <a:cs typeface="Inter" pitchFamily="34" charset="-120"/>
              </a:rPr>
              <a:t>DECISIONING</a:t>
            </a:r>
            <a:endParaRPr lang="en-US" sz="674" dirty="0"/>
          </a:p>
        </p:txBody>
      </p:sp>
      <p:sp>
        <p:nvSpPr>
          <p:cNvPr id="10" name="Text 7"/>
          <p:cNvSpPr/>
          <p:nvPr/>
        </p:nvSpPr>
        <p:spPr>
          <a:xfrm>
            <a:off x="7053811" y="4552355"/>
            <a:ext cx="912781" cy="112514"/>
          </a:xfrm>
          <a:prstGeom prst="rect">
            <a:avLst/>
          </a:prstGeom>
          <a:noFill/>
          <a:ln/>
        </p:spPr>
        <p:txBody>
          <a:bodyPr wrap="none" lIns="0" tIns="0" rIns="0" bIns="0" rtlCol="0" anchor="t">
            <a:spAutoFit/>
          </a:bodyPr>
          <a:lstStyle/>
          <a:p>
            <a:pPr marL="0" indent="0" algn="l">
              <a:lnSpc>
                <a:spcPts val="900"/>
              </a:lnSpc>
              <a:buNone/>
            </a:pPr>
            <a:r>
              <a:rPr lang="en-US" sz="674" kern="0" spc="1" dirty="0">
                <a:solidFill>
                  <a:srgbClr val="64748B"/>
                </a:solidFill>
                <a:latin typeface="Inter" pitchFamily="34" charset="0"/>
                <a:ea typeface="Inter" pitchFamily="34" charset="-122"/>
                <a:cs typeface="Inter" pitchFamily="34" charset="-120"/>
              </a:rPr>
              <a:t>MANUFACTURING</a:t>
            </a:r>
            <a:endParaRPr lang="en-US" sz="674" dirty="0"/>
          </a:p>
        </p:txBody>
      </p:sp>
      <p:sp>
        <p:nvSpPr>
          <p:cNvPr id="11" name="Text 8"/>
          <p:cNvSpPr/>
          <p:nvPr/>
        </p:nvSpPr>
        <p:spPr>
          <a:xfrm>
            <a:off x="8083488" y="4552355"/>
            <a:ext cx="346137" cy="112514"/>
          </a:xfrm>
          <a:prstGeom prst="rect">
            <a:avLst/>
          </a:prstGeom>
          <a:noFill/>
          <a:ln/>
        </p:spPr>
        <p:txBody>
          <a:bodyPr wrap="none" lIns="0" tIns="0" rIns="0" bIns="0" rtlCol="0" anchor="t">
            <a:spAutoFit/>
          </a:bodyPr>
          <a:lstStyle/>
          <a:p>
            <a:pPr marL="0" indent="0" algn="l">
              <a:lnSpc>
                <a:spcPts val="900"/>
              </a:lnSpc>
              <a:buNone/>
            </a:pPr>
            <a:r>
              <a:rPr lang="en-US" sz="674" kern="0" spc="1" dirty="0">
                <a:solidFill>
                  <a:srgbClr val="64748B"/>
                </a:solidFill>
                <a:latin typeface="Inter" pitchFamily="34" charset="0"/>
                <a:ea typeface="Inter" pitchFamily="34" charset="-122"/>
                <a:cs typeface="Inter" pitchFamily="34" charset="-120"/>
              </a:rPr>
              <a:t>TRUST</a:t>
            </a:r>
            <a:endParaRPr lang="en-US" sz="674" dirty="0"/>
          </a:p>
        </p:txBody>
      </p:sp>
      <p:sp>
        <p:nvSpPr>
          <p:cNvPr id="12" name="Text 9"/>
          <p:cNvSpPr/>
          <p:nvPr/>
        </p:nvSpPr>
        <p:spPr>
          <a:xfrm>
            <a:off x="628650" y="4779169"/>
            <a:ext cx="3371794" cy="121444"/>
          </a:xfrm>
          <a:prstGeom prst="rect">
            <a:avLst/>
          </a:prstGeom>
          <a:noFill/>
          <a:ln/>
        </p:spPr>
        <p:txBody>
          <a:bodyPr wrap="none" lIns="0" tIns="0" rIns="0" bIns="0" rtlCol="0" anchor="t">
            <a:spAutoFit/>
          </a:bodyPr>
          <a:lstStyle/>
          <a:p>
            <a:pPr marL="0" indent="0" algn="l">
              <a:lnSpc>
                <a:spcPts val="900"/>
              </a:lnSpc>
              <a:buNone/>
            </a:pPr>
            <a:r>
              <a:rPr lang="en-US" sz="727" dirty="0">
                <a:solidFill>
                  <a:srgbClr val="64748B"/>
                </a:solidFill>
                <a:latin typeface="Inter" pitchFamily="34" charset="0"/>
                <a:ea typeface="Inter" pitchFamily="34" charset="-122"/>
                <a:cs typeface="Inter" pitchFamily="34" charset="-120"/>
              </a:rPr>
              <a:t>PROTOLABS TPM-AI · AI STRATEGY ACROSS THE 9-STAGE FLOW</a:t>
            </a:r>
            <a:endParaRPr lang="en-US" sz="72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814388"/>
            <a:ext cx="1643063"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MASTER FRAME</a:t>
            </a:r>
            <a:endParaRPr lang="en-US" sz="734" dirty="0"/>
          </a:p>
        </p:txBody>
      </p:sp>
      <p:sp>
        <p:nvSpPr>
          <p:cNvPr id="4" name="Text 1"/>
          <p:cNvSpPr/>
          <p:nvPr/>
        </p:nvSpPr>
        <p:spPr>
          <a:xfrm>
            <a:off x="896021" y="272858"/>
            <a:ext cx="7463029" cy="307777"/>
          </a:xfrm>
          <a:prstGeom prst="rect">
            <a:avLst/>
          </a:prstGeom>
          <a:noFill/>
          <a:ln/>
        </p:spPr>
        <p:txBody>
          <a:bodyPr wrap="square" lIns="0" tIns="0" rIns="0" bIns="0" rtlCol="0" anchor="t">
            <a:spAutoFit/>
          </a:bodyPr>
          <a:lstStyle/>
          <a:p>
            <a:pPr marL="0" indent="0" algn="l">
              <a:lnSpc>
                <a:spcPts val="2400"/>
              </a:lnSpc>
              <a:buNone/>
            </a:pPr>
            <a:r>
              <a:rPr lang="en-US" sz="2016" b="1" dirty="0">
                <a:solidFill>
                  <a:srgbClr val="123B6D"/>
                </a:solidFill>
                <a:latin typeface="Inter" pitchFamily="34" charset="0"/>
                <a:ea typeface="Inter" pitchFamily="34" charset="-122"/>
                <a:cs typeface="Inter" pitchFamily="34" charset="-120"/>
              </a:rPr>
              <a:t>The conversation works best when every stage fits one strategic spine</a:t>
            </a:r>
            <a:endParaRPr lang="en-US" sz="2016" dirty="0"/>
          </a:p>
        </p:txBody>
      </p:sp>
      <p:sp>
        <p:nvSpPr>
          <p:cNvPr id="5" name="Text 2"/>
          <p:cNvSpPr/>
          <p:nvPr/>
        </p:nvSpPr>
        <p:spPr>
          <a:xfrm>
            <a:off x="500063" y="1042988"/>
            <a:ext cx="7715250" cy="795440"/>
          </a:xfrm>
          <a:prstGeom prst="rect">
            <a:avLst/>
          </a:prstGeom>
          <a:noFill/>
          <a:ln/>
        </p:spPr>
        <p:txBody>
          <a:bodyPr wrap="square" lIns="0" tIns="170053"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The point is not to present nine disconnected AI ideas. The point is to show a coherent operating model: use AI to widen the funnel, improve decisions, and build a proprietary learning loop while keeping engineers and quality teams in the loop where trust and regulation require judgment.</a:t>
            </a:r>
            <a:endParaRPr lang="en-US" sz="1104" dirty="0"/>
          </a:p>
        </p:txBody>
      </p:sp>
      <p:sp>
        <p:nvSpPr>
          <p:cNvPr id="6" name="Text 3"/>
          <p:cNvSpPr/>
          <p:nvPr/>
        </p:nvSpPr>
        <p:spPr>
          <a:xfrm>
            <a:off x="500063" y="2195615"/>
            <a:ext cx="2509828" cy="155377"/>
          </a:xfrm>
          <a:prstGeom prst="rect">
            <a:avLst/>
          </a:prstGeom>
          <a:noFill/>
          <a:ln/>
        </p:spPr>
        <p:txBody>
          <a:bodyPr wrap="none" lIns="0" tIns="0" rIns="0" bIns="0" rtlCol="0" anchor="t">
            <a:spAutoFit/>
          </a:bodyPr>
          <a:lstStyle/>
          <a:p>
            <a:pPr marL="0" indent="0" algn="l">
              <a:lnSpc>
                <a:spcPts val="1200"/>
              </a:lnSpc>
              <a:buNone/>
            </a:pPr>
            <a:r>
              <a:rPr lang="en-US" sz="885" b="1" kern="0" spc="2" dirty="0">
                <a:solidFill>
                  <a:srgbClr val="1D4ED8"/>
                </a:solidFill>
                <a:latin typeface="Inter" pitchFamily="34" charset="0"/>
                <a:ea typeface="Inter" pitchFamily="34" charset="-122"/>
                <a:cs typeface="Inter" pitchFamily="34" charset="-120"/>
              </a:rPr>
              <a:t>01</a:t>
            </a:r>
            <a:endParaRPr lang="en-US" sz="885" dirty="0"/>
          </a:p>
        </p:txBody>
      </p:sp>
      <p:sp>
        <p:nvSpPr>
          <p:cNvPr id="7" name="Text 4"/>
          <p:cNvSpPr/>
          <p:nvPr/>
        </p:nvSpPr>
        <p:spPr>
          <a:xfrm>
            <a:off x="500063" y="2436716"/>
            <a:ext cx="2214563" cy="896094"/>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Expand revenue and improve unit economics at the same time</a:t>
            </a:r>
            <a:endParaRPr lang="en-US" sz="1397" dirty="0"/>
          </a:p>
        </p:txBody>
      </p:sp>
      <p:sp>
        <p:nvSpPr>
          <p:cNvPr id="8" name="Text 5"/>
          <p:cNvSpPr/>
          <p:nvPr/>
        </p:nvSpPr>
        <p:spPr>
          <a:xfrm>
            <a:off x="461958" y="3222747"/>
            <a:ext cx="2357438" cy="1157288"/>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The strongest bets do both. Multimodal intake opens new no-CAD markets; routing, pricing, and machine intelligence improve margin, lead time, and throughput on the work already won.</a:t>
            </a:r>
            <a:endParaRPr lang="en-US" sz="942" dirty="0"/>
          </a:p>
        </p:txBody>
      </p:sp>
      <p:sp>
        <p:nvSpPr>
          <p:cNvPr id="9" name="Text 6"/>
          <p:cNvSpPr/>
          <p:nvPr/>
        </p:nvSpPr>
        <p:spPr>
          <a:xfrm>
            <a:off x="3281353" y="2195615"/>
            <a:ext cx="2509828" cy="155377"/>
          </a:xfrm>
          <a:prstGeom prst="rect">
            <a:avLst/>
          </a:prstGeom>
          <a:noFill/>
          <a:ln/>
        </p:spPr>
        <p:txBody>
          <a:bodyPr wrap="none" lIns="0" tIns="0" rIns="0" bIns="0" rtlCol="0" anchor="t">
            <a:spAutoFit/>
          </a:bodyPr>
          <a:lstStyle/>
          <a:p>
            <a:pPr marL="0" indent="0" algn="l">
              <a:lnSpc>
                <a:spcPts val="1200"/>
              </a:lnSpc>
              <a:buNone/>
            </a:pPr>
            <a:r>
              <a:rPr lang="en-US" sz="885" b="1" kern="0" spc="2" dirty="0">
                <a:solidFill>
                  <a:srgbClr val="1D4ED8"/>
                </a:solidFill>
                <a:latin typeface="Inter" pitchFamily="34" charset="0"/>
                <a:ea typeface="Inter" pitchFamily="34" charset="-122"/>
                <a:cs typeface="Inter" pitchFamily="34" charset="-120"/>
              </a:rPr>
              <a:t>02</a:t>
            </a:r>
            <a:endParaRPr lang="en-US" sz="885" dirty="0"/>
          </a:p>
        </p:txBody>
      </p:sp>
      <p:sp>
        <p:nvSpPr>
          <p:cNvPr id="10" name="Text 7"/>
          <p:cNvSpPr/>
          <p:nvPr/>
        </p:nvSpPr>
        <p:spPr>
          <a:xfrm>
            <a:off x="3281353" y="2436716"/>
            <a:ext cx="2214563"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Keep engineers in the loop and turn their judgment into data</a:t>
            </a:r>
            <a:endParaRPr lang="en-US" sz="1397" dirty="0"/>
          </a:p>
        </p:txBody>
      </p:sp>
      <p:sp>
        <p:nvSpPr>
          <p:cNvPr id="11" name="Text 8"/>
          <p:cNvSpPr/>
          <p:nvPr/>
        </p:nvSpPr>
        <p:spPr>
          <a:xfrm>
            <a:off x="3281353" y="3194512"/>
            <a:ext cx="2357438" cy="1350169"/>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AI should absorb repetition, pattern recognition, and drafting. Engineers remain accountable for exceptions, customer trust, and technical judgment. Their overrides become the training signal that improves the next model.</a:t>
            </a:r>
            <a:endParaRPr lang="en-US" sz="942" dirty="0"/>
          </a:p>
        </p:txBody>
      </p:sp>
      <p:sp>
        <p:nvSpPr>
          <p:cNvPr id="12" name="Text 9"/>
          <p:cNvSpPr/>
          <p:nvPr/>
        </p:nvSpPr>
        <p:spPr>
          <a:xfrm>
            <a:off x="6062644" y="2195615"/>
            <a:ext cx="2509856" cy="155377"/>
          </a:xfrm>
          <a:prstGeom prst="rect">
            <a:avLst/>
          </a:prstGeom>
          <a:noFill/>
          <a:ln/>
        </p:spPr>
        <p:txBody>
          <a:bodyPr wrap="none" lIns="0" tIns="0" rIns="0" bIns="0" rtlCol="0" anchor="t">
            <a:spAutoFit/>
          </a:bodyPr>
          <a:lstStyle/>
          <a:p>
            <a:pPr marL="0" indent="0" algn="l">
              <a:lnSpc>
                <a:spcPts val="1200"/>
              </a:lnSpc>
              <a:buNone/>
            </a:pPr>
            <a:r>
              <a:rPr lang="en-US" sz="885" b="1" kern="0" spc="2" dirty="0">
                <a:solidFill>
                  <a:srgbClr val="1D4ED8"/>
                </a:solidFill>
                <a:latin typeface="Inter" pitchFamily="34" charset="0"/>
                <a:ea typeface="Inter" pitchFamily="34" charset="-122"/>
                <a:cs typeface="Inter" pitchFamily="34" charset="-120"/>
              </a:rPr>
              <a:t>03</a:t>
            </a:r>
            <a:endParaRPr lang="en-US" sz="885" dirty="0"/>
          </a:p>
        </p:txBody>
      </p:sp>
      <p:sp>
        <p:nvSpPr>
          <p:cNvPr id="13" name="Text 10"/>
          <p:cNvSpPr/>
          <p:nvPr/>
        </p:nvSpPr>
        <p:spPr>
          <a:xfrm>
            <a:off x="6062644" y="2436716"/>
            <a:ext cx="2214563"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Sequence delivery so each stage unlocks the next</a:t>
            </a:r>
            <a:endParaRPr lang="en-US" sz="1397" dirty="0"/>
          </a:p>
        </p:txBody>
      </p:sp>
      <p:sp>
        <p:nvSpPr>
          <p:cNvPr id="14" name="Text 11"/>
          <p:cNvSpPr/>
          <p:nvPr/>
        </p:nvSpPr>
        <p:spPr>
          <a:xfrm>
            <a:off x="6062644" y="3194512"/>
            <a:ext cx="2357438" cy="1157288"/>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Start with intake and structured data, then add routing and engineer copilot, then push into vision, pricing loops, and machine intelligence. The value compounds only if the substrate is built first.</a:t>
            </a:r>
            <a:endParaRPr lang="en-US" sz="942" dirty="0"/>
          </a:p>
        </p:txBody>
      </p:sp>
      <p:sp>
        <p:nvSpPr>
          <p:cNvPr id="15" name="Text 12"/>
          <p:cNvSpPr/>
          <p:nvPr/>
        </p:nvSpPr>
        <p:spPr>
          <a:xfrm>
            <a:off x="500063" y="4704411"/>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6" name="Text 13"/>
          <p:cNvSpPr/>
          <p:nvPr/>
        </p:nvSpPr>
        <p:spPr>
          <a:xfrm>
            <a:off x="5533895" y="4704411"/>
            <a:ext cx="3110043"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STRATEGIC FRAMING BEFORE STAGE-BY-STAGE ANALYSIS</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71488"/>
            <a:ext cx="2357438"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1 / 9 · CLIENT EDGE</a:t>
            </a:r>
            <a:endParaRPr lang="en-US" sz="734" dirty="0"/>
          </a:p>
        </p:txBody>
      </p:sp>
      <p:sp>
        <p:nvSpPr>
          <p:cNvPr id="4" name="Text 1"/>
          <p:cNvSpPr/>
          <p:nvPr/>
        </p:nvSpPr>
        <p:spPr>
          <a:xfrm>
            <a:off x="500063" y="757238"/>
            <a:ext cx="2143125" cy="594327"/>
          </a:xfrm>
          <a:prstGeom prst="rect">
            <a:avLst/>
          </a:prstGeom>
          <a:noFill/>
          <a:ln/>
        </p:spPr>
        <p:txBody>
          <a:bodyPr wrap="square" lIns="0" tIns="0" rIns="0" bIns="0" rtlCol="0" anchor="t">
            <a:spAutoFit/>
          </a:bodyPr>
          <a:lstStyle/>
          <a:p>
            <a:pPr marL="0" indent="0" algn="l">
              <a:lnSpc>
                <a:spcPts val="2300"/>
              </a:lnSpc>
              <a:buNone/>
            </a:pPr>
            <a:r>
              <a:rPr lang="en-US" sz="2016" b="1" dirty="0">
                <a:solidFill>
                  <a:srgbClr val="123B6D"/>
                </a:solidFill>
                <a:latin typeface="Inter" pitchFamily="34" charset="0"/>
                <a:ea typeface="Inter" pitchFamily="34" charset="-122"/>
                <a:cs typeface="Inter" pitchFamily="34" charset="-120"/>
              </a:rPr>
              <a:t>Expand Intake Beyond CAD</a:t>
            </a:r>
            <a:endParaRPr lang="en-US" sz="2016" dirty="0"/>
          </a:p>
        </p:txBody>
      </p:sp>
      <p:sp>
        <p:nvSpPr>
          <p:cNvPr id="5" name="Text 2"/>
          <p:cNvSpPr/>
          <p:nvPr/>
        </p:nvSpPr>
        <p:spPr>
          <a:xfrm>
            <a:off x="500063" y="1437289"/>
            <a:ext cx="2143125" cy="1035844"/>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The first commercial decision is whether Protolabs can respond to customer ambiguity faster than competitors can ask for more documentation.</a:t>
            </a:r>
            <a:endParaRPr lang="en-US" sz="1050" dirty="0"/>
          </a:p>
        </p:txBody>
      </p:sp>
      <p:sp>
        <p:nvSpPr>
          <p:cNvPr id="6" name="Text 3"/>
          <p:cNvSpPr/>
          <p:nvPr/>
        </p:nvSpPr>
        <p:spPr>
          <a:xfrm>
            <a:off x="3100388" y="314325"/>
            <a:ext cx="5429250" cy="786929"/>
          </a:xfrm>
          <a:prstGeom prst="rect">
            <a:avLst/>
          </a:prstGeom>
          <a:noFill/>
          <a:ln/>
        </p:spPr>
        <p:txBody>
          <a:bodyPr wrap="square" lIns="0" tIns="0" rIns="0" bIns="0" rtlCol="0" anchor="t">
            <a:spAutoFit/>
          </a:bodyPr>
          <a:lstStyle/>
          <a:p>
            <a:pPr marL="0" indent="0" algn="l">
              <a:lnSpc>
                <a:spcPts val="2100"/>
              </a:lnSpc>
              <a:buNone/>
            </a:pPr>
            <a:r>
              <a:rPr lang="en-US" sz="1705" b="1" dirty="0">
                <a:solidFill>
                  <a:srgbClr val="123B6D"/>
                </a:solidFill>
                <a:latin typeface="Inter" pitchFamily="34" charset="0"/>
                <a:ea typeface="Inter" pitchFamily="34" charset="-122"/>
                <a:cs typeface="Inter" pitchFamily="34" charset="-120"/>
              </a:rPr>
              <a:t>The current requirement for a CAD file is not only a workflow assumption. It is a market boundary.</a:t>
            </a:r>
            <a:endParaRPr lang="en-US" sz="1705" dirty="0"/>
          </a:p>
        </p:txBody>
      </p:sp>
      <p:sp>
        <p:nvSpPr>
          <p:cNvPr id="7" name="Text 4"/>
          <p:cNvSpPr/>
          <p:nvPr/>
        </p:nvSpPr>
        <p:spPr>
          <a:xfrm>
            <a:off x="3100388" y="1272704"/>
            <a:ext cx="1285875" cy="1115792"/>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TODAY</a:t>
            </a:r>
            <a:endParaRPr lang="en-US" sz="683" dirty="0"/>
          </a:p>
        </p:txBody>
      </p:sp>
      <p:sp>
        <p:nvSpPr>
          <p:cNvPr id="8" name="Text 5"/>
          <p:cNvSpPr/>
          <p:nvPr/>
        </p:nvSpPr>
        <p:spPr>
          <a:xfrm>
            <a:off x="4543425" y="1272704"/>
            <a:ext cx="4100513" cy="1115792"/>
          </a:xfrm>
          <a:prstGeom prst="rect">
            <a:avLst/>
          </a:prstGeom>
          <a:noFill/>
          <a:ln/>
        </p:spPr>
        <p:txBody>
          <a:bodyPr wrap="square" lIns="0" tIns="0" rIns="0" bIns="0" rtlCol="0" anchor="t">
            <a:spAutoFit/>
          </a:bodyPr>
          <a:lstStyle/>
          <a:p>
            <a:pPr marL="0" indent="0" algn="l">
              <a:lnSpc>
                <a:spcPts val="1800"/>
              </a:lnSpc>
              <a:buNone/>
            </a:pPr>
            <a:r>
              <a:rPr lang="en-US" sz="1159" dirty="0">
                <a:solidFill>
                  <a:srgbClr val="334155"/>
                </a:solidFill>
                <a:latin typeface="Inter" pitchFamily="34" charset="0"/>
                <a:ea typeface="Inter" pitchFamily="34" charset="-122"/>
                <a:cs typeface="Inter" pitchFamily="34" charset="-120"/>
              </a:rPr>
              <a:t>Many requests start only when the customer already has a usable CAD file or a production-ready spec package. That works for mature buyers, but it excludes demand that begins with photos, sketches, PDFs, or a legacy part on a workbench.</a:t>
            </a:r>
            <a:endParaRPr lang="en-US" sz="1159" dirty="0"/>
          </a:p>
        </p:txBody>
      </p:sp>
      <p:sp>
        <p:nvSpPr>
          <p:cNvPr id="9" name="Text 6"/>
          <p:cNvSpPr/>
          <p:nvPr/>
        </p:nvSpPr>
        <p:spPr>
          <a:xfrm>
            <a:off x="3100388" y="2545659"/>
            <a:ext cx="1285875" cy="1115792"/>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DISRUPTION LOGIC</a:t>
            </a:r>
            <a:endParaRPr lang="en-US" sz="683" dirty="0"/>
          </a:p>
        </p:txBody>
      </p:sp>
      <p:sp>
        <p:nvSpPr>
          <p:cNvPr id="10" name="Text 7"/>
          <p:cNvSpPr/>
          <p:nvPr/>
        </p:nvSpPr>
        <p:spPr>
          <a:xfrm>
            <a:off x="4543425" y="2545659"/>
            <a:ext cx="4100513" cy="1115792"/>
          </a:xfrm>
          <a:prstGeom prst="rect">
            <a:avLst/>
          </a:prstGeom>
          <a:noFill/>
          <a:ln/>
        </p:spPr>
        <p:txBody>
          <a:bodyPr wrap="square" lIns="0" tIns="0" rIns="0" bIns="0" rtlCol="0" anchor="t">
            <a:spAutoFit/>
          </a:bodyPr>
          <a:lstStyle/>
          <a:p>
            <a:pPr marL="0" indent="0" algn="l">
              <a:lnSpc>
                <a:spcPts val="1800"/>
              </a:lnSpc>
              <a:buNone/>
            </a:pPr>
            <a:r>
              <a:rPr lang="en-US" sz="1159" dirty="0">
                <a:solidFill>
                  <a:srgbClr val="334155"/>
                </a:solidFill>
                <a:latin typeface="Inter" pitchFamily="34" charset="0"/>
                <a:ea typeface="Inter" pitchFamily="34" charset="-122"/>
                <a:cs typeface="Inter" pitchFamily="34" charset="-120"/>
              </a:rPr>
              <a:t>If Protolabs accepts </a:t>
            </a:r>
            <a:r>
              <a:rPr lang="en-US" sz="1090" b="1" dirty="0">
                <a:solidFill>
                  <a:srgbClr val="123B6D"/>
                </a:solidFill>
                <a:latin typeface="Inter" pitchFamily="34" charset="0"/>
                <a:ea typeface="Inter" pitchFamily="34" charset="-122"/>
                <a:cs typeface="Inter" pitchFamily="34" charset="-120"/>
              </a:rPr>
              <a:t>multiple photos plus partial documentation</a:t>
            </a:r>
            <a:r>
              <a:rPr lang="en-US" sz="1159" dirty="0">
                <a:solidFill>
                  <a:srgbClr val="334155"/>
                </a:solidFill>
                <a:latin typeface="Inter" pitchFamily="34" charset="0"/>
                <a:ea typeface="Inter" pitchFamily="34" charset="-122"/>
                <a:cs typeface="Inter" pitchFamily="34" charset="-120"/>
              </a:rPr>
              <a:t>, it can price and route work that competitors still reject as incomplete. The AI win is not a chatbot; it is a structured extraction layer that converts messy intake into a usable Order Object.</a:t>
            </a:r>
            <a:endParaRPr lang="en-US" sz="1159" dirty="0"/>
          </a:p>
        </p:txBody>
      </p:sp>
      <p:sp>
        <p:nvSpPr>
          <p:cNvPr id="11" name="Text 8"/>
          <p:cNvSpPr/>
          <p:nvPr/>
        </p:nvSpPr>
        <p:spPr>
          <a:xfrm>
            <a:off x="3100388" y="3818613"/>
            <a:ext cx="1285875" cy="892634"/>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TOP IDEA</a:t>
            </a:r>
            <a:endParaRPr lang="en-US" sz="683" dirty="0"/>
          </a:p>
        </p:txBody>
      </p:sp>
      <p:sp>
        <p:nvSpPr>
          <p:cNvPr id="12" name="Text 9"/>
          <p:cNvSpPr/>
          <p:nvPr/>
        </p:nvSpPr>
        <p:spPr>
          <a:xfrm>
            <a:off x="4543425" y="3818613"/>
            <a:ext cx="4100513" cy="892634"/>
          </a:xfrm>
          <a:prstGeom prst="rect">
            <a:avLst/>
          </a:prstGeom>
          <a:noFill/>
          <a:ln/>
        </p:spPr>
        <p:txBody>
          <a:bodyPr wrap="square" lIns="0" tIns="0" rIns="0" bIns="0" rtlCol="0" anchor="t">
            <a:spAutoFit/>
          </a:bodyPr>
          <a:lstStyle/>
          <a:p>
            <a:pPr marL="0" indent="0" algn="l">
              <a:lnSpc>
                <a:spcPts val="1800"/>
              </a:lnSpc>
              <a:buNone/>
            </a:pPr>
            <a:r>
              <a:rPr lang="en-US" sz="1159" dirty="0">
                <a:solidFill>
                  <a:srgbClr val="334155"/>
                </a:solidFill>
                <a:latin typeface="Inter" pitchFamily="34" charset="0"/>
                <a:ea typeface="Inter" pitchFamily="34" charset="-122"/>
                <a:cs typeface="Inter" pitchFamily="34" charset="-120"/>
              </a:rPr>
              <a:t>Launch multimodal RFQ intake that accepts CAD, sketch, PDF, email, or photos of an existing part. The commercial result is lower friction to yes and a wider funnel before CAD exists.</a:t>
            </a:r>
            <a:endParaRPr lang="en-US" sz="1159" dirty="0"/>
          </a:p>
        </p:txBody>
      </p:sp>
      <p:sp>
        <p:nvSpPr>
          <p:cNvPr id="13" name="Text 10"/>
          <p:cNvSpPr/>
          <p:nvPr/>
        </p:nvSpPr>
        <p:spPr>
          <a:xfrm>
            <a:off x="500063" y="4930946"/>
            <a:ext cx="1064084" cy="212554"/>
          </a:xfrm>
          <a:prstGeom prst="rect">
            <a:avLst/>
          </a:prstGeom>
          <a:noFill/>
          <a:ln/>
        </p:spPr>
        <p:txBody>
          <a:bodyPr wrap="squar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4" name="Text 11"/>
          <p:cNvSpPr/>
          <p:nvPr/>
        </p:nvSpPr>
        <p:spPr>
          <a:xfrm>
            <a:off x="6192906" y="4930946"/>
            <a:ext cx="2451032" cy="212554"/>
          </a:xfrm>
          <a:prstGeom prst="rect">
            <a:avLst/>
          </a:prstGeom>
          <a:noFill/>
          <a:ln/>
        </p:spPr>
        <p:txBody>
          <a:bodyPr wrap="squar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DISRUPTION FRAMING</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69130"/>
          </a:xfrm>
          <a:prstGeom prst="rect">
            <a:avLst/>
          </a:prstGeom>
        </p:spPr>
      </p:pic>
      <p:sp>
        <p:nvSpPr>
          <p:cNvPr id="3" name="Text 0"/>
          <p:cNvSpPr/>
          <p:nvPr/>
        </p:nvSpPr>
        <p:spPr>
          <a:xfrm>
            <a:off x="457200" y="457200"/>
            <a:ext cx="2071688" cy="428625"/>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1 COMPANION · STRATEGY, STACK, EXECUTION</a:t>
            </a:r>
            <a:endParaRPr lang="en-US" sz="734" dirty="0"/>
          </a:p>
        </p:txBody>
      </p:sp>
      <p:sp>
        <p:nvSpPr>
          <p:cNvPr id="4" name="Text 1"/>
          <p:cNvSpPr/>
          <p:nvPr/>
        </p:nvSpPr>
        <p:spPr>
          <a:xfrm>
            <a:off x="2728913" y="457200"/>
            <a:ext cx="5957888"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New Market, Not Just New UX</a:t>
            </a:r>
            <a:endParaRPr lang="en-US" sz="1808" dirty="0"/>
          </a:p>
        </p:txBody>
      </p:sp>
      <p:sp>
        <p:nvSpPr>
          <p:cNvPr id="5" name="Text 2"/>
          <p:cNvSpPr/>
          <p:nvPr/>
        </p:nvSpPr>
        <p:spPr>
          <a:xfrm>
            <a:off x="1277403" y="906830"/>
            <a:ext cx="7331283" cy="394595"/>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Accepting multiple photos, sketches, PDFs, and partial specifications does more than improve usability. It allows Protolabs to capture demand from products that do not yet have CAD and to monetize early-stage manufacturing intent that competitors still turn away.</a:t>
            </a:r>
            <a:endParaRPr lang="en-US" sz="1050" dirty="0"/>
          </a:p>
        </p:txBody>
      </p:sp>
      <p:sp>
        <p:nvSpPr>
          <p:cNvPr id="6" name="Text 3"/>
          <p:cNvSpPr/>
          <p:nvPr/>
        </p:nvSpPr>
        <p:spPr>
          <a:xfrm>
            <a:off x="457200" y="1701461"/>
            <a:ext cx="2313905"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BUSINESS OPPORTUNITY</a:t>
            </a:r>
            <a:endParaRPr lang="en-US" sz="634" dirty="0"/>
          </a:p>
        </p:txBody>
      </p:sp>
      <p:sp>
        <p:nvSpPr>
          <p:cNvPr id="7" name="Text 4"/>
          <p:cNvSpPr/>
          <p:nvPr/>
        </p:nvSpPr>
        <p:spPr>
          <a:xfrm>
            <a:off x="457200" y="1871125"/>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Multimodal intake expands the addressable market</a:t>
            </a:r>
            <a:endParaRPr lang="en-US" sz="1193" dirty="0"/>
          </a:p>
        </p:txBody>
      </p:sp>
      <p:sp>
        <p:nvSpPr>
          <p:cNvPr id="8" name="Text 5"/>
          <p:cNvSpPr/>
          <p:nvPr/>
        </p:nvSpPr>
        <p:spPr>
          <a:xfrm>
            <a:off x="457200" y="2514621"/>
            <a:ext cx="2313905" cy="103456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Today, the process assumes the customer already has a usable CAD file. That excludes spare-parts replacement, MRO requests, legacy-part recreation, field-service teams, and smaller buyers who only have photos or drawings.</a:t>
            </a:r>
            <a:endParaRPr lang="en-US" sz="888" dirty="0"/>
          </a:p>
        </p:txBody>
      </p:sp>
      <p:sp>
        <p:nvSpPr>
          <p:cNvPr id="9" name="Text 6"/>
          <p:cNvSpPr/>
          <p:nvPr/>
        </p:nvSpPr>
        <p:spPr>
          <a:xfrm>
            <a:off x="457200" y="3606331"/>
            <a:ext cx="2313905" cy="103456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If Protolabs can reconstruct enough structured information from </a:t>
            </a:r>
            <a:r>
              <a:rPr lang="en-US" sz="834" b="1" dirty="0">
                <a:solidFill>
                  <a:srgbClr val="123B6D"/>
                </a:solidFill>
                <a:latin typeface="Inter" pitchFamily="34" charset="0"/>
                <a:ea typeface="Inter" pitchFamily="34" charset="-122"/>
                <a:cs typeface="Inter" pitchFamily="34" charset="-120"/>
              </a:rPr>
              <a:t>multiple photos plus partial documentation</a:t>
            </a:r>
            <a:r>
              <a:rPr lang="en-US" sz="888" dirty="0">
                <a:solidFill>
                  <a:srgbClr val="334155"/>
                </a:solidFill>
                <a:latin typeface="Inter" pitchFamily="34" charset="0"/>
                <a:ea typeface="Inter" pitchFamily="34" charset="-122"/>
                <a:cs typeface="Inter" pitchFamily="34" charset="-120"/>
              </a:rPr>
              <a:t>, it can quote work others reject as incomplete and create a paid pre-CAD service layer.</a:t>
            </a:r>
            <a:endParaRPr lang="en-US" sz="888" dirty="0"/>
          </a:p>
        </p:txBody>
      </p:sp>
      <p:sp>
        <p:nvSpPr>
          <p:cNvPr id="10" name="Text 7"/>
          <p:cNvSpPr/>
          <p:nvPr/>
        </p:nvSpPr>
        <p:spPr>
          <a:xfrm>
            <a:off x="2899693" y="1701461"/>
            <a:ext cx="2000194"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REQUIRED AI AND CAMERA STACK</a:t>
            </a:r>
            <a:endParaRPr lang="en-US" sz="634" dirty="0"/>
          </a:p>
        </p:txBody>
      </p:sp>
      <p:sp>
        <p:nvSpPr>
          <p:cNvPr id="11" name="Text 8"/>
          <p:cNvSpPr/>
          <p:nvPr/>
        </p:nvSpPr>
        <p:spPr>
          <a:xfrm>
            <a:off x="2899693" y="1871125"/>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What capabilities are needed to make this real</a:t>
            </a:r>
            <a:endParaRPr lang="en-US" sz="1193" dirty="0"/>
          </a:p>
        </p:txBody>
      </p:sp>
      <p:sp>
        <p:nvSpPr>
          <p:cNvPr id="12" name="Text 9"/>
          <p:cNvSpPr/>
          <p:nvPr/>
        </p:nvSpPr>
        <p:spPr>
          <a:xfrm>
            <a:off x="2899693" y="2514621"/>
            <a:ext cx="2000194" cy="1034560"/>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ML/AI:</a:t>
            </a:r>
            <a:r>
              <a:rPr lang="en-US" sz="888" dirty="0">
                <a:solidFill>
                  <a:srgbClr val="334155"/>
                </a:solidFill>
                <a:latin typeface="Inter" pitchFamily="34" charset="0"/>
                <a:ea typeface="Inter" pitchFamily="34" charset="-122"/>
                <a:cs typeface="Inter" pitchFamily="34" charset="-120"/>
              </a:rPr>
              <a:t> multimodal document understanding, OCR, image-to-geometry reasoning, feature extraction, confidence scoring, and LLM-based conversion into a canonical Order Object.</a:t>
            </a:r>
            <a:endParaRPr lang="en-US" sz="834" dirty="0"/>
          </a:p>
        </p:txBody>
      </p:sp>
      <p:sp>
        <p:nvSpPr>
          <p:cNvPr id="13" name="Text 10"/>
          <p:cNvSpPr/>
          <p:nvPr/>
        </p:nvSpPr>
        <p:spPr>
          <a:xfrm>
            <a:off x="2899693" y="3606331"/>
            <a:ext cx="2000194" cy="86213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Camera workflow:</a:t>
            </a:r>
            <a:r>
              <a:rPr lang="en-US" sz="888" dirty="0">
                <a:solidFill>
                  <a:srgbClr val="334155"/>
                </a:solidFill>
                <a:latin typeface="Inter" pitchFamily="34" charset="0"/>
                <a:ea typeface="Inter" pitchFamily="34" charset="-122"/>
                <a:cs typeface="Inter" pitchFamily="34" charset="-120"/>
              </a:rPr>
              <a:t> guided capture for the right angles, scale references, lighting checks, and image-quality validation before submission.</a:t>
            </a:r>
            <a:endParaRPr lang="en-US" sz="834" dirty="0"/>
          </a:p>
        </p:txBody>
      </p:sp>
      <p:sp>
        <p:nvSpPr>
          <p:cNvPr id="14" name="Text 11"/>
          <p:cNvSpPr/>
          <p:nvPr/>
        </p:nvSpPr>
        <p:spPr>
          <a:xfrm>
            <a:off x="5028474" y="1701461"/>
            <a:ext cx="1960959"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IMPLEMENTATION PATH</a:t>
            </a:r>
            <a:endParaRPr lang="en-US" sz="634" dirty="0"/>
          </a:p>
        </p:txBody>
      </p:sp>
      <p:sp>
        <p:nvSpPr>
          <p:cNvPr id="15" name="Text 12"/>
          <p:cNvSpPr/>
          <p:nvPr/>
        </p:nvSpPr>
        <p:spPr>
          <a:xfrm>
            <a:off x="5028474" y="1871125"/>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Start narrow, route uncertainty to engineers</a:t>
            </a:r>
            <a:endParaRPr lang="en-US" sz="1193" dirty="0"/>
          </a:p>
        </p:txBody>
      </p:sp>
      <p:sp>
        <p:nvSpPr>
          <p:cNvPr id="16" name="Text 13"/>
          <p:cNvSpPr/>
          <p:nvPr/>
        </p:nvSpPr>
        <p:spPr>
          <a:xfrm>
            <a:off x="5028474" y="2514621"/>
            <a:ext cx="1960959" cy="137941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Pilot on simple part families where manual quoting is repetitive and dimensions are visually recoverable. Build a triage layer so high-confidence jobs flow forward while low-confidence jobs are reviewed by application engineers.</a:t>
            </a:r>
            <a:endParaRPr lang="en-US" sz="888" dirty="0"/>
          </a:p>
        </p:txBody>
      </p:sp>
      <p:sp>
        <p:nvSpPr>
          <p:cNvPr id="17" name="Text 14"/>
          <p:cNvSpPr/>
          <p:nvPr/>
        </p:nvSpPr>
        <p:spPr>
          <a:xfrm>
            <a:off x="5028474" y="3951184"/>
            <a:ext cx="1960959" cy="86213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Store every correction, accepted field, and rejected extraction so the intake system improves with each quote rather than remaining a static feature.</a:t>
            </a:r>
            <a:endParaRPr lang="en-US" sz="888" dirty="0"/>
          </a:p>
        </p:txBody>
      </p:sp>
      <p:sp>
        <p:nvSpPr>
          <p:cNvPr id="18" name="Text 15"/>
          <p:cNvSpPr/>
          <p:nvPr/>
        </p:nvSpPr>
        <p:spPr>
          <a:xfrm>
            <a:off x="7118021" y="1701461"/>
            <a:ext cx="1568779"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HOW TO MEASURE</a:t>
            </a:r>
            <a:endParaRPr lang="en-US" sz="634" dirty="0"/>
          </a:p>
        </p:txBody>
      </p:sp>
      <p:sp>
        <p:nvSpPr>
          <p:cNvPr id="19" name="Text 16"/>
          <p:cNvSpPr/>
          <p:nvPr/>
        </p:nvSpPr>
        <p:spPr>
          <a:xfrm>
            <a:off x="7118021" y="1871125"/>
            <a:ext cx="1568779" cy="390897"/>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Track growth and proof of fit</a:t>
            </a:r>
            <a:endParaRPr lang="en-US" sz="1193" dirty="0"/>
          </a:p>
        </p:txBody>
      </p:sp>
      <p:sp>
        <p:nvSpPr>
          <p:cNvPr id="20" name="Text 17"/>
          <p:cNvSpPr/>
          <p:nvPr/>
        </p:nvSpPr>
        <p:spPr>
          <a:xfrm>
            <a:off x="7118021" y="2319172"/>
            <a:ext cx="1568779" cy="671736"/>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Non-CAD RFQ conversion</a:t>
            </a:r>
            <a:r>
              <a:rPr lang="en-US" sz="834" dirty="0">
                <a:solidFill>
                  <a:srgbClr val="334155"/>
                </a:solidFill>
                <a:latin typeface="Inter" pitchFamily="34" charset="0"/>
                <a:ea typeface="Inter" pitchFamily="34" charset="-122"/>
                <a:cs typeface="Inter" pitchFamily="34" charset="-120"/>
              </a:rPr>
              <a:t>
How often incomplete submissions become viable quotes or orders.</a:t>
            </a:r>
            <a:endParaRPr lang="en-US" sz="784" dirty="0"/>
          </a:p>
        </p:txBody>
      </p:sp>
      <p:sp>
        <p:nvSpPr>
          <p:cNvPr id="21" name="Text 18"/>
          <p:cNvSpPr/>
          <p:nvPr/>
        </p:nvSpPr>
        <p:spPr>
          <a:xfrm>
            <a:off x="7118021" y="3033770"/>
            <a:ext cx="1568779" cy="671736"/>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Time to first quote</a:t>
            </a:r>
            <a:r>
              <a:rPr lang="en-US" sz="834" dirty="0">
                <a:solidFill>
                  <a:srgbClr val="334155"/>
                </a:solidFill>
                <a:latin typeface="Inter" pitchFamily="34" charset="0"/>
                <a:ea typeface="Inter" pitchFamily="34" charset="-122"/>
                <a:cs typeface="Inter" pitchFamily="34" charset="-120"/>
              </a:rPr>
              <a:t>
Whether the intake layer actually reduces friction and cycle time.</a:t>
            </a:r>
            <a:endParaRPr lang="en-US" sz="784" dirty="0"/>
          </a:p>
        </p:txBody>
      </p:sp>
      <p:sp>
        <p:nvSpPr>
          <p:cNvPr id="22" name="Text 19"/>
          <p:cNvSpPr/>
          <p:nvPr/>
        </p:nvSpPr>
        <p:spPr>
          <a:xfrm>
            <a:off x="7118021" y="3748369"/>
            <a:ext cx="1568779" cy="51630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Engineer touches per RFQ</a:t>
            </a:r>
            <a:r>
              <a:rPr lang="en-US" sz="834" dirty="0">
                <a:solidFill>
                  <a:srgbClr val="334155"/>
                </a:solidFill>
                <a:latin typeface="Inter" pitchFamily="34" charset="0"/>
                <a:ea typeface="Inter" pitchFamily="34" charset="-122"/>
                <a:cs typeface="Inter" pitchFamily="34" charset="-120"/>
              </a:rPr>
              <a:t>
Whether extraction quality is reducing manual effort.</a:t>
            </a:r>
            <a:endParaRPr lang="en-US" sz="784" dirty="0"/>
          </a:p>
        </p:txBody>
      </p:sp>
      <p:sp>
        <p:nvSpPr>
          <p:cNvPr id="23" name="Text 20"/>
          <p:cNvSpPr/>
          <p:nvPr/>
        </p:nvSpPr>
        <p:spPr>
          <a:xfrm>
            <a:off x="7118021" y="4344479"/>
            <a:ext cx="1568779" cy="671736"/>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Revenue from new no-CAD segments</a:t>
            </a:r>
            <a:r>
              <a:rPr lang="en-US" sz="834" dirty="0">
                <a:solidFill>
                  <a:srgbClr val="334155"/>
                </a:solidFill>
                <a:latin typeface="Inter" pitchFamily="34" charset="0"/>
                <a:ea typeface="Inter" pitchFamily="34" charset="-122"/>
                <a:cs typeface="Inter" pitchFamily="34" charset="-120"/>
              </a:rPr>
              <a:t>
Whether the funnel is truly expanding into new markets.</a:t>
            </a:r>
            <a:endParaRPr lang="en-US" sz="784" dirty="0"/>
          </a:p>
        </p:txBody>
      </p:sp>
      <p:sp>
        <p:nvSpPr>
          <p:cNvPr id="24" name="Text 21"/>
          <p:cNvSpPr/>
          <p:nvPr/>
        </p:nvSpPr>
        <p:spPr>
          <a:xfrm>
            <a:off x="457200" y="5147686"/>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5" name="Text 22"/>
          <p:cNvSpPr/>
          <p:nvPr/>
        </p:nvSpPr>
        <p:spPr>
          <a:xfrm>
            <a:off x="4127999" y="5147686"/>
            <a:ext cx="4558801"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1 COMPANION · BUSINESS OPPORTUNITY, STACK, IMPLEMENTATION, METRICS</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00421"/>
          </a:xfrm>
          <a:prstGeom prst="rect">
            <a:avLst/>
          </a:prstGeom>
        </p:spPr>
      </p:pic>
      <p:sp>
        <p:nvSpPr>
          <p:cNvPr id="3" name="Text 0"/>
          <p:cNvSpPr/>
          <p:nvPr/>
        </p:nvSpPr>
        <p:spPr>
          <a:xfrm>
            <a:off x="500063" y="746913"/>
            <a:ext cx="2000250"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2 / 9 · INTERNAL OPS</a:t>
            </a:r>
            <a:endParaRPr lang="en-US" sz="734" dirty="0"/>
          </a:p>
        </p:txBody>
      </p:sp>
      <p:sp>
        <p:nvSpPr>
          <p:cNvPr id="4" name="Text 1"/>
          <p:cNvSpPr/>
          <p:nvPr/>
        </p:nvSpPr>
        <p:spPr>
          <a:xfrm>
            <a:off x="2743200" y="300038"/>
            <a:ext cx="5429250" cy="575463"/>
          </a:xfrm>
          <a:prstGeom prst="rect">
            <a:avLst/>
          </a:prstGeom>
          <a:noFill/>
          <a:ln/>
        </p:spPr>
        <p:txBody>
          <a:bodyPr wrap="squar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Make Engineers Faster and More Valuable</a:t>
            </a:r>
            <a:endParaRPr lang="en-US" sz="1912" dirty="0"/>
          </a:p>
        </p:txBody>
      </p:sp>
      <p:sp>
        <p:nvSpPr>
          <p:cNvPr id="5" name="Text 2"/>
          <p:cNvSpPr/>
          <p:nvPr/>
        </p:nvSpPr>
        <p:spPr>
          <a:xfrm>
            <a:off x="500063" y="1004088"/>
            <a:ext cx="7358063" cy="862915"/>
          </a:xfrm>
          <a:prstGeom prst="rect">
            <a:avLst/>
          </a:prstGeom>
          <a:noFill/>
          <a:ln/>
        </p:spPr>
        <p:txBody>
          <a:bodyPr wrap="square" lIns="0" tIns="170053" rIns="0" bIns="0" rtlCol="0" anchor="t">
            <a:spAutoFit/>
          </a:bodyPr>
          <a:lstStyle/>
          <a:p>
            <a:pPr marL="0" indent="0" algn="l">
              <a:lnSpc>
                <a:spcPts val="1900"/>
              </a:lnSpc>
              <a:buNone/>
            </a:pPr>
            <a:r>
              <a:rPr lang="en-US" sz="1269" dirty="0">
                <a:solidFill>
                  <a:srgbClr val="334155"/>
                </a:solidFill>
                <a:latin typeface="Inter" pitchFamily="34" charset="0"/>
                <a:ea typeface="Inter" pitchFamily="34" charset="-122"/>
                <a:cs typeface="Inter" pitchFamily="34" charset="-120"/>
              </a:rPr>
              <a:t>The fastest visible AI win is not replacing engineers. It is giving them a copilot that removes repetitive drafting, speeds customer response, and preserves their authority on the decisions customers actually trust.</a:t>
            </a:r>
            <a:endParaRPr lang="en-US" sz="1269" dirty="0"/>
          </a:p>
        </p:txBody>
      </p:sp>
      <p:sp>
        <p:nvSpPr>
          <p:cNvPr id="6" name="Text 3"/>
          <p:cNvSpPr/>
          <p:nvPr/>
        </p:nvSpPr>
        <p:spPr>
          <a:xfrm>
            <a:off x="500063" y="2252765"/>
            <a:ext cx="2143125" cy="1018319"/>
          </a:xfrm>
          <a:prstGeom prst="rect">
            <a:avLst/>
          </a:prstGeom>
          <a:noFill/>
          <a:ln/>
        </p:spPr>
        <p:txBody>
          <a:bodyPr wrap="square" lIns="0" tIns="0" rIns="0" bIns="0" rtlCol="0" anchor="t">
            <a:spAutoFit/>
          </a:bodyPr>
          <a:lstStyle/>
          <a:p>
            <a:pPr marL="0" indent="0" algn="l">
              <a:lnSpc>
                <a:spcPts val="2000"/>
              </a:lnSpc>
              <a:buNone/>
            </a:pPr>
            <a:r>
              <a:rPr lang="en-US" sz="1653" b="1" dirty="0">
                <a:solidFill>
                  <a:srgbClr val="123B6D"/>
                </a:solidFill>
                <a:latin typeface="Inter" pitchFamily="34" charset="0"/>
                <a:ea typeface="Inter" pitchFamily="34" charset="-122"/>
                <a:cs typeface="Inter" pitchFamily="34" charset="-120"/>
              </a:rPr>
              <a:t>The goal is higher-value engineer time, not fewer engineers.</a:t>
            </a:r>
            <a:endParaRPr lang="en-US" sz="1653" dirty="0"/>
          </a:p>
        </p:txBody>
      </p:sp>
      <p:sp>
        <p:nvSpPr>
          <p:cNvPr id="7" name="Text 4"/>
          <p:cNvSpPr/>
          <p:nvPr/>
        </p:nvSpPr>
        <p:spPr>
          <a:xfrm>
            <a:off x="500063" y="3399672"/>
            <a:ext cx="2178844" cy="1807759"/>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Applications engineers are the trust layer between customer ambiguity and manufacturable reality. If AI gives them hours back each week, they can spend that time on judgment, exceptions, and consultative selling instead of repetitive drafting.</a:t>
            </a:r>
            <a:endParaRPr lang="en-US" sz="996" dirty="0"/>
          </a:p>
        </p:txBody>
      </p:sp>
      <p:sp>
        <p:nvSpPr>
          <p:cNvPr id="8" name="Text 5"/>
          <p:cNvSpPr/>
          <p:nvPr/>
        </p:nvSpPr>
        <p:spPr>
          <a:xfrm>
            <a:off x="3100388" y="2195615"/>
            <a:ext cx="1250156" cy="852004"/>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TODAY</a:t>
            </a:r>
            <a:endParaRPr lang="en-US" sz="683" dirty="0"/>
          </a:p>
        </p:txBody>
      </p:sp>
      <p:sp>
        <p:nvSpPr>
          <p:cNvPr id="9" name="Text 6"/>
          <p:cNvSpPr/>
          <p:nvPr/>
        </p:nvSpPr>
        <p:spPr>
          <a:xfrm>
            <a:off x="3994727" y="2195615"/>
            <a:ext cx="4649211" cy="6369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Engineers translate customer requests into manufacturable guidance, process recommendations, and quote-ready responses. Much of that work is valuable, but a large share is also repetitive and time-sensitive.</a:t>
            </a:r>
            <a:endParaRPr lang="en-US" sz="1104" dirty="0"/>
          </a:p>
        </p:txBody>
      </p:sp>
      <p:sp>
        <p:nvSpPr>
          <p:cNvPr id="10" name="Text 7"/>
          <p:cNvSpPr/>
          <p:nvPr/>
        </p:nvSpPr>
        <p:spPr>
          <a:xfrm>
            <a:off x="3100388" y="3233356"/>
            <a:ext cx="1250156" cy="852004"/>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STRATEGIC LENS</a:t>
            </a:r>
            <a:endParaRPr lang="en-US" sz="683" dirty="0"/>
          </a:p>
        </p:txBody>
      </p:sp>
      <p:sp>
        <p:nvSpPr>
          <p:cNvPr id="11" name="Text 8"/>
          <p:cNvSpPr/>
          <p:nvPr/>
        </p:nvSpPr>
        <p:spPr>
          <a:xfrm>
            <a:off x="3994727" y="3233356"/>
            <a:ext cx="4649211" cy="6369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An </a:t>
            </a:r>
            <a:r>
              <a:rPr lang="en-US" sz="1038" b="1" dirty="0">
                <a:solidFill>
                  <a:srgbClr val="123B6D"/>
                </a:solidFill>
                <a:latin typeface="Inter" pitchFamily="34" charset="0"/>
                <a:ea typeface="Inter" pitchFamily="34" charset="-122"/>
                <a:cs typeface="Inter" pitchFamily="34" charset="-120"/>
              </a:rPr>
              <a:t>engineer copilot</a:t>
            </a:r>
            <a:r>
              <a:rPr lang="en-US" sz="1104" dirty="0">
                <a:solidFill>
                  <a:srgbClr val="334155"/>
                </a:solidFill>
                <a:latin typeface="Inter" pitchFamily="34" charset="0"/>
                <a:ea typeface="Inter" pitchFamily="34" charset="-122"/>
                <a:cs typeface="Inter" pitchFamily="34" charset="-120"/>
              </a:rPr>
              <a:t> should be framed as a capacity multiplier. Faster, better-drafted responses improve trust and conversion, while every engineer correction becomes proprietary feedback data for the next recommendation.</a:t>
            </a:r>
            <a:endParaRPr lang="en-US" sz="1104" dirty="0"/>
          </a:p>
        </p:txBody>
      </p:sp>
      <p:sp>
        <p:nvSpPr>
          <p:cNvPr id="12" name="Text 9"/>
          <p:cNvSpPr/>
          <p:nvPr/>
        </p:nvSpPr>
        <p:spPr>
          <a:xfrm>
            <a:off x="3100388" y="4271097"/>
            <a:ext cx="1250156" cy="1065005"/>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TOP POINT</a:t>
            </a:r>
            <a:endParaRPr lang="en-US" sz="683" dirty="0"/>
          </a:p>
        </p:txBody>
      </p:sp>
      <p:sp>
        <p:nvSpPr>
          <p:cNvPr id="13" name="Text 10"/>
          <p:cNvSpPr/>
          <p:nvPr/>
        </p:nvSpPr>
        <p:spPr>
          <a:xfrm>
            <a:off x="3994727" y="4271097"/>
            <a:ext cx="4649211" cy="6369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Start with AI-drafted replies, manufacturability summaries, and suggested next actions grounded in internal knowledge. Engineers keep the final word, and that is exactly why the system will be adopted rather than resisted.</a:t>
            </a:r>
            <a:endParaRPr lang="en-US" sz="1104" dirty="0"/>
          </a:p>
        </p:txBody>
      </p:sp>
      <p:sp>
        <p:nvSpPr>
          <p:cNvPr id="14" name="Text 11"/>
          <p:cNvSpPr/>
          <p:nvPr/>
        </p:nvSpPr>
        <p:spPr>
          <a:xfrm>
            <a:off x="500063" y="5478977"/>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5" name="Text 12"/>
          <p:cNvSpPr/>
          <p:nvPr/>
        </p:nvSpPr>
        <p:spPr>
          <a:xfrm>
            <a:off x="5437454" y="5478977"/>
            <a:ext cx="3206483"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TRUST AND THROUGHPUT FRAMING</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85775" y="958379"/>
            <a:ext cx="1785938"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2 COMPANION</a:t>
            </a:r>
            <a:endParaRPr lang="en-US" sz="734" dirty="0"/>
          </a:p>
        </p:txBody>
      </p:sp>
      <p:sp>
        <p:nvSpPr>
          <p:cNvPr id="4" name="Text 1"/>
          <p:cNvSpPr/>
          <p:nvPr/>
        </p:nvSpPr>
        <p:spPr>
          <a:xfrm>
            <a:off x="1722582" y="300038"/>
            <a:ext cx="6592743" cy="528991"/>
          </a:xfrm>
          <a:prstGeom prst="rect">
            <a:avLst/>
          </a:prstGeom>
          <a:noFill/>
          <a:ln/>
        </p:spPr>
        <p:txBody>
          <a:bodyPr wrap="square" lIns="0" tIns="0" rIns="0" bIns="0" rtlCol="0" anchor="t">
            <a:spAutoFit/>
          </a:bodyPr>
          <a:lstStyle/>
          <a:p>
            <a:pPr marL="0" indent="0" algn="l">
              <a:lnSpc>
                <a:spcPts val="2100"/>
              </a:lnSpc>
              <a:buNone/>
            </a:pPr>
            <a:r>
              <a:rPr lang="en-US" sz="1705" b="1" dirty="0">
                <a:solidFill>
                  <a:srgbClr val="123B6D"/>
                </a:solidFill>
                <a:latin typeface="Inter" pitchFamily="34" charset="0"/>
                <a:ea typeface="Inter" pitchFamily="34" charset="-122"/>
                <a:cs typeface="Inter" pitchFamily="34" charset="-120"/>
              </a:rPr>
              <a:t>Expertise turns into a reusable learning asset when every engineer interaction is captured, ranked, and improved</a:t>
            </a:r>
            <a:endParaRPr lang="en-US" sz="1705" dirty="0"/>
          </a:p>
        </p:txBody>
      </p:sp>
      <p:sp>
        <p:nvSpPr>
          <p:cNvPr id="5" name="Text 2"/>
          <p:cNvSpPr/>
          <p:nvPr/>
        </p:nvSpPr>
        <p:spPr>
          <a:xfrm>
            <a:off x="485775" y="1429866"/>
            <a:ext cx="2428875" cy="810034"/>
          </a:xfrm>
          <a:prstGeom prst="rect">
            <a:avLst/>
          </a:prstGeom>
          <a:noFill/>
          <a:ln/>
        </p:spPr>
        <p:txBody>
          <a:bodyPr wrap="squar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Engineer time becomes revenue capacity</a:t>
            </a:r>
            <a:endParaRPr lang="en-US" sz="1808" dirty="0"/>
          </a:p>
        </p:txBody>
      </p:sp>
      <p:sp>
        <p:nvSpPr>
          <p:cNvPr id="6" name="Text 3"/>
          <p:cNvSpPr/>
          <p:nvPr/>
        </p:nvSpPr>
        <p:spPr>
          <a:xfrm>
            <a:off x="485775" y="2325625"/>
            <a:ext cx="2571750" cy="1460143"/>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A strong copilot raises response speed and conversion while converting expert judgment into proprietary operating data. Let AI draft the repeatable 80% and keep engineers as final approvers for manufacturability and trade-offs.</a:t>
            </a:r>
            <a:endParaRPr lang="en-US" sz="1050" dirty="0"/>
          </a:p>
        </p:txBody>
      </p:sp>
      <p:sp>
        <p:nvSpPr>
          <p:cNvPr id="7" name="Text 4"/>
          <p:cNvSpPr/>
          <p:nvPr/>
        </p:nvSpPr>
        <p:spPr>
          <a:xfrm>
            <a:off x="3443288" y="1401291"/>
            <a:ext cx="2550319"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AI SKILLS / TOOLS</a:t>
            </a:r>
            <a:endParaRPr lang="en-US" sz="683" dirty="0"/>
          </a:p>
        </p:txBody>
      </p:sp>
      <p:sp>
        <p:nvSpPr>
          <p:cNvPr id="8" name="Text 5"/>
          <p:cNvSpPr/>
          <p:nvPr/>
        </p:nvSpPr>
        <p:spPr>
          <a:xfrm>
            <a:off x="3443288" y="1522735"/>
            <a:ext cx="2550319" cy="1234306"/>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Use </a:t>
            </a:r>
            <a:r>
              <a:rPr lang="en-US" sz="987" b="1" dirty="0">
                <a:solidFill>
                  <a:srgbClr val="123B6D"/>
                </a:solidFill>
                <a:latin typeface="Inter" pitchFamily="34" charset="0"/>
                <a:ea typeface="Inter" pitchFamily="34" charset="-122"/>
                <a:cs typeface="Inter" pitchFamily="34" charset="-120"/>
              </a:rPr>
              <a:t>retrieval-augmented generation</a:t>
            </a:r>
            <a:r>
              <a:rPr lang="en-US" sz="1050" dirty="0">
                <a:solidFill>
                  <a:srgbClr val="334155"/>
                </a:solidFill>
                <a:latin typeface="Inter" pitchFamily="34" charset="0"/>
                <a:ea typeface="Inter" pitchFamily="34" charset="-122"/>
                <a:cs typeface="Inter" pitchFamily="34" charset="-120"/>
              </a:rPr>
              <a:t>, semantic search, and next-best-action ranking. Capture structured feedback from edits and approvals so accepted changes improve future drafts.</a:t>
            </a:r>
            <a:endParaRPr lang="en-US" sz="1050" dirty="0"/>
          </a:p>
        </p:txBody>
      </p:sp>
      <p:sp>
        <p:nvSpPr>
          <p:cNvPr id="9" name="Text 6"/>
          <p:cNvSpPr/>
          <p:nvPr/>
        </p:nvSpPr>
        <p:spPr>
          <a:xfrm>
            <a:off x="6107906" y="1401291"/>
            <a:ext cx="2550319"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IMPLEMENTATION</a:t>
            </a:r>
            <a:endParaRPr lang="en-US" sz="683" dirty="0"/>
          </a:p>
        </p:txBody>
      </p:sp>
      <p:sp>
        <p:nvSpPr>
          <p:cNvPr id="10" name="Text 7"/>
          <p:cNvSpPr/>
          <p:nvPr/>
        </p:nvSpPr>
        <p:spPr>
          <a:xfrm>
            <a:off x="6107906" y="1522735"/>
            <a:ext cx="2550319" cy="1028588"/>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Start narrow: email drafting and manufacturability explanations with engineers as approvers. Log edits and expand features after trust is earned.</a:t>
            </a:r>
            <a:endParaRPr lang="en-US" sz="1050" dirty="0"/>
          </a:p>
        </p:txBody>
      </p:sp>
      <p:sp>
        <p:nvSpPr>
          <p:cNvPr id="11" name="Text 8"/>
          <p:cNvSpPr/>
          <p:nvPr/>
        </p:nvSpPr>
        <p:spPr>
          <a:xfrm>
            <a:off x="3443288" y="3143585"/>
            <a:ext cx="5214938"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MEASURE</a:t>
            </a:r>
            <a:endParaRPr lang="en-US" sz="683" dirty="0"/>
          </a:p>
        </p:txBody>
      </p:sp>
      <p:sp>
        <p:nvSpPr>
          <p:cNvPr id="12" name="Text 9"/>
          <p:cNvSpPr/>
          <p:nvPr/>
        </p:nvSpPr>
        <p:spPr>
          <a:xfrm>
            <a:off x="3443288" y="3265029"/>
            <a:ext cx="4357688" cy="664369"/>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334155"/>
                </a:solidFill>
                <a:latin typeface="Inter" pitchFamily="34" charset="0"/>
                <a:ea typeface="Inter" pitchFamily="34" charset="-122"/>
                <a:cs typeface="Inter" pitchFamily="34" charset="-120"/>
              </a:rPr>
              <a:t>Track response time, adoption, edit distance, quote conversion, and upsell rate to show the copilot increases commercial throughput.</a:t>
            </a:r>
            <a:endParaRPr lang="en-US" sz="1050" dirty="0"/>
          </a:p>
        </p:txBody>
      </p:sp>
      <p:sp>
        <p:nvSpPr>
          <p:cNvPr id="13" name="Text 10"/>
          <p:cNvSpPr/>
          <p:nvPr/>
        </p:nvSpPr>
        <p:spPr>
          <a:xfrm>
            <a:off x="485775" y="4230216"/>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4" name="Text 11"/>
          <p:cNvSpPr/>
          <p:nvPr/>
        </p:nvSpPr>
        <p:spPr>
          <a:xfrm>
            <a:off x="5040976" y="4230216"/>
            <a:ext cx="3617249"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BUSINESS VALUE + AI CAPABILITY STACK + IMPLEMENTATION PATH</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775488"/>
            <a:ext cx="1785938" cy="257175"/>
          </a:xfrm>
          <a:prstGeom prst="rect">
            <a:avLst/>
          </a:prstGeom>
          <a:noFill/>
          <a:ln/>
        </p:spPr>
        <p:txBody>
          <a:bodyPr wrap="squar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3 / 9 · MANUFACTURING</a:t>
            </a:r>
            <a:endParaRPr lang="en-US" sz="734" dirty="0"/>
          </a:p>
        </p:txBody>
      </p:sp>
      <p:sp>
        <p:nvSpPr>
          <p:cNvPr id="4" name="Text 1"/>
          <p:cNvSpPr/>
          <p:nvPr/>
        </p:nvSpPr>
        <p:spPr>
          <a:xfrm>
            <a:off x="2486025" y="457200"/>
            <a:ext cx="5857875" cy="575463"/>
          </a:xfrm>
          <a:prstGeom prst="rect">
            <a:avLst/>
          </a:prstGeom>
          <a:noFill/>
          <a:ln/>
        </p:spPr>
        <p:txBody>
          <a:bodyPr wrap="squar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Route with learning, not only rules, and the network turns into a moat</a:t>
            </a:r>
            <a:endParaRPr lang="en-US" sz="1912" dirty="0"/>
          </a:p>
        </p:txBody>
      </p:sp>
      <p:sp>
        <p:nvSpPr>
          <p:cNvPr id="5" name="Text 2"/>
          <p:cNvSpPr/>
          <p:nvPr/>
        </p:nvSpPr>
        <p:spPr>
          <a:xfrm>
            <a:off x="500063" y="1032663"/>
            <a:ext cx="7715250" cy="769488"/>
          </a:xfrm>
          <a:prstGeom prst="rect">
            <a:avLst/>
          </a:prstGeom>
          <a:noFill/>
          <a:ln/>
        </p:spPr>
        <p:txBody>
          <a:bodyPr wrap="square" lIns="0" tIns="119126" rIns="0" bIns="0" rtlCol="0" anchor="t">
            <a:spAutoFit/>
          </a:bodyPr>
          <a:lstStyle/>
          <a:p>
            <a:pPr marL="0" indent="0" algn="l">
              <a:lnSpc>
                <a:spcPts val="1800"/>
              </a:lnSpc>
              <a:buNone/>
            </a:pPr>
            <a:r>
              <a:rPr lang="en-US" sz="1159" dirty="0">
                <a:solidFill>
                  <a:srgbClr val="334155"/>
                </a:solidFill>
                <a:latin typeface="Inter" pitchFamily="34" charset="0"/>
                <a:ea typeface="Inter" pitchFamily="34" charset="-122"/>
                <a:cs typeface="Inter" pitchFamily="34" charset="-120"/>
              </a:rPr>
              <a:t>This is the most defensible AI opportunity in the flow because the asset is not just the model. It is Protolabs' history of routing decisions, partner performance, quality outcomes, lead times, and manufacturing fit across the network.</a:t>
            </a:r>
            <a:endParaRPr lang="en-US" sz="1159" dirty="0"/>
          </a:p>
        </p:txBody>
      </p:sp>
      <p:sp>
        <p:nvSpPr>
          <p:cNvPr id="6" name="Text 3"/>
          <p:cNvSpPr/>
          <p:nvPr/>
        </p:nvSpPr>
        <p:spPr>
          <a:xfrm>
            <a:off x="500063" y="2045038"/>
            <a:ext cx="2071688" cy="416012"/>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Why this deserves strategic-bet budget</a:t>
            </a:r>
            <a:endParaRPr lang="en-US" sz="1295" dirty="0"/>
          </a:p>
        </p:txBody>
      </p:sp>
      <p:sp>
        <p:nvSpPr>
          <p:cNvPr id="7" name="Text 4"/>
          <p:cNvSpPr/>
          <p:nvPr/>
        </p:nvSpPr>
        <p:spPr>
          <a:xfrm>
            <a:off x="500063" y="2546775"/>
            <a:ext cx="2143125" cy="1221581"/>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Competitors can buy models, but they cannot easily recreate Protolabs' years of outcome data across factories and suppliers. Each routed job makes the next decision better.</a:t>
            </a:r>
            <a:endParaRPr lang="en-US" sz="996" dirty="0"/>
          </a:p>
        </p:txBody>
      </p:sp>
      <p:sp>
        <p:nvSpPr>
          <p:cNvPr id="8" name="Text 5"/>
          <p:cNvSpPr/>
          <p:nvPr/>
        </p:nvSpPr>
        <p:spPr>
          <a:xfrm>
            <a:off x="3028950" y="2030750"/>
            <a:ext cx="2736056"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TODAY</a:t>
            </a:r>
            <a:endParaRPr lang="en-US" sz="683" dirty="0"/>
          </a:p>
        </p:txBody>
      </p:sp>
      <p:sp>
        <p:nvSpPr>
          <p:cNvPr id="9" name="Text 6"/>
          <p:cNvSpPr/>
          <p:nvPr/>
        </p:nvSpPr>
        <p:spPr>
          <a:xfrm>
            <a:off x="3028950" y="2152194"/>
            <a:ext cx="2736056" cy="14701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The order is matched to an in-house factory or manufacturing partner using rules, experience, and static capability logic. That works, but it leaves learning trapped inside people and spreadsheets instead of compounding inside the system.</a:t>
            </a:r>
            <a:endParaRPr lang="en-US" sz="1104" dirty="0"/>
          </a:p>
        </p:txBody>
      </p:sp>
      <p:sp>
        <p:nvSpPr>
          <p:cNvPr id="10" name="Text 7"/>
          <p:cNvSpPr/>
          <p:nvPr/>
        </p:nvSpPr>
        <p:spPr>
          <a:xfrm>
            <a:off x="5907881" y="2030750"/>
            <a:ext cx="2736056"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MOAT LOGIC</a:t>
            </a:r>
            <a:endParaRPr lang="en-US" sz="683" dirty="0"/>
          </a:p>
        </p:txBody>
      </p:sp>
      <p:sp>
        <p:nvSpPr>
          <p:cNvPr id="11" name="Text 8"/>
          <p:cNvSpPr/>
          <p:nvPr/>
        </p:nvSpPr>
        <p:spPr>
          <a:xfrm>
            <a:off x="5907881" y="2152194"/>
            <a:ext cx="2736056" cy="14701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A routing model can learn from </a:t>
            </a:r>
            <a:r>
              <a:rPr lang="en-US" sz="1038" b="1" dirty="0">
                <a:solidFill>
                  <a:srgbClr val="123B6D"/>
                </a:solidFill>
                <a:latin typeface="Inter" pitchFamily="34" charset="0"/>
                <a:ea typeface="Inter" pitchFamily="34" charset="-122"/>
                <a:cs typeface="Inter" pitchFamily="34" charset="-120"/>
              </a:rPr>
              <a:t>quality history, on-time delivery, scrap, cost variance, geography, certifications, and capacity fit</a:t>
            </a:r>
            <a:r>
              <a:rPr lang="en-US" sz="1104" dirty="0">
                <a:solidFill>
                  <a:srgbClr val="334155"/>
                </a:solidFill>
                <a:latin typeface="Inter" pitchFamily="34" charset="0"/>
                <a:ea typeface="Inter" pitchFamily="34" charset="-122"/>
                <a:cs typeface="Inter" pitchFamily="34" charset="-120"/>
              </a:rPr>
              <a:t>. The more jobs it sees, the harder it becomes for another network to match its decision quality.</a:t>
            </a:r>
            <a:endParaRPr lang="en-US" sz="1104" dirty="0"/>
          </a:p>
        </p:txBody>
      </p:sp>
      <p:sp>
        <p:nvSpPr>
          <p:cNvPr id="12" name="Text 9"/>
          <p:cNvSpPr/>
          <p:nvPr/>
        </p:nvSpPr>
        <p:spPr>
          <a:xfrm>
            <a:off x="3028950" y="3808037"/>
            <a:ext cx="5614988"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TOP IDEA</a:t>
            </a:r>
            <a:endParaRPr lang="en-US" sz="683" dirty="0"/>
          </a:p>
        </p:txBody>
      </p:sp>
      <p:sp>
        <p:nvSpPr>
          <p:cNvPr id="13" name="Text 10"/>
          <p:cNvSpPr/>
          <p:nvPr/>
        </p:nvSpPr>
        <p:spPr>
          <a:xfrm>
            <a:off x="3028950" y="3929481"/>
            <a:ext cx="5648614" cy="6369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Start with ML-assisted factory and partner ranking beside the current process. Let humans override. Capture outcomes and overrides, then automate bounded job classes where confidence and economics are clear.</a:t>
            </a:r>
            <a:endParaRPr lang="en-US" sz="1104" dirty="0"/>
          </a:p>
        </p:txBody>
      </p:sp>
      <p:sp>
        <p:nvSpPr>
          <p:cNvPr id="14" name="Text 11"/>
          <p:cNvSpPr/>
          <p:nvPr/>
        </p:nvSpPr>
        <p:spPr>
          <a:xfrm>
            <a:off x="500063" y="4898129"/>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5" name="Text 12"/>
          <p:cNvSpPr/>
          <p:nvPr/>
        </p:nvSpPr>
        <p:spPr>
          <a:xfrm>
            <a:off x="5042762" y="4898129"/>
            <a:ext cx="3601176"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ROUTING INTELLIGENCE AS COMPOUNDING NETWORK ADVANTAGE</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43538"/>
          </a:xfrm>
          <a:prstGeom prst="rect">
            <a:avLst/>
          </a:prstGeom>
        </p:spPr>
      </p:pic>
      <p:sp>
        <p:nvSpPr>
          <p:cNvPr id="3" name="Text 0"/>
          <p:cNvSpPr/>
          <p:nvPr/>
        </p:nvSpPr>
        <p:spPr>
          <a:xfrm>
            <a:off x="249382" y="1426586"/>
            <a:ext cx="679307" cy="223459"/>
          </a:xfrm>
          <a:prstGeom prst="rect">
            <a:avLst/>
          </a:prstGeom>
          <a:noFill/>
          <a:ln/>
        </p:spPr>
        <p:txBody>
          <a:bodyPr wrap="square" lIns="0" tIns="0" rIns="0" bIns="0" rtlCol="0" anchor="t">
            <a:spAutoFit/>
          </a:bodyPr>
          <a:lstStyle/>
          <a:p>
            <a:pPr marL="0" indent="0" algn="l">
              <a:lnSpc>
                <a:spcPts val="900"/>
              </a:lnSpc>
              <a:buNone/>
            </a:pPr>
            <a:r>
              <a:rPr lang="en-US" sz="634" b="1" kern="0" spc="2" dirty="0">
                <a:solidFill>
                  <a:srgbClr val="1D4ED8"/>
                </a:solidFill>
                <a:latin typeface="Inter" pitchFamily="34" charset="0"/>
                <a:ea typeface="Inter" pitchFamily="34" charset="-122"/>
                <a:cs typeface="Inter" pitchFamily="34" charset="-120"/>
              </a:rPr>
              <a:t>STAGE 3 / 9 · MANUFACTURING</a:t>
            </a:r>
            <a:endParaRPr lang="en-US" sz="634" dirty="0"/>
          </a:p>
        </p:txBody>
      </p:sp>
      <p:sp>
        <p:nvSpPr>
          <p:cNvPr id="4" name="Text 1"/>
          <p:cNvSpPr/>
          <p:nvPr/>
        </p:nvSpPr>
        <p:spPr>
          <a:xfrm>
            <a:off x="1071563" y="471488"/>
            <a:ext cx="7572375"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3 COMPANION</a:t>
            </a:r>
            <a:endParaRPr lang="en-US" sz="734" dirty="0"/>
          </a:p>
        </p:txBody>
      </p:sp>
      <p:sp>
        <p:nvSpPr>
          <p:cNvPr id="5" name="Text 2"/>
          <p:cNvSpPr/>
          <p:nvPr/>
        </p:nvSpPr>
        <p:spPr>
          <a:xfrm>
            <a:off x="1071563" y="671513"/>
            <a:ext cx="6643688" cy="575463"/>
          </a:xfrm>
          <a:prstGeom prst="rect">
            <a:avLst/>
          </a:prstGeom>
          <a:noFill/>
          <a:ln/>
        </p:spPr>
        <p:txBody>
          <a:bodyPr wrap="squar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Routing becomes a moat when allocation learns from outcomes competitors cannot see</a:t>
            </a:r>
            <a:endParaRPr lang="en-US" sz="1912" dirty="0"/>
          </a:p>
        </p:txBody>
      </p:sp>
      <p:sp>
        <p:nvSpPr>
          <p:cNvPr id="6" name="Text 3"/>
          <p:cNvSpPr/>
          <p:nvPr/>
        </p:nvSpPr>
        <p:spPr>
          <a:xfrm>
            <a:off x="1071563" y="1332700"/>
            <a:ext cx="7358063" cy="639003"/>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The strategic value is not merely better matching. It is the creation of a proprietary decision engine that learns which factory or partner is best for each part geometry, tolerance profile, geography, and service requirement.</a:t>
            </a:r>
            <a:endParaRPr lang="en-US" sz="1104" dirty="0"/>
          </a:p>
        </p:txBody>
      </p:sp>
      <p:sp>
        <p:nvSpPr>
          <p:cNvPr id="7" name="Text 4"/>
          <p:cNvSpPr/>
          <p:nvPr/>
        </p:nvSpPr>
        <p:spPr>
          <a:xfrm>
            <a:off x="1071563" y="2121722"/>
            <a:ext cx="209529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ML CAPABILITIES</a:t>
            </a:r>
            <a:endParaRPr lang="en-US" sz="683" dirty="0"/>
          </a:p>
        </p:txBody>
      </p:sp>
      <p:sp>
        <p:nvSpPr>
          <p:cNvPr id="8" name="Text 5"/>
          <p:cNvSpPr/>
          <p:nvPr/>
        </p:nvSpPr>
        <p:spPr>
          <a:xfrm>
            <a:off x="1071563" y="2328890"/>
            <a:ext cx="2095295" cy="448047"/>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What the model stack needs to do</a:t>
            </a:r>
            <a:endParaRPr lang="en-US" sz="1397" dirty="0"/>
          </a:p>
        </p:txBody>
      </p:sp>
      <p:sp>
        <p:nvSpPr>
          <p:cNvPr id="9" name="Text 6"/>
          <p:cNvSpPr/>
          <p:nvPr/>
        </p:nvSpPr>
        <p:spPr>
          <a:xfrm>
            <a:off x="1071563" y="2862662"/>
            <a:ext cx="2095295" cy="2064907"/>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Use ranking models to recommend best-fit sites or suppliers and feed them with partner performance embeddings from quality history, lead-time adherence, capacity, certifications, geography, and cost variance. Add capacity forecasting and constraint-aware optimization so routing reflects reality when work lands.</a:t>
            </a:r>
            <a:endParaRPr lang="en-US" sz="942" dirty="0"/>
          </a:p>
        </p:txBody>
      </p:sp>
      <p:sp>
        <p:nvSpPr>
          <p:cNvPr id="10" name="Text 7"/>
          <p:cNvSpPr/>
          <p:nvPr/>
        </p:nvSpPr>
        <p:spPr>
          <a:xfrm>
            <a:off x="3338308" y="2121722"/>
            <a:ext cx="2017719"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IMPLEMENTATION PATH</a:t>
            </a:r>
            <a:endParaRPr lang="en-US" sz="683" dirty="0"/>
          </a:p>
        </p:txBody>
      </p:sp>
      <p:sp>
        <p:nvSpPr>
          <p:cNvPr id="11" name="Text 8"/>
          <p:cNvSpPr/>
          <p:nvPr/>
        </p:nvSpPr>
        <p:spPr>
          <a:xfrm>
            <a:off x="3338308" y="2328890"/>
            <a:ext cx="2017719"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How to deploy without operational risk</a:t>
            </a:r>
            <a:endParaRPr lang="en-US" sz="1397" dirty="0"/>
          </a:p>
        </p:txBody>
      </p:sp>
      <p:sp>
        <p:nvSpPr>
          <p:cNvPr id="12" name="Text 9"/>
          <p:cNvSpPr/>
          <p:nvPr/>
        </p:nvSpPr>
        <p:spPr>
          <a:xfrm>
            <a:off x="3338307" y="2865077"/>
            <a:ext cx="2017719" cy="1689469"/>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Start as a side-by-side recommender that explains top choices and signals. Standardize training on part type, material, tolerances, outcomes, delivery, scrap, and certifications; automate bounded job classes first and expand as confidence grows.</a:t>
            </a:r>
            <a:endParaRPr lang="en-US" sz="942" dirty="0"/>
          </a:p>
        </p:txBody>
      </p:sp>
      <p:sp>
        <p:nvSpPr>
          <p:cNvPr id="13" name="Text 10"/>
          <p:cNvSpPr/>
          <p:nvPr/>
        </p:nvSpPr>
        <p:spPr>
          <a:xfrm>
            <a:off x="5527477" y="2121722"/>
            <a:ext cx="3116461"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MEASURES OF VALUE</a:t>
            </a:r>
            <a:endParaRPr lang="en-US" sz="683" dirty="0"/>
          </a:p>
        </p:txBody>
      </p:sp>
      <p:sp>
        <p:nvSpPr>
          <p:cNvPr id="14" name="Text 11"/>
          <p:cNvSpPr/>
          <p:nvPr/>
        </p:nvSpPr>
        <p:spPr>
          <a:xfrm>
            <a:off x="5527477" y="2328890"/>
            <a:ext cx="2357438" cy="448047"/>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What proves the moat is real</a:t>
            </a:r>
            <a:endParaRPr lang="en-US" sz="1397" dirty="0"/>
          </a:p>
        </p:txBody>
      </p:sp>
      <p:sp>
        <p:nvSpPr>
          <p:cNvPr id="15" name="Text 12"/>
          <p:cNvSpPr/>
          <p:nvPr/>
        </p:nvSpPr>
        <p:spPr>
          <a:xfrm>
            <a:off x="5527477" y="2862662"/>
            <a:ext cx="3116461" cy="56315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The best evidence is operational and commercial improvement that compounds with every routed order.</a:t>
            </a:r>
            <a:endParaRPr lang="en-US" sz="942" dirty="0"/>
          </a:p>
        </p:txBody>
      </p:sp>
      <p:sp>
        <p:nvSpPr>
          <p:cNvPr id="16" name="Text 13"/>
          <p:cNvSpPr/>
          <p:nvPr/>
        </p:nvSpPr>
        <p:spPr>
          <a:xfrm>
            <a:off x="5527477" y="3590125"/>
            <a:ext cx="642938" cy="603424"/>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Margin</a:t>
            </a:r>
            <a:endParaRPr lang="en-US" sz="784" dirty="0"/>
          </a:p>
        </p:txBody>
      </p:sp>
      <p:sp>
        <p:nvSpPr>
          <p:cNvPr id="17" name="Text 14"/>
          <p:cNvSpPr/>
          <p:nvPr/>
        </p:nvSpPr>
        <p:spPr>
          <a:xfrm>
            <a:off x="5975928" y="3590125"/>
            <a:ext cx="914220" cy="297582"/>
          </a:xfrm>
          <a:prstGeom prst="rect">
            <a:avLst/>
          </a:prstGeom>
          <a:noFill/>
          <a:ln/>
        </p:spPr>
        <p:txBody>
          <a:bodyPr wrap="square" lIns="0" tIns="0" rIns="0" bIns="0" rtlCol="0" anchor="t">
            <a:spAutoFit/>
          </a:bodyPr>
          <a:lstStyle/>
          <a:p>
            <a:pPr marL="0" indent="0" algn="l">
              <a:lnSpc>
                <a:spcPts val="1200"/>
              </a:lnSpc>
              <a:buNone/>
            </a:pPr>
            <a:r>
              <a:rPr lang="en-US" sz="834" dirty="0">
                <a:solidFill>
                  <a:srgbClr val="334155"/>
                </a:solidFill>
                <a:latin typeface="Inter" pitchFamily="34" charset="0"/>
                <a:ea typeface="Inter" pitchFamily="34" charset="-122"/>
                <a:cs typeface="Inter" pitchFamily="34" charset="-120"/>
              </a:rPr>
              <a:t>Gross margin vs historical baseline.</a:t>
            </a:r>
            <a:endParaRPr lang="en-US" sz="834" dirty="0"/>
          </a:p>
        </p:txBody>
      </p:sp>
      <p:sp>
        <p:nvSpPr>
          <p:cNvPr id="18" name="Text 15"/>
          <p:cNvSpPr/>
          <p:nvPr/>
        </p:nvSpPr>
        <p:spPr>
          <a:xfrm>
            <a:off x="7018734" y="3590125"/>
            <a:ext cx="642938" cy="603424"/>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Delivery</a:t>
            </a:r>
            <a:endParaRPr lang="en-US" sz="784" dirty="0"/>
          </a:p>
        </p:txBody>
      </p:sp>
      <p:sp>
        <p:nvSpPr>
          <p:cNvPr id="19" name="Text 16"/>
          <p:cNvSpPr/>
          <p:nvPr/>
        </p:nvSpPr>
        <p:spPr>
          <a:xfrm>
            <a:off x="7476836" y="3590125"/>
            <a:ext cx="1167101" cy="297582"/>
          </a:xfrm>
          <a:prstGeom prst="rect">
            <a:avLst/>
          </a:prstGeom>
          <a:noFill/>
          <a:ln/>
        </p:spPr>
        <p:txBody>
          <a:bodyPr wrap="square" lIns="0" tIns="0" rIns="0" bIns="0" rtlCol="0" anchor="t">
            <a:spAutoFit/>
          </a:bodyPr>
          <a:lstStyle/>
          <a:p>
            <a:pPr marL="0" indent="0" algn="l">
              <a:lnSpc>
                <a:spcPts val="1200"/>
              </a:lnSpc>
              <a:buNone/>
            </a:pPr>
            <a:r>
              <a:rPr lang="en-US" sz="834" dirty="0">
                <a:solidFill>
                  <a:srgbClr val="334155"/>
                </a:solidFill>
                <a:latin typeface="Inter" pitchFamily="34" charset="0"/>
                <a:ea typeface="Inter" pitchFamily="34" charset="-122"/>
                <a:cs typeface="Inter" pitchFamily="34" charset="-120"/>
              </a:rPr>
              <a:t>On-time performance and lead-time reliability.</a:t>
            </a:r>
            <a:endParaRPr lang="en-US" sz="834" dirty="0"/>
          </a:p>
        </p:txBody>
      </p:sp>
      <p:sp>
        <p:nvSpPr>
          <p:cNvPr id="20" name="Text 17"/>
          <p:cNvSpPr/>
          <p:nvPr/>
        </p:nvSpPr>
        <p:spPr>
          <a:xfrm>
            <a:off x="5527477" y="4336424"/>
            <a:ext cx="642938" cy="754280"/>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Quality</a:t>
            </a:r>
            <a:endParaRPr lang="en-US" sz="784" dirty="0"/>
          </a:p>
        </p:txBody>
      </p:sp>
      <p:sp>
        <p:nvSpPr>
          <p:cNvPr id="21" name="Text 18"/>
          <p:cNvSpPr/>
          <p:nvPr/>
        </p:nvSpPr>
        <p:spPr>
          <a:xfrm>
            <a:off x="6026728" y="4336424"/>
            <a:ext cx="863420" cy="451470"/>
          </a:xfrm>
          <a:prstGeom prst="rect">
            <a:avLst/>
          </a:prstGeom>
          <a:noFill/>
          <a:ln/>
        </p:spPr>
        <p:txBody>
          <a:bodyPr wrap="square" lIns="0" tIns="0" rIns="0" bIns="0" rtlCol="0" anchor="t">
            <a:spAutoFit/>
          </a:bodyPr>
          <a:lstStyle/>
          <a:p>
            <a:pPr marL="0" indent="0" algn="l">
              <a:lnSpc>
                <a:spcPts val="1200"/>
              </a:lnSpc>
              <a:buNone/>
            </a:pPr>
            <a:r>
              <a:rPr lang="en-US" sz="834" dirty="0">
                <a:solidFill>
                  <a:srgbClr val="334155"/>
                </a:solidFill>
                <a:latin typeface="Inter" pitchFamily="34" charset="0"/>
                <a:ea typeface="Inter" pitchFamily="34" charset="-122"/>
                <a:cs typeface="Inter" pitchFamily="34" charset="-120"/>
              </a:rPr>
              <a:t>Scrap, rework, and certification fit after routing.</a:t>
            </a:r>
            <a:endParaRPr lang="en-US" sz="834" dirty="0"/>
          </a:p>
        </p:txBody>
      </p:sp>
      <p:sp>
        <p:nvSpPr>
          <p:cNvPr id="22" name="Text 19"/>
          <p:cNvSpPr/>
          <p:nvPr/>
        </p:nvSpPr>
        <p:spPr>
          <a:xfrm>
            <a:off x="7018734" y="4336424"/>
            <a:ext cx="642938" cy="754280"/>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Trust</a:t>
            </a:r>
            <a:endParaRPr lang="en-US" sz="784" dirty="0"/>
          </a:p>
        </p:txBody>
      </p:sp>
      <p:sp>
        <p:nvSpPr>
          <p:cNvPr id="23" name="Text 20"/>
          <p:cNvSpPr/>
          <p:nvPr/>
        </p:nvSpPr>
        <p:spPr>
          <a:xfrm>
            <a:off x="7476836" y="4336424"/>
            <a:ext cx="1167101" cy="451470"/>
          </a:xfrm>
          <a:prstGeom prst="rect">
            <a:avLst/>
          </a:prstGeom>
          <a:noFill/>
          <a:ln/>
        </p:spPr>
        <p:txBody>
          <a:bodyPr wrap="square" lIns="0" tIns="0" rIns="0" bIns="0" rtlCol="0" anchor="t">
            <a:spAutoFit/>
          </a:bodyPr>
          <a:lstStyle/>
          <a:p>
            <a:pPr marL="0" indent="0" algn="l">
              <a:lnSpc>
                <a:spcPts val="1200"/>
              </a:lnSpc>
              <a:buNone/>
            </a:pPr>
            <a:r>
              <a:rPr lang="en-US" sz="834" dirty="0">
                <a:solidFill>
                  <a:srgbClr val="334155"/>
                </a:solidFill>
                <a:latin typeface="Inter" pitchFamily="34" charset="0"/>
                <a:ea typeface="Inter" pitchFamily="34" charset="-122"/>
                <a:cs typeface="Inter" pitchFamily="34" charset="-120"/>
              </a:rPr>
              <a:t>Manual override rate and recommendation acceptance.</a:t>
            </a:r>
            <a:endParaRPr lang="en-US" sz="834" dirty="0"/>
          </a:p>
        </p:txBody>
      </p:sp>
      <p:sp>
        <p:nvSpPr>
          <p:cNvPr id="24" name="Text 21"/>
          <p:cNvSpPr/>
          <p:nvPr/>
        </p:nvSpPr>
        <p:spPr>
          <a:xfrm>
            <a:off x="1071563" y="5233578"/>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5" name="Text 22"/>
          <p:cNvSpPr/>
          <p:nvPr/>
        </p:nvSpPr>
        <p:spPr>
          <a:xfrm>
            <a:off x="4791308" y="5233578"/>
            <a:ext cx="3852630"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NETWORK DATA + LEARNING LOOP = DEFENSIBLE ROUTING ADVANTAGE</a:t>
            </a:r>
            <a:endParaRPr lang="en-US" sz="72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9819"/>
          </a:xfrm>
          <a:prstGeom prst="rect">
            <a:avLst/>
          </a:prstGeom>
        </p:spPr>
      </p:pic>
      <p:sp>
        <p:nvSpPr>
          <p:cNvPr id="3" name="Text 0"/>
          <p:cNvSpPr/>
          <p:nvPr/>
        </p:nvSpPr>
        <p:spPr>
          <a:xfrm>
            <a:off x="500063" y="471488"/>
            <a:ext cx="2571750"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4 / 9 · PRICING &amp; QUOTE</a:t>
            </a:r>
            <a:endParaRPr lang="en-US" sz="734" dirty="0"/>
          </a:p>
        </p:txBody>
      </p:sp>
      <p:sp>
        <p:nvSpPr>
          <p:cNvPr id="4" name="Text 1"/>
          <p:cNvSpPr/>
          <p:nvPr/>
        </p:nvSpPr>
        <p:spPr>
          <a:xfrm>
            <a:off x="500063" y="742950"/>
            <a:ext cx="2357438" cy="855073"/>
          </a:xfrm>
          <a:prstGeom prst="rect">
            <a:avLst/>
          </a:prstGeom>
          <a:noFill/>
          <a:ln/>
        </p:spPr>
        <p:txBody>
          <a:bodyPr wrap="square" lIns="0" tIns="0" rIns="0" bIns="0" rtlCol="0" anchor="t">
            <a:spAutoFit/>
          </a:bodyPr>
          <a:lstStyle/>
          <a:p>
            <a:pPr marL="0" indent="0" algn="l">
              <a:lnSpc>
                <a:spcPts val="2200"/>
              </a:lnSpc>
              <a:buNone/>
            </a:pPr>
            <a:r>
              <a:rPr lang="en-US" sz="1912" b="1" dirty="0">
                <a:solidFill>
                  <a:srgbClr val="123B6D"/>
                </a:solidFill>
                <a:latin typeface="Inter" pitchFamily="34" charset="0"/>
                <a:ea typeface="Inter" pitchFamily="34" charset="-122"/>
                <a:cs typeface="Inter" pitchFamily="34" charset="-120"/>
              </a:rPr>
              <a:t>Turn Pricing Into a Closed Learning Loop</a:t>
            </a:r>
            <a:endParaRPr lang="en-US" sz="1912" dirty="0"/>
          </a:p>
        </p:txBody>
      </p:sp>
      <p:sp>
        <p:nvSpPr>
          <p:cNvPr id="5" name="Text 2"/>
          <p:cNvSpPr/>
          <p:nvPr/>
        </p:nvSpPr>
        <p:spPr>
          <a:xfrm>
            <a:off x="500063" y="1726611"/>
            <a:ext cx="2357438" cy="1251552"/>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Pricing is where revenue, margin, and trust meet. The strategic opportunity is to make every quote both a commercial decision today and a learning input for a better decision tomorrow.</a:t>
            </a:r>
            <a:endParaRPr lang="en-US" sz="1050" dirty="0"/>
          </a:p>
        </p:txBody>
      </p:sp>
      <p:sp>
        <p:nvSpPr>
          <p:cNvPr id="6" name="Text 3"/>
          <p:cNvSpPr/>
          <p:nvPr/>
        </p:nvSpPr>
        <p:spPr>
          <a:xfrm>
            <a:off x="3314700" y="314325"/>
            <a:ext cx="5329238" cy="833224"/>
          </a:xfrm>
          <a:prstGeom prst="rect">
            <a:avLst/>
          </a:prstGeom>
          <a:noFill/>
          <a:ln/>
        </p:spPr>
        <p:txBody>
          <a:bodyPr wrap="square" lIns="0" tIns="0" rIns="0" bIns="0" rtlCol="0" anchor="t">
            <a:spAutoFit/>
          </a:bodyPr>
          <a:lstStyle/>
          <a:p>
            <a:pPr marL="0" indent="0" algn="l">
              <a:lnSpc>
                <a:spcPts val="2200"/>
              </a:lnSpc>
              <a:buNone/>
            </a:pPr>
            <a:r>
              <a:rPr lang="en-US" sz="1808" b="1" dirty="0">
                <a:solidFill>
                  <a:srgbClr val="123B6D"/>
                </a:solidFill>
                <a:latin typeface="Inter" pitchFamily="34" charset="0"/>
                <a:ea typeface="Inter" pitchFamily="34" charset="-122"/>
                <a:cs typeface="Inter" pitchFamily="34" charset="-120"/>
              </a:rPr>
              <a:t>The goal is not opaque dynamic pricing. The goal is confidence-aware pricing that improves with every quote outcome.</a:t>
            </a:r>
            <a:endParaRPr lang="en-US" sz="1808" dirty="0"/>
          </a:p>
        </p:txBody>
      </p:sp>
      <p:sp>
        <p:nvSpPr>
          <p:cNvPr id="7" name="Text 4"/>
          <p:cNvSpPr/>
          <p:nvPr/>
        </p:nvSpPr>
        <p:spPr>
          <a:xfrm>
            <a:off x="3314700" y="1376149"/>
            <a:ext cx="1321594" cy="1065005"/>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TODAY</a:t>
            </a:r>
            <a:endParaRPr lang="en-US" sz="683" dirty="0"/>
          </a:p>
        </p:txBody>
      </p:sp>
      <p:sp>
        <p:nvSpPr>
          <p:cNvPr id="8" name="Text 5"/>
          <p:cNvSpPr/>
          <p:nvPr/>
        </p:nvSpPr>
        <p:spPr>
          <a:xfrm>
            <a:off x="4091709" y="1376149"/>
            <a:ext cx="4552229" cy="854914"/>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Quotes are generated using rules, expert judgment, and static assumptions about cost, lead time, and customer willingness to buy. Valuable signals exist, but much of the learning from wins, losses, and quote-to-actual variance is not systematically reused.</a:t>
            </a:r>
            <a:endParaRPr lang="en-US" sz="1104" dirty="0"/>
          </a:p>
        </p:txBody>
      </p:sp>
      <p:sp>
        <p:nvSpPr>
          <p:cNvPr id="9" name="Text 6"/>
          <p:cNvSpPr/>
          <p:nvPr/>
        </p:nvSpPr>
        <p:spPr>
          <a:xfrm>
            <a:off x="3314700" y="2655466"/>
            <a:ext cx="1321594" cy="1065005"/>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DISRUPTION LOGIC</a:t>
            </a:r>
            <a:endParaRPr lang="en-US" sz="683" dirty="0"/>
          </a:p>
        </p:txBody>
      </p:sp>
      <p:sp>
        <p:nvSpPr>
          <p:cNvPr id="10" name="Text 7"/>
          <p:cNvSpPr/>
          <p:nvPr/>
        </p:nvSpPr>
        <p:spPr>
          <a:xfrm>
            <a:off x="4091709" y="2655466"/>
            <a:ext cx="4552229" cy="6369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A pricing system should learn from </a:t>
            </a:r>
            <a:r>
              <a:rPr lang="en-US" sz="1038" b="1" dirty="0">
                <a:solidFill>
                  <a:srgbClr val="123B6D"/>
                </a:solidFill>
                <a:latin typeface="Inter" pitchFamily="34" charset="0"/>
                <a:ea typeface="Inter" pitchFamily="34" charset="-122"/>
                <a:cs typeface="Inter" pitchFamily="34" charset="-120"/>
              </a:rPr>
              <a:t>conversion, margin, delivery outcomes, and customer trade-offs</a:t>
            </a:r>
            <a:r>
              <a:rPr lang="en-US" sz="1104" dirty="0">
                <a:solidFill>
                  <a:srgbClr val="334155"/>
                </a:solidFill>
                <a:latin typeface="Inter" pitchFamily="34" charset="0"/>
                <a:ea typeface="Inter" pitchFamily="34" charset="-122"/>
                <a:cs typeface="Inter" pitchFamily="34" charset="-120"/>
              </a:rPr>
              <a:t>. That turns pricing into a compounding commercial engine rather than a one-time decision made in isolation.</a:t>
            </a:r>
            <a:endParaRPr lang="en-US" sz="1104" dirty="0"/>
          </a:p>
        </p:txBody>
      </p:sp>
      <p:sp>
        <p:nvSpPr>
          <p:cNvPr id="11" name="Text 8"/>
          <p:cNvSpPr/>
          <p:nvPr/>
        </p:nvSpPr>
        <p:spPr>
          <a:xfrm>
            <a:off x="3314700" y="3934783"/>
            <a:ext cx="1321594" cy="1065005"/>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TOP IDEA</a:t>
            </a:r>
            <a:endParaRPr lang="en-US" sz="683" dirty="0"/>
          </a:p>
        </p:txBody>
      </p:sp>
      <p:sp>
        <p:nvSpPr>
          <p:cNvPr id="12" name="Text 9"/>
          <p:cNvSpPr/>
          <p:nvPr/>
        </p:nvSpPr>
        <p:spPr>
          <a:xfrm>
            <a:off x="4091709" y="3934783"/>
            <a:ext cx="4552229" cy="854914"/>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Start with confidence-scored recommendations inside clear policy guardrails. Let humans override when needed. Then feed quote results back into the model so pricing gets sharper without becoming unfair, unpredictable, or hard to explain.</a:t>
            </a:r>
            <a:endParaRPr lang="en-US" sz="1104" dirty="0"/>
          </a:p>
        </p:txBody>
      </p:sp>
      <p:sp>
        <p:nvSpPr>
          <p:cNvPr id="13" name="Text 10"/>
          <p:cNvSpPr/>
          <p:nvPr/>
        </p:nvSpPr>
        <p:spPr>
          <a:xfrm>
            <a:off x="500063" y="5128375"/>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4" name="Text 11"/>
          <p:cNvSpPr/>
          <p:nvPr/>
        </p:nvSpPr>
        <p:spPr>
          <a:xfrm>
            <a:off x="5601760" y="5128375"/>
            <a:ext cx="3042177"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PRICING AS A LEARNING SYSTEM</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57200" y="471488"/>
            <a:ext cx="2143125"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4 COMPANION · STRATEGY, STACK, CONTROL</a:t>
            </a:r>
            <a:endParaRPr lang="en-US" sz="734" dirty="0"/>
          </a:p>
        </p:txBody>
      </p:sp>
      <p:sp>
        <p:nvSpPr>
          <p:cNvPr id="4" name="Text 1"/>
          <p:cNvSpPr/>
          <p:nvPr/>
        </p:nvSpPr>
        <p:spPr>
          <a:xfrm>
            <a:off x="2786063" y="471488"/>
            <a:ext cx="5900738"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Adaptive Pricing Is a Product</a:t>
            </a:r>
            <a:endParaRPr lang="en-US" sz="1808" dirty="0"/>
          </a:p>
        </p:txBody>
      </p:sp>
      <p:sp>
        <p:nvSpPr>
          <p:cNvPr id="5" name="Text 2"/>
          <p:cNvSpPr/>
          <p:nvPr/>
        </p:nvSpPr>
        <p:spPr>
          <a:xfrm>
            <a:off x="2786063" y="801216"/>
            <a:ext cx="5900738" cy="608614"/>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The pricing engine should do more than set a number. It should help Protolabs monetize speed, certainty, and manufacturing fit while learning from every quote outcome inside clearly defined commercial boundaries.</a:t>
            </a:r>
            <a:endParaRPr lang="en-US" sz="1050" dirty="0"/>
          </a:p>
        </p:txBody>
      </p:sp>
      <p:sp>
        <p:nvSpPr>
          <p:cNvPr id="6" name="Text 3"/>
          <p:cNvSpPr/>
          <p:nvPr/>
        </p:nvSpPr>
        <p:spPr>
          <a:xfrm>
            <a:off x="457200" y="1624143"/>
            <a:ext cx="2074562"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BUSINESS UPSIDE</a:t>
            </a:r>
            <a:endParaRPr lang="en-US" sz="634" dirty="0"/>
          </a:p>
        </p:txBody>
      </p:sp>
      <p:sp>
        <p:nvSpPr>
          <p:cNvPr id="7" name="Text 4"/>
          <p:cNvSpPr/>
          <p:nvPr/>
        </p:nvSpPr>
        <p:spPr>
          <a:xfrm>
            <a:off x="457200" y="1793807"/>
            <a:ext cx="1785938" cy="781794"/>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Pricing becomes a commercial lever, not only a quote calculation</a:t>
            </a:r>
            <a:endParaRPr lang="en-US" sz="1193" dirty="0"/>
          </a:p>
        </p:txBody>
      </p:sp>
      <p:sp>
        <p:nvSpPr>
          <p:cNvPr id="8" name="Text 5"/>
          <p:cNvSpPr/>
          <p:nvPr/>
        </p:nvSpPr>
        <p:spPr>
          <a:xfrm>
            <a:off x="457200" y="2632751"/>
            <a:ext cx="2074562" cy="103456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Better pricing can lift margin, reduce quote latency, and create differentiated offers such as price-versus-lead-time trade-offs, quote-speed tiers, and design-for-cost recommendations.</a:t>
            </a:r>
            <a:endParaRPr lang="en-US" sz="888" dirty="0"/>
          </a:p>
        </p:txBody>
      </p:sp>
      <p:sp>
        <p:nvSpPr>
          <p:cNvPr id="9" name="Text 6"/>
          <p:cNvSpPr/>
          <p:nvPr/>
        </p:nvSpPr>
        <p:spPr>
          <a:xfrm>
            <a:off x="457200" y="3724461"/>
            <a:ext cx="2074562" cy="86213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The strategic value is cumulative: each order improves the next commercial decision instead of leaving pricing knowledge trapped in manual heuristics.</a:t>
            </a:r>
            <a:endParaRPr lang="en-US" sz="888" dirty="0"/>
          </a:p>
        </p:txBody>
      </p:sp>
      <p:sp>
        <p:nvSpPr>
          <p:cNvPr id="10" name="Text 7"/>
          <p:cNvSpPr/>
          <p:nvPr/>
        </p:nvSpPr>
        <p:spPr>
          <a:xfrm>
            <a:off x="2660349" y="1624143"/>
            <a:ext cx="2173346"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REQUIRED AI / ML STACK</a:t>
            </a:r>
            <a:endParaRPr lang="en-US" sz="634" dirty="0"/>
          </a:p>
        </p:txBody>
      </p:sp>
      <p:sp>
        <p:nvSpPr>
          <p:cNvPr id="11" name="Text 8"/>
          <p:cNvSpPr/>
          <p:nvPr/>
        </p:nvSpPr>
        <p:spPr>
          <a:xfrm>
            <a:off x="2660349" y="1793807"/>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What capabilities make adaptive pricing credible</a:t>
            </a:r>
            <a:endParaRPr lang="en-US" sz="1193" dirty="0"/>
          </a:p>
        </p:txBody>
      </p:sp>
      <p:sp>
        <p:nvSpPr>
          <p:cNvPr id="12" name="Text 9"/>
          <p:cNvSpPr/>
          <p:nvPr/>
        </p:nvSpPr>
        <p:spPr>
          <a:xfrm>
            <a:off x="2660349" y="2437302"/>
            <a:ext cx="2173346" cy="1034560"/>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Core models:</a:t>
            </a:r>
            <a:r>
              <a:rPr lang="en-US" sz="888" dirty="0">
                <a:solidFill>
                  <a:srgbClr val="334155"/>
                </a:solidFill>
                <a:latin typeface="Inter" pitchFamily="34" charset="0"/>
                <a:ea typeface="Inter" pitchFamily="34" charset="-122"/>
                <a:cs typeface="Inter" pitchFamily="34" charset="-120"/>
              </a:rPr>
              <a:t> conversion prediction, elasticity estimation, anomaly detection, and confidence scoring so the system knows when to recommend, when to escalate, and when not to act.</a:t>
            </a:r>
            <a:endParaRPr lang="en-US" sz="834" dirty="0"/>
          </a:p>
        </p:txBody>
      </p:sp>
      <p:sp>
        <p:nvSpPr>
          <p:cNvPr id="13" name="Text 10"/>
          <p:cNvSpPr/>
          <p:nvPr/>
        </p:nvSpPr>
        <p:spPr>
          <a:xfrm>
            <a:off x="2660349" y="3529013"/>
            <a:ext cx="2173346" cy="86213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Decision layer:</a:t>
            </a:r>
            <a:r>
              <a:rPr lang="en-US" sz="888" dirty="0">
                <a:solidFill>
                  <a:srgbClr val="334155"/>
                </a:solidFill>
                <a:latin typeface="Inter" pitchFamily="34" charset="0"/>
                <a:ea typeface="Inter" pitchFamily="34" charset="-122"/>
                <a:cs typeface="Inter" pitchFamily="34" charset="-120"/>
              </a:rPr>
              <a:t> reason-code generation, fairness and policy checks, and closed-loop learning from wins, losses, quote-to-actual variance, and override behavior.</a:t>
            </a:r>
            <a:endParaRPr lang="en-US" sz="834" dirty="0"/>
          </a:p>
        </p:txBody>
      </p:sp>
      <p:sp>
        <p:nvSpPr>
          <p:cNvPr id="14" name="Text 11"/>
          <p:cNvSpPr/>
          <p:nvPr/>
        </p:nvSpPr>
        <p:spPr>
          <a:xfrm>
            <a:off x="4962283" y="1624143"/>
            <a:ext cx="1975777"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IMPLEMENTATION GUARDRAILS</a:t>
            </a:r>
            <a:endParaRPr lang="en-US" sz="634" dirty="0"/>
          </a:p>
        </p:txBody>
      </p:sp>
      <p:sp>
        <p:nvSpPr>
          <p:cNvPr id="15" name="Text 12"/>
          <p:cNvSpPr/>
          <p:nvPr/>
        </p:nvSpPr>
        <p:spPr>
          <a:xfrm>
            <a:off x="4962283" y="1793807"/>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Roll out safely and keep commercial trust intact</a:t>
            </a:r>
            <a:endParaRPr lang="en-US" sz="1193" dirty="0"/>
          </a:p>
        </p:txBody>
      </p:sp>
      <p:sp>
        <p:nvSpPr>
          <p:cNvPr id="16" name="Text 13"/>
          <p:cNvSpPr/>
          <p:nvPr/>
        </p:nvSpPr>
        <p:spPr>
          <a:xfrm>
            <a:off x="4962283" y="2437302"/>
            <a:ext cx="1975777" cy="137941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Launch in shadow mode first so recommendations can be compared with current quoting behavior before prices change in production. Keep manual override paths and explicit policy caps on discounts, margins, and customer consistency.</a:t>
            </a:r>
            <a:endParaRPr lang="en-US" sz="888" dirty="0"/>
          </a:p>
        </p:txBody>
      </p:sp>
      <p:sp>
        <p:nvSpPr>
          <p:cNvPr id="17" name="Text 14"/>
          <p:cNvSpPr/>
          <p:nvPr/>
        </p:nvSpPr>
        <p:spPr>
          <a:xfrm>
            <a:off x="4962283" y="3873866"/>
            <a:ext cx="1975777" cy="103456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Only expose customer-facing optimization options after internal confidence is strong and the organization can explain why the system recommended a given range.</a:t>
            </a:r>
            <a:endParaRPr lang="en-US" sz="888" dirty="0"/>
          </a:p>
        </p:txBody>
      </p:sp>
      <p:sp>
        <p:nvSpPr>
          <p:cNvPr id="18" name="Text 15"/>
          <p:cNvSpPr/>
          <p:nvPr/>
        </p:nvSpPr>
        <p:spPr>
          <a:xfrm>
            <a:off x="7066648" y="1624143"/>
            <a:ext cx="1620152"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SUCCESS METRICS</a:t>
            </a:r>
            <a:endParaRPr lang="en-US" sz="634" dirty="0"/>
          </a:p>
        </p:txBody>
      </p:sp>
      <p:sp>
        <p:nvSpPr>
          <p:cNvPr id="19" name="Text 16"/>
          <p:cNvSpPr/>
          <p:nvPr/>
        </p:nvSpPr>
        <p:spPr>
          <a:xfrm>
            <a:off x="7066648" y="1793807"/>
            <a:ext cx="1620152"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Measure learning and commercial performance</a:t>
            </a:r>
            <a:endParaRPr lang="en-US" sz="1193" dirty="0"/>
          </a:p>
        </p:txBody>
      </p:sp>
      <p:sp>
        <p:nvSpPr>
          <p:cNvPr id="20" name="Text 17"/>
          <p:cNvSpPr/>
          <p:nvPr/>
        </p:nvSpPr>
        <p:spPr>
          <a:xfrm>
            <a:off x="7066648" y="2437302"/>
            <a:ext cx="1620152"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Margin lift</a:t>
            </a:r>
            <a:r>
              <a:rPr lang="en-US" sz="834" dirty="0">
                <a:solidFill>
                  <a:srgbClr val="334155"/>
                </a:solidFill>
                <a:latin typeface="Inter" pitchFamily="34" charset="0"/>
                <a:ea typeface="Inter" pitchFamily="34" charset="-122"/>
                <a:cs typeface="Inter" pitchFamily="34" charset="-120"/>
              </a:rPr>
              <a:t>
Incremental gross margin versus baseline quoting logic.</a:t>
            </a:r>
            <a:endParaRPr lang="en-US" sz="784" dirty="0"/>
          </a:p>
        </p:txBody>
      </p:sp>
      <p:sp>
        <p:nvSpPr>
          <p:cNvPr id="21" name="Text 18"/>
          <p:cNvSpPr/>
          <p:nvPr/>
        </p:nvSpPr>
        <p:spPr>
          <a:xfrm>
            <a:off x="7066648" y="2989604"/>
            <a:ext cx="1620152"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Quote acceptance</a:t>
            </a:r>
            <a:r>
              <a:rPr lang="en-US" sz="834" dirty="0">
                <a:solidFill>
                  <a:srgbClr val="334155"/>
                </a:solidFill>
                <a:latin typeface="Inter" pitchFamily="34" charset="0"/>
                <a:ea typeface="Inter" pitchFamily="34" charset="-122"/>
                <a:cs typeface="Inter" pitchFamily="34" charset="-120"/>
              </a:rPr>
              <a:t>
Whether improved pricing also protects conversion.</a:t>
            </a:r>
            <a:endParaRPr lang="en-US" sz="784" dirty="0"/>
          </a:p>
        </p:txBody>
      </p:sp>
      <p:sp>
        <p:nvSpPr>
          <p:cNvPr id="22" name="Text 19"/>
          <p:cNvSpPr/>
          <p:nvPr/>
        </p:nvSpPr>
        <p:spPr>
          <a:xfrm>
            <a:off x="7066648" y="3541905"/>
            <a:ext cx="1620152"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Quote-to-actual variance</a:t>
            </a:r>
            <a:r>
              <a:rPr lang="en-US" sz="834" dirty="0">
                <a:solidFill>
                  <a:srgbClr val="334155"/>
                </a:solidFill>
                <a:latin typeface="Inter" pitchFamily="34" charset="0"/>
                <a:ea typeface="Inter" pitchFamily="34" charset="-122"/>
                <a:cs typeface="Inter" pitchFamily="34" charset="-120"/>
              </a:rPr>
              <a:t>
How closely expected economics match real outcomes.</a:t>
            </a:r>
            <a:endParaRPr lang="en-US" sz="784" dirty="0"/>
          </a:p>
        </p:txBody>
      </p:sp>
      <p:sp>
        <p:nvSpPr>
          <p:cNvPr id="23" name="Text 20"/>
          <p:cNvSpPr/>
          <p:nvPr/>
        </p:nvSpPr>
        <p:spPr>
          <a:xfrm>
            <a:off x="7066648" y="4247350"/>
            <a:ext cx="1620152"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Override frequency</a:t>
            </a:r>
            <a:r>
              <a:rPr lang="en-US" sz="834" dirty="0">
                <a:solidFill>
                  <a:srgbClr val="334155"/>
                </a:solidFill>
                <a:latin typeface="Inter" pitchFamily="34" charset="0"/>
                <a:ea typeface="Inter" pitchFamily="34" charset="-122"/>
                <a:cs typeface="Inter" pitchFamily="34" charset="-120"/>
              </a:rPr>
              <a:t>
Whether trust in recommendations is increasing over time.</a:t>
            </a:r>
            <a:endParaRPr lang="en-US" sz="784" dirty="0"/>
          </a:p>
        </p:txBody>
      </p:sp>
      <p:sp>
        <p:nvSpPr>
          <p:cNvPr id="24" name="Text 21"/>
          <p:cNvSpPr/>
          <p:nvPr/>
        </p:nvSpPr>
        <p:spPr>
          <a:xfrm>
            <a:off x="457200" y="4995658"/>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5" name="Text 22"/>
          <p:cNvSpPr/>
          <p:nvPr/>
        </p:nvSpPr>
        <p:spPr>
          <a:xfrm>
            <a:off x="3407904" y="4995658"/>
            <a:ext cx="5278896"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4 COMPANION · ADAPTIVE PRICING BUSINESS LOGIC, CAPABILITIES, GUARDRAILS, METRICS</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330594"/>
            <a:ext cx="1785938" cy="257175"/>
          </a:xfrm>
          <a:prstGeom prst="rect">
            <a:avLst/>
          </a:prstGeom>
          <a:noFill/>
          <a:ln/>
        </p:spPr>
        <p:txBody>
          <a:bodyPr wrap="squar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5 / 9 · MANUFACTURING</a:t>
            </a:r>
            <a:endParaRPr lang="en-US" sz="734" dirty="0"/>
          </a:p>
        </p:txBody>
      </p:sp>
      <p:sp>
        <p:nvSpPr>
          <p:cNvPr id="4" name="Text 1"/>
          <p:cNvSpPr/>
          <p:nvPr/>
        </p:nvSpPr>
        <p:spPr>
          <a:xfrm>
            <a:off x="2486025" y="300038"/>
            <a:ext cx="6143625" cy="287731"/>
          </a:xfrm>
          <a:prstGeom prst="rect">
            <a:avLst/>
          </a:prstGeom>
          <a:noFill/>
          <a:ln/>
        </p:spPr>
        <p:txBody>
          <a:bodyPr wrap="non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Samples Are a Commercial Trust Gate</a:t>
            </a:r>
            <a:endParaRPr lang="en-US" sz="1912" dirty="0"/>
          </a:p>
        </p:txBody>
      </p:sp>
      <p:sp>
        <p:nvSpPr>
          <p:cNvPr id="5" name="Text 2"/>
          <p:cNvSpPr/>
          <p:nvPr/>
        </p:nvSpPr>
        <p:spPr>
          <a:xfrm>
            <a:off x="500063" y="702069"/>
            <a:ext cx="7572375" cy="595164"/>
          </a:xfrm>
          <a:prstGeom prst="rect">
            <a:avLst/>
          </a:prstGeom>
          <a:noFill/>
          <a:ln/>
        </p:spPr>
        <p:txBody>
          <a:bodyPr wrap="square" lIns="0" tIns="153035" rIns="0" bIns="0" rtlCol="0" anchor="t">
            <a:spAutoFit/>
          </a:bodyPr>
          <a:lstStyle/>
          <a:p>
            <a:pPr marL="0" indent="0" algn="l">
              <a:lnSpc>
                <a:spcPts val="1800"/>
              </a:lnSpc>
              <a:buNone/>
            </a:pPr>
            <a:r>
              <a:rPr lang="en-US" sz="1214" dirty="0">
                <a:solidFill>
                  <a:srgbClr val="334155"/>
                </a:solidFill>
                <a:latin typeface="Inter" pitchFamily="34" charset="0"/>
                <a:ea typeface="Inter" pitchFamily="34" charset="-122"/>
                <a:cs typeface="Inter" pitchFamily="34" charset="-120"/>
              </a:rPr>
              <a:t>Sample parts are not just a manufacturing checkpoint. They are the moment when a customer decides whether Protolabs feels reliable enough for the larger production order that follows.</a:t>
            </a:r>
            <a:endParaRPr lang="en-US" sz="1214" dirty="0"/>
          </a:p>
        </p:txBody>
      </p:sp>
      <p:sp>
        <p:nvSpPr>
          <p:cNvPr id="6" name="Text 3"/>
          <p:cNvSpPr/>
          <p:nvPr/>
        </p:nvSpPr>
        <p:spPr>
          <a:xfrm>
            <a:off x="500063" y="1618701"/>
            <a:ext cx="2357438"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STRATEGIC LENS</a:t>
            </a:r>
            <a:endParaRPr lang="en-US" sz="634" dirty="0"/>
          </a:p>
        </p:txBody>
      </p:sp>
      <p:sp>
        <p:nvSpPr>
          <p:cNvPr id="7" name="Text 4"/>
          <p:cNvSpPr/>
          <p:nvPr/>
        </p:nvSpPr>
        <p:spPr>
          <a:xfrm>
            <a:off x="500063" y="1816940"/>
            <a:ext cx="2143125"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First-pass sample success is close-rate leverage</a:t>
            </a:r>
            <a:endParaRPr lang="en-US" sz="1397" dirty="0"/>
          </a:p>
        </p:txBody>
      </p:sp>
      <p:sp>
        <p:nvSpPr>
          <p:cNvPr id="8" name="Text 5"/>
          <p:cNvSpPr/>
          <p:nvPr/>
        </p:nvSpPr>
        <p:spPr>
          <a:xfrm>
            <a:off x="500063" y="2589023"/>
            <a:ext cx="2357438" cy="1406035"/>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Large production business is often won or lost quietly at the sample stage. A failed first article, a delayed revision cycle, or a vague inspection result weakens confidence right before the customer is ready to scale the program.</a:t>
            </a:r>
            <a:endParaRPr lang="en-US" sz="996" dirty="0"/>
          </a:p>
        </p:txBody>
      </p:sp>
      <p:sp>
        <p:nvSpPr>
          <p:cNvPr id="9" name="Text 6"/>
          <p:cNvSpPr/>
          <p:nvPr/>
        </p:nvSpPr>
        <p:spPr>
          <a:xfrm>
            <a:off x="3028950" y="1618701"/>
            <a:ext cx="3000375"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DISRUPTION LOGIC</a:t>
            </a:r>
            <a:endParaRPr lang="en-US" sz="634" dirty="0"/>
          </a:p>
        </p:txBody>
      </p:sp>
      <p:sp>
        <p:nvSpPr>
          <p:cNvPr id="10" name="Text 7"/>
          <p:cNvSpPr/>
          <p:nvPr/>
        </p:nvSpPr>
        <p:spPr>
          <a:xfrm>
            <a:off x="3028950" y="1816940"/>
            <a:ext cx="2143125" cy="896094"/>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AI can improve the part before the commercial decision is made</a:t>
            </a:r>
            <a:endParaRPr lang="en-US" sz="1397" dirty="0"/>
          </a:p>
        </p:txBody>
      </p:sp>
      <p:sp>
        <p:nvSpPr>
          <p:cNvPr id="11" name="Text 8"/>
          <p:cNvSpPr/>
          <p:nvPr/>
        </p:nvSpPr>
        <p:spPr>
          <a:xfrm>
            <a:off x="3028950" y="2813047"/>
            <a:ext cx="3000375" cy="1406035"/>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Use historical run data, process knowledge, and dimensional inspection signals to predict where a part is likely to fail and to recommend better process settings before the sample is built. The strategic goal is </a:t>
            </a:r>
            <a:r>
              <a:rPr lang="en-US" sz="936" b="1" dirty="0">
                <a:solidFill>
                  <a:srgbClr val="123B6D"/>
                </a:solidFill>
                <a:latin typeface="Inter" pitchFamily="34" charset="0"/>
                <a:ea typeface="Inter" pitchFamily="34" charset="-122"/>
                <a:cs typeface="Inter" pitchFamily="34" charset="-120"/>
              </a:rPr>
              <a:t>higher first-pass approval</a:t>
            </a:r>
            <a:r>
              <a:rPr lang="en-US" sz="996" dirty="0">
                <a:solidFill>
                  <a:srgbClr val="334155"/>
                </a:solidFill>
                <a:latin typeface="Inter" pitchFamily="34" charset="0"/>
                <a:ea typeface="Inter" pitchFamily="34" charset="-122"/>
                <a:cs typeface="Inter" pitchFamily="34" charset="-120"/>
              </a:rPr>
              <a:t>, because faster technical confidence translates into faster commercial commitment.</a:t>
            </a:r>
            <a:endParaRPr lang="en-US" sz="996" dirty="0"/>
          </a:p>
        </p:txBody>
      </p:sp>
      <p:sp>
        <p:nvSpPr>
          <p:cNvPr id="12" name="Text 9"/>
          <p:cNvSpPr/>
          <p:nvPr/>
        </p:nvSpPr>
        <p:spPr>
          <a:xfrm>
            <a:off x="6200775" y="1618701"/>
            <a:ext cx="2286000"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RECOMMENDED MOVE</a:t>
            </a:r>
            <a:endParaRPr lang="en-US" sz="634" dirty="0"/>
          </a:p>
        </p:txBody>
      </p:sp>
      <p:sp>
        <p:nvSpPr>
          <p:cNvPr id="13" name="Text 10"/>
          <p:cNvSpPr/>
          <p:nvPr/>
        </p:nvSpPr>
        <p:spPr>
          <a:xfrm>
            <a:off x="6200775" y="1909809"/>
            <a:ext cx="2286000" cy="13751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123B6D"/>
                </a:solidFill>
                <a:latin typeface="Inter" pitchFamily="34" charset="0"/>
                <a:ea typeface="Inter" pitchFamily="34" charset="-122"/>
                <a:cs typeface="Inter" pitchFamily="34" charset="-120"/>
              </a:rPr>
              <a:t>1 · PREDICT</a:t>
            </a:r>
            <a:endParaRPr lang="en-US" sz="784" dirty="0"/>
          </a:p>
        </p:txBody>
      </p:sp>
      <p:sp>
        <p:nvSpPr>
          <p:cNvPr id="14" name="Text 11"/>
          <p:cNvSpPr/>
          <p:nvPr/>
        </p:nvSpPr>
        <p:spPr>
          <a:xfrm>
            <a:off x="6200775" y="2090189"/>
            <a:ext cx="2286000" cy="34485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Model yield and likely defect risk before the sample run begins.</a:t>
            </a:r>
            <a:endParaRPr lang="en-US" sz="888" dirty="0"/>
          </a:p>
        </p:txBody>
      </p:sp>
      <p:sp>
        <p:nvSpPr>
          <p:cNvPr id="15" name="Text 12"/>
          <p:cNvSpPr/>
          <p:nvPr/>
        </p:nvSpPr>
        <p:spPr>
          <a:xfrm>
            <a:off x="6200775" y="2613636"/>
            <a:ext cx="2286000" cy="13751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123B6D"/>
                </a:solidFill>
                <a:latin typeface="Inter" pitchFamily="34" charset="0"/>
                <a:ea typeface="Inter" pitchFamily="34" charset="-122"/>
                <a:cs typeface="Inter" pitchFamily="34" charset="-120"/>
              </a:rPr>
              <a:t>2 · INSPECT</a:t>
            </a:r>
            <a:endParaRPr lang="en-US" sz="784" dirty="0"/>
          </a:p>
        </p:txBody>
      </p:sp>
      <p:sp>
        <p:nvSpPr>
          <p:cNvPr id="16" name="Text 13"/>
          <p:cNvSpPr/>
          <p:nvPr/>
        </p:nvSpPr>
        <p:spPr>
          <a:xfrm>
            <a:off x="6200775" y="2794016"/>
            <a:ext cx="2286000" cy="51728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Use vision-assisted dimensional checks and clearer first-article evidence.</a:t>
            </a:r>
            <a:endParaRPr lang="en-US" sz="888" dirty="0"/>
          </a:p>
        </p:txBody>
      </p:sp>
      <p:sp>
        <p:nvSpPr>
          <p:cNvPr id="17" name="Text 14"/>
          <p:cNvSpPr/>
          <p:nvPr/>
        </p:nvSpPr>
        <p:spPr>
          <a:xfrm>
            <a:off x="6200775" y="3489889"/>
            <a:ext cx="2286000" cy="13751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123B6D"/>
                </a:solidFill>
                <a:latin typeface="Inter" pitchFamily="34" charset="0"/>
                <a:ea typeface="Inter" pitchFamily="34" charset="-122"/>
                <a:cs typeface="Inter" pitchFamily="34" charset="-120"/>
              </a:rPr>
              <a:t>3 · CONVERT</a:t>
            </a:r>
            <a:endParaRPr lang="en-US" sz="784" dirty="0"/>
          </a:p>
        </p:txBody>
      </p:sp>
      <p:sp>
        <p:nvSpPr>
          <p:cNvPr id="18" name="Text 15"/>
          <p:cNvSpPr/>
          <p:nvPr/>
        </p:nvSpPr>
        <p:spPr>
          <a:xfrm>
            <a:off x="6200775" y="3670269"/>
            <a:ext cx="2286000" cy="51728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Turn faster sample approval into a shorter path from validation to production PO.</a:t>
            </a:r>
            <a:endParaRPr lang="en-US" sz="888" dirty="0"/>
          </a:p>
        </p:txBody>
      </p:sp>
      <p:sp>
        <p:nvSpPr>
          <p:cNvPr id="19" name="Text 16"/>
          <p:cNvSpPr/>
          <p:nvPr/>
        </p:nvSpPr>
        <p:spPr>
          <a:xfrm>
            <a:off x="500063" y="4411907"/>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0" name="Text 17"/>
          <p:cNvSpPr/>
          <p:nvPr/>
        </p:nvSpPr>
        <p:spPr>
          <a:xfrm>
            <a:off x="4707368" y="4411907"/>
            <a:ext cx="3936569"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SAMPLE-TO-PRODUCTION CONVERSION FRAMING</a:t>
            </a:r>
            <a:endParaRPr lang="en-US" sz="72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85775" y="442913"/>
            <a:ext cx="1928813"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5 COMPANION · PREDICTIVE YIELD + VISION</a:t>
            </a:r>
            <a:endParaRPr lang="en-US" sz="734" dirty="0"/>
          </a:p>
        </p:txBody>
      </p:sp>
      <p:sp>
        <p:nvSpPr>
          <p:cNvPr id="4" name="Text 1"/>
          <p:cNvSpPr/>
          <p:nvPr/>
        </p:nvSpPr>
        <p:spPr>
          <a:xfrm>
            <a:off x="2600325" y="442913"/>
            <a:ext cx="6000750"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First-pass success wins bigger programs</a:t>
            </a:r>
            <a:endParaRPr lang="en-US" sz="1808" dirty="0"/>
          </a:p>
        </p:txBody>
      </p:sp>
      <p:sp>
        <p:nvSpPr>
          <p:cNvPr id="5" name="Text 2"/>
          <p:cNvSpPr/>
          <p:nvPr/>
        </p:nvSpPr>
        <p:spPr>
          <a:xfrm>
            <a:off x="2600325" y="786929"/>
            <a:ext cx="6057900" cy="852004"/>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Sample approval is not only a technical checkpoint. It is the trust gate between a promising quote and a production-scale commitment. If Protolabs improves first-pass sample success, it increases the probability that larger-volume work converts faster and with less hidden deal friction.</a:t>
            </a:r>
            <a:endParaRPr lang="en-US" sz="1104" dirty="0"/>
          </a:p>
        </p:txBody>
      </p:sp>
      <p:sp>
        <p:nvSpPr>
          <p:cNvPr id="6" name="Text 3"/>
          <p:cNvSpPr/>
          <p:nvPr/>
        </p:nvSpPr>
        <p:spPr>
          <a:xfrm>
            <a:off x="485775" y="1796095"/>
            <a:ext cx="2442381"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BUSINESS SIGNIFICANCE</a:t>
            </a:r>
            <a:endParaRPr lang="en-US" sz="634" dirty="0"/>
          </a:p>
        </p:txBody>
      </p:sp>
      <p:sp>
        <p:nvSpPr>
          <p:cNvPr id="7" name="Text 4"/>
          <p:cNvSpPr/>
          <p:nvPr/>
        </p:nvSpPr>
        <p:spPr>
          <a:xfrm>
            <a:off x="485775" y="1980047"/>
            <a:ext cx="2214563" cy="864059"/>
          </a:xfrm>
          <a:prstGeom prst="rect">
            <a:avLst/>
          </a:prstGeom>
          <a:noFill/>
          <a:ln/>
        </p:spPr>
        <p:txBody>
          <a:bodyPr wrap="square" lIns="0" tIns="0" rIns="0" bIns="0" rtlCol="0" anchor="t">
            <a:spAutoFit/>
          </a:bodyPr>
          <a:lstStyle/>
          <a:p>
            <a:pPr marL="0" indent="0" algn="l">
              <a:lnSpc>
                <a:spcPts val="1700"/>
              </a:lnSpc>
              <a:buNone/>
            </a:pPr>
            <a:r>
              <a:rPr lang="en-US" sz="1346" b="1" dirty="0">
                <a:solidFill>
                  <a:srgbClr val="123B6D"/>
                </a:solidFill>
                <a:latin typeface="Inter" pitchFamily="34" charset="0"/>
                <a:ea typeface="Inter" pitchFamily="34" charset="-122"/>
                <a:cs typeface="Inter" pitchFamily="34" charset="-120"/>
              </a:rPr>
              <a:t>Samples shape commercial conversion, not just QA</a:t>
            </a:r>
            <a:endParaRPr lang="en-US" sz="1346" dirty="0"/>
          </a:p>
        </p:txBody>
      </p:sp>
      <p:sp>
        <p:nvSpPr>
          <p:cNvPr id="8" name="Text 5"/>
          <p:cNvSpPr/>
          <p:nvPr/>
        </p:nvSpPr>
        <p:spPr>
          <a:xfrm>
            <a:off x="485775" y="2929830"/>
            <a:ext cx="2442381" cy="112631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Failed first articles often kill larger contracts quietly. Customers may not escalate the reason, but confidence drops when sample runs miss dimensional targets, surface finish, or approval timing.</a:t>
            </a:r>
            <a:endParaRPr lang="en-US" sz="942" dirty="0"/>
          </a:p>
        </p:txBody>
      </p:sp>
      <p:sp>
        <p:nvSpPr>
          <p:cNvPr id="9" name="Text 6"/>
          <p:cNvSpPr/>
          <p:nvPr/>
        </p:nvSpPr>
        <p:spPr>
          <a:xfrm>
            <a:off x="3085319" y="1796095"/>
            <a:ext cx="2814051"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AI / VISION CAPABILITIES</a:t>
            </a:r>
            <a:endParaRPr lang="en-US" sz="634" dirty="0"/>
          </a:p>
        </p:txBody>
      </p:sp>
      <p:sp>
        <p:nvSpPr>
          <p:cNvPr id="10" name="Text 7"/>
          <p:cNvSpPr/>
          <p:nvPr/>
        </p:nvSpPr>
        <p:spPr>
          <a:xfrm>
            <a:off x="3085319" y="1980047"/>
            <a:ext cx="2214563" cy="432029"/>
          </a:xfrm>
          <a:prstGeom prst="rect">
            <a:avLst/>
          </a:prstGeom>
          <a:noFill/>
          <a:ln/>
        </p:spPr>
        <p:txBody>
          <a:bodyPr wrap="square" lIns="0" tIns="0" rIns="0" bIns="0" rtlCol="0" anchor="t">
            <a:spAutoFit/>
          </a:bodyPr>
          <a:lstStyle/>
          <a:p>
            <a:pPr marL="0" indent="0" algn="l">
              <a:lnSpc>
                <a:spcPts val="1700"/>
              </a:lnSpc>
              <a:buNone/>
            </a:pPr>
            <a:r>
              <a:rPr lang="en-US" sz="1346" b="1" dirty="0">
                <a:solidFill>
                  <a:srgbClr val="123B6D"/>
                </a:solidFill>
                <a:latin typeface="Inter" pitchFamily="34" charset="0"/>
                <a:ea typeface="Inter" pitchFamily="34" charset="-122"/>
                <a:cs typeface="Inter" pitchFamily="34" charset="-120"/>
              </a:rPr>
              <a:t>What the model and camera stack must do</a:t>
            </a:r>
            <a:endParaRPr lang="en-US" sz="1346" dirty="0"/>
          </a:p>
        </p:txBody>
      </p:sp>
      <p:sp>
        <p:nvSpPr>
          <p:cNvPr id="11" name="Text 8"/>
          <p:cNvSpPr/>
          <p:nvPr/>
        </p:nvSpPr>
        <p:spPr>
          <a:xfrm>
            <a:off x="3085319" y="2497801"/>
            <a:ext cx="2814051" cy="938594"/>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123B6D"/>
                </a:solidFill>
                <a:latin typeface="Inter" pitchFamily="34" charset="0"/>
                <a:ea typeface="Inter" pitchFamily="34" charset="-122"/>
                <a:cs typeface="Inter" pitchFamily="34" charset="-120"/>
              </a:rPr>
              <a:t>Predictive yield models</a:t>
            </a:r>
            <a:r>
              <a:rPr lang="en-US" sz="942" dirty="0">
                <a:solidFill>
                  <a:srgbClr val="334155"/>
                </a:solidFill>
                <a:latin typeface="Inter" pitchFamily="34" charset="0"/>
                <a:ea typeface="Inter" pitchFamily="34" charset="-122"/>
                <a:cs typeface="Inter" pitchFamily="34" charset="-120"/>
              </a:rPr>
              <a:t> should estimate whether a part is likely to pass on first run by learning from process parameters, geometry class, materials, tolerance windows, and historical run outcomes.</a:t>
            </a:r>
            <a:endParaRPr lang="en-US" sz="885" dirty="0"/>
          </a:p>
        </p:txBody>
      </p:sp>
      <p:sp>
        <p:nvSpPr>
          <p:cNvPr id="12" name="Text 9"/>
          <p:cNvSpPr/>
          <p:nvPr/>
        </p:nvSpPr>
        <p:spPr>
          <a:xfrm>
            <a:off x="3085319" y="3493545"/>
            <a:ext cx="2814051" cy="695176"/>
          </a:xfrm>
          <a:prstGeom prst="rect">
            <a:avLst/>
          </a:prstGeom>
          <a:noFill/>
          <a:ln/>
        </p:spPr>
        <p:txBody>
          <a:bodyPr wrap="square" lIns="0" tIns="68072"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Required skills:</a:t>
            </a:r>
            <a:r>
              <a:rPr lang="en-US" sz="834" dirty="0">
                <a:solidFill>
                  <a:srgbClr val="334155"/>
                </a:solidFill>
                <a:latin typeface="Inter" pitchFamily="34" charset="0"/>
                <a:ea typeface="Inter" pitchFamily="34" charset="-122"/>
                <a:cs typeface="Inter" pitchFamily="34" charset="-120"/>
              </a:rPr>
              <a:t> process-window modeling, supervised prediction, anomaly detection, image calibration, dimensional measurement workflows, and human-reviewed reporting.</a:t>
            </a:r>
            <a:endParaRPr lang="en-US" sz="784" dirty="0"/>
          </a:p>
        </p:txBody>
      </p:sp>
      <p:sp>
        <p:nvSpPr>
          <p:cNvPr id="13" name="Text 10"/>
          <p:cNvSpPr/>
          <p:nvPr/>
        </p:nvSpPr>
        <p:spPr>
          <a:xfrm>
            <a:off x="6056533" y="1796095"/>
            <a:ext cx="2601664"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IMPLEMENTATION + MEASURE</a:t>
            </a:r>
            <a:endParaRPr lang="en-US" sz="634" dirty="0"/>
          </a:p>
        </p:txBody>
      </p:sp>
      <p:sp>
        <p:nvSpPr>
          <p:cNvPr id="14" name="Text 11"/>
          <p:cNvSpPr/>
          <p:nvPr/>
        </p:nvSpPr>
        <p:spPr>
          <a:xfrm>
            <a:off x="6056533" y="1980047"/>
            <a:ext cx="2214563" cy="648044"/>
          </a:xfrm>
          <a:prstGeom prst="rect">
            <a:avLst/>
          </a:prstGeom>
          <a:noFill/>
          <a:ln/>
        </p:spPr>
        <p:txBody>
          <a:bodyPr wrap="square" lIns="0" tIns="0" rIns="0" bIns="0" rtlCol="0" anchor="t">
            <a:spAutoFit/>
          </a:bodyPr>
          <a:lstStyle/>
          <a:p>
            <a:pPr marL="0" indent="0" algn="l">
              <a:lnSpc>
                <a:spcPts val="1700"/>
              </a:lnSpc>
              <a:buNone/>
            </a:pPr>
            <a:r>
              <a:rPr lang="en-US" sz="1346" b="1" dirty="0">
                <a:solidFill>
                  <a:srgbClr val="123B6D"/>
                </a:solidFill>
                <a:latin typeface="Inter" pitchFamily="34" charset="0"/>
                <a:ea typeface="Inter" pitchFamily="34" charset="-122"/>
                <a:cs typeface="Inter" pitchFamily="34" charset="-120"/>
              </a:rPr>
              <a:t>Start with one process family and prove the loop</a:t>
            </a:r>
            <a:endParaRPr lang="en-US" sz="1346" dirty="0"/>
          </a:p>
        </p:txBody>
      </p:sp>
      <p:sp>
        <p:nvSpPr>
          <p:cNvPr id="15" name="Text 12"/>
          <p:cNvSpPr/>
          <p:nvPr/>
        </p:nvSpPr>
        <p:spPr>
          <a:xfrm>
            <a:off x="6056533" y="2713816"/>
            <a:ext cx="2601664" cy="93859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4155"/>
                </a:solidFill>
                <a:latin typeface="Inter" pitchFamily="34" charset="0"/>
                <a:ea typeface="Inter" pitchFamily="34" charset="-122"/>
                <a:cs typeface="Inter" pitchFamily="34" charset="-120"/>
              </a:rPr>
              <a:t>Begin on a process family with enough run history and clear pass/fail criteria. Keep engineers reviewing model outputs and use vision first as measurement assistance rather than full autonomy.</a:t>
            </a:r>
            <a:endParaRPr lang="en-US" sz="942" dirty="0"/>
          </a:p>
        </p:txBody>
      </p:sp>
      <p:sp>
        <p:nvSpPr>
          <p:cNvPr id="16" name="Text 13"/>
          <p:cNvSpPr/>
          <p:nvPr/>
        </p:nvSpPr>
        <p:spPr>
          <a:xfrm>
            <a:off x="6056533" y="3709560"/>
            <a:ext cx="2601664" cy="695176"/>
          </a:xfrm>
          <a:prstGeom prst="rect">
            <a:avLst/>
          </a:prstGeom>
          <a:noFill/>
          <a:ln/>
        </p:spPr>
        <p:txBody>
          <a:bodyPr wrap="square" lIns="0" tIns="68072"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KPIs:</a:t>
            </a:r>
            <a:r>
              <a:rPr lang="en-US" sz="834" dirty="0">
                <a:solidFill>
                  <a:srgbClr val="334155"/>
                </a:solidFill>
                <a:latin typeface="Inter" pitchFamily="34" charset="0"/>
                <a:ea typeface="Inter" pitchFamily="34" charset="-122"/>
                <a:cs typeface="Inter" pitchFamily="34" charset="-120"/>
              </a:rPr>
              <a:t> first-pass sample approval, time from sample to production PO, sample scrap cost, approval-cycle length, and conversion from sample order to larger production award.</a:t>
            </a:r>
            <a:endParaRPr lang="en-US" sz="784" dirty="0"/>
          </a:p>
        </p:txBody>
      </p:sp>
      <p:sp>
        <p:nvSpPr>
          <p:cNvPr id="17" name="Text 14"/>
          <p:cNvSpPr/>
          <p:nvPr/>
        </p:nvSpPr>
        <p:spPr>
          <a:xfrm>
            <a:off x="485775" y="4504748"/>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8" name="Text 15"/>
          <p:cNvSpPr/>
          <p:nvPr/>
        </p:nvSpPr>
        <p:spPr>
          <a:xfrm>
            <a:off x="4171224" y="4504748"/>
            <a:ext cx="4487001"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5 COMPANION · PREDICTIVE YIELD, VISION, IMPLEMENTATION, AND METRICS</a:t>
            </a:r>
            <a:endParaRPr lang="en-US" sz="72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87756"/>
            <a:ext cx="1893094" cy="257175"/>
          </a:xfrm>
          <a:prstGeom prst="rect">
            <a:avLst/>
          </a:prstGeom>
          <a:noFill/>
          <a:ln/>
        </p:spPr>
        <p:txBody>
          <a:bodyPr wrap="squar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6 / 9 · MANUFACTURING</a:t>
            </a:r>
            <a:endParaRPr lang="en-US" sz="734" dirty="0"/>
          </a:p>
        </p:txBody>
      </p:sp>
      <p:sp>
        <p:nvSpPr>
          <p:cNvPr id="4" name="Text 1"/>
          <p:cNvSpPr/>
          <p:nvPr/>
        </p:nvSpPr>
        <p:spPr>
          <a:xfrm>
            <a:off x="2593181" y="457200"/>
            <a:ext cx="5572125" cy="287731"/>
          </a:xfrm>
          <a:prstGeom prst="rect">
            <a:avLst/>
          </a:prstGeom>
          <a:noFill/>
          <a:ln/>
        </p:spPr>
        <p:txBody>
          <a:bodyPr wrap="non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Put AI on the Machine Layer</a:t>
            </a:r>
            <a:endParaRPr lang="en-US" sz="1912" dirty="0"/>
          </a:p>
        </p:txBody>
      </p:sp>
      <p:sp>
        <p:nvSpPr>
          <p:cNvPr id="5" name="Text 2"/>
          <p:cNvSpPr/>
          <p:nvPr/>
        </p:nvSpPr>
        <p:spPr>
          <a:xfrm>
            <a:off x="500063" y="744931"/>
            <a:ext cx="7572375" cy="1102370"/>
          </a:xfrm>
          <a:prstGeom prst="rect">
            <a:avLst/>
          </a:prstGeom>
          <a:noFill/>
          <a:ln/>
        </p:spPr>
        <p:txBody>
          <a:bodyPr wrap="square" lIns="0" tIns="153035" rIns="0" bIns="0" rtlCol="0" anchor="t">
            <a:spAutoFit/>
          </a:bodyPr>
          <a:lstStyle/>
          <a:p>
            <a:pPr marL="0" indent="0" algn="l">
              <a:lnSpc>
                <a:spcPts val="1900"/>
              </a:lnSpc>
              <a:buNone/>
            </a:pPr>
            <a:r>
              <a:rPr lang="en-US" sz="1269" dirty="0">
                <a:solidFill>
                  <a:srgbClr val="334155"/>
                </a:solidFill>
                <a:latin typeface="Inter" pitchFamily="34" charset="0"/>
                <a:ea typeface="Inter" pitchFamily="34" charset="-122"/>
                <a:cs typeface="Inter" pitchFamily="34" charset="-120"/>
              </a:rPr>
              <a:t>Many AI roadmaps stop at office workflows and dashboards. The deeper operational prize is on the factory floor, where </a:t>
            </a:r>
            <a:r>
              <a:rPr lang="en-US" sz="1193" b="1" dirty="0">
                <a:solidFill>
                  <a:srgbClr val="123B6D"/>
                </a:solidFill>
                <a:latin typeface="Inter" pitchFamily="34" charset="0"/>
                <a:ea typeface="Inter" pitchFamily="34" charset="-122"/>
                <a:cs typeface="Inter" pitchFamily="34" charset="-120"/>
              </a:rPr>
              <a:t>machine telemetry, predictive models, and better scheduling create recurring cents-per-part savings</a:t>
            </a:r>
            <a:r>
              <a:rPr lang="en-US" sz="1269" dirty="0">
                <a:solidFill>
                  <a:srgbClr val="334155"/>
                </a:solidFill>
                <a:latin typeface="Inter" pitchFamily="34" charset="0"/>
                <a:ea typeface="Inter" pitchFamily="34" charset="-122"/>
                <a:cs typeface="Inter" pitchFamily="34" charset="-120"/>
              </a:rPr>
              <a:t> through higher uptime, tighter process control, and more output per machine hour.</a:t>
            </a:r>
            <a:endParaRPr lang="en-US" sz="1269" dirty="0"/>
          </a:p>
        </p:txBody>
      </p:sp>
      <p:sp>
        <p:nvSpPr>
          <p:cNvPr id="6" name="Text 3"/>
          <p:cNvSpPr/>
          <p:nvPr/>
        </p:nvSpPr>
        <p:spPr>
          <a:xfrm>
            <a:off x="500063" y="2183057"/>
            <a:ext cx="26003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UPTIME</a:t>
            </a:r>
            <a:endParaRPr lang="en-US" sz="683" dirty="0"/>
          </a:p>
        </p:txBody>
      </p:sp>
      <p:sp>
        <p:nvSpPr>
          <p:cNvPr id="7" name="Text 4"/>
          <p:cNvSpPr/>
          <p:nvPr/>
        </p:nvSpPr>
        <p:spPr>
          <a:xfrm>
            <a:off x="500063" y="2404514"/>
            <a:ext cx="2143125" cy="448047"/>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Predict failure before it stops production</a:t>
            </a:r>
            <a:endParaRPr lang="en-US" sz="1397" dirty="0"/>
          </a:p>
        </p:txBody>
      </p:sp>
      <p:sp>
        <p:nvSpPr>
          <p:cNvPr id="8" name="Text 5"/>
          <p:cNvSpPr/>
          <p:nvPr/>
        </p:nvSpPr>
        <p:spPr>
          <a:xfrm>
            <a:off x="500063" y="2952573"/>
            <a:ext cx="2393156" cy="1188932"/>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Machine data should not only explain downtime after the fact. It should identify drift, tool wear, and failure risk early enough to prevent lost hours, emergency maintenance, and missed delivery commitments.</a:t>
            </a:r>
            <a:endParaRPr lang="en-US" sz="996" dirty="0"/>
          </a:p>
        </p:txBody>
      </p:sp>
      <p:sp>
        <p:nvSpPr>
          <p:cNvPr id="9" name="Text 6"/>
          <p:cNvSpPr/>
          <p:nvPr/>
        </p:nvSpPr>
        <p:spPr>
          <a:xfrm>
            <a:off x="3271838" y="2183057"/>
            <a:ext cx="26003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PROCESS CONTROL</a:t>
            </a:r>
            <a:endParaRPr lang="en-US" sz="683" dirty="0"/>
          </a:p>
        </p:txBody>
      </p:sp>
      <p:sp>
        <p:nvSpPr>
          <p:cNvPr id="10" name="Text 7"/>
          <p:cNvSpPr/>
          <p:nvPr/>
        </p:nvSpPr>
        <p:spPr>
          <a:xfrm>
            <a:off x="3271838" y="2404514"/>
            <a:ext cx="2143125" cy="448047"/>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Stability beats flashy autonomy at the start</a:t>
            </a:r>
            <a:endParaRPr lang="en-US" sz="1397" dirty="0"/>
          </a:p>
        </p:txBody>
      </p:sp>
      <p:sp>
        <p:nvSpPr>
          <p:cNvPr id="11" name="Text 8"/>
          <p:cNvSpPr/>
          <p:nvPr/>
        </p:nvSpPr>
        <p:spPr>
          <a:xfrm>
            <a:off x="3271838" y="2952573"/>
            <a:ext cx="2393156" cy="1188932"/>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Do not begin with reinforcement learning. Begin with sensor quality, SPC, anomaly detection, and recommendation-driven parameter tuning. That is how control systems earn trust on the floor.</a:t>
            </a:r>
            <a:endParaRPr lang="en-US" sz="996" dirty="0"/>
          </a:p>
        </p:txBody>
      </p:sp>
      <p:sp>
        <p:nvSpPr>
          <p:cNvPr id="12" name="Text 9"/>
          <p:cNvSpPr/>
          <p:nvPr/>
        </p:nvSpPr>
        <p:spPr>
          <a:xfrm>
            <a:off x="6043613" y="2183057"/>
            <a:ext cx="26003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SCHEDULING</a:t>
            </a:r>
            <a:endParaRPr lang="en-US" sz="683" dirty="0"/>
          </a:p>
        </p:txBody>
      </p:sp>
      <p:sp>
        <p:nvSpPr>
          <p:cNvPr id="13" name="Text 10"/>
          <p:cNvSpPr/>
          <p:nvPr/>
        </p:nvSpPr>
        <p:spPr>
          <a:xfrm>
            <a:off x="6043613" y="2404514"/>
            <a:ext cx="2143125"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Machine intelligence includes orchestration</a:t>
            </a:r>
            <a:endParaRPr lang="en-US" sz="1397" dirty="0"/>
          </a:p>
        </p:txBody>
      </p:sp>
      <p:sp>
        <p:nvSpPr>
          <p:cNvPr id="14" name="Text 11"/>
          <p:cNvSpPr/>
          <p:nvPr/>
        </p:nvSpPr>
        <p:spPr>
          <a:xfrm>
            <a:off x="6043613" y="3176597"/>
            <a:ext cx="2393156" cy="1188932"/>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Factory performance depends on what runs, where, and when. Better scheduling can reduce bottlenecks, smooth utilization, and improve throughput without adding equipment.</a:t>
            </a:r>
            <a:endParaRPr lang="en-US" sz="996" dirty="0"/>
          </a:p>
        </p:txBody>
      </p:sp>
      <p:sp>
        <p:nvSpPr>
          <p:cNvPr id="15" name="Text 12"/>
          <p:cNvSpPr/>
          <p:nvPr/>
        </p:nvSpPr>
        <p:spPr>
          <a:xfrm>
            <a:off x="500063" y="4976264"/>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6" name="Text 13"/>
          <p:cNvSpPr/>
          <p:nvPr/>
        </p:nvSpPr>
        <p:spPr>
          <a:xfrm>
            <a:off x="5736431" y="4976264"/>
            <a:ext cx="2907506"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FACTORY-FLOOR AI AS RECURRING MARGIN CREATION</a:t>
            </a:r>
            <a:endParaRPr lang="en-US" sz="72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57200" y="442913"/>
            <a:ext cx="2143125"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6 COMPANION · OPERATIONAL AI STACK</a:t>
            </a:r>
            <a:endParaRPr lang="en-US" sz="734" dirty="0"/>
          </a:p>
        </p:txBody>
      </p:sp>
      <p:sp>
        <p:nvSpPr>
          <p:cNvPr id="4" name="Text 1"/>
          <p:cNvSpPr/>
          <p:nvPr/>
        </p:nvSpPr>
        <p:spPr>
          <a:xfrm>
            <a:off x="2786063" y="442913"/>
            <a:ext cx="5900738"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Machine Intelligence Compounds Margin</a:t>
            </a:r>
            <a:endParaRPr lang="en-US" sz="1808" dirty="0"/>
          </a:p>
        </p:txBody>
      </p:sp>
      <p:sp>
        <p:nvSpPr>
          <p:cNvPr id="5" name="Text 2"/>
          <p:cNvSpPr/>
          <p:nvPr/>
        </p:nvSpPr>
        <p:spPr>
          <a:xfrm>
            <a:off x="2786063" y="772641"/>
            <a:ext cx="5900738" cy="608614"/>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The strategic value of factory-floor AI is not novelty. It is recurring economic improvement through better uptime, tighter process stability, and smarter scheduling across constrained assets.</a:t>
            </a:r>
            <a:endParaRPr lang="en-US" sz="1050" dirty="0"/>
          </a:p>
        </p:txBody>
      </p:sp>
      <p:sp>
        <p:nvSpPr>
          <p:cNvPr id="6" name="Text 3"/>
          <p:cNvSpPr/>
          <p:nvPr/>
        </p:nvSpPr>
        <p:spPr>
          <a:xfrm>
            <a:off x="457200" y="1595568"/>
            <a:ext cx="2026816"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BUSINESS LOGIC</a:t>
            </a:r>
            <a:endParaRPr lang="en-US" sz="634" dirty="0"/>
          </a:p>
        </p:txBody>
      </p:sp>
      <p:sp>
        <p:nvSpPr>
          <p:cNvPr id="7" name="Text 4"/>
          <p:cNvSpPr/>
          <p:nvPr/>
        </p:nvSpPr>
        <p:spPr>
          <a:xfrm>
            <a:off x="457200" y="1765232"/>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Margin gains happen on the machine, not in the slideware</a:t>
            </a:r>
            <a:endParaRPr lang="en-US" sz="1193" dirty="0"/>
          </a:p>
        </p:txBody>
      </p:sp>
      <p:sp>
        <p:nvSpPr>
          <p:cNvPr id="8" name="Text 5"/>
          <p:cNvSpPr/>
          <p:nvPr/>
        </p:nvSpPr>
        <p:spPr>
          <a:xfrm>
            <a:off x="457200" y="2408727"/>
            <a:ext cx="2026816" cy="137941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Software-only AI programs often stop before they touch the real economics of manufacturing. The deeper opportunity is to reduce downtime, scrap, and cycle variability where each small improvement repeats across every production run.</a:t>
            </a:r>
            <a:endParaRPr lang="en-US" sz="888" dirty="0"/>
          </a:p>
        </p:txBody>
      </p:sp>
      <p:sp>
        <p:nvSpPr>
          <p:cNvPr id="9" name="Text 6"/>
          <p:cNvSpPr/>
          <p:nvPr/>
        </p:nvSpPr>
        <p:spPr>
          <a:xfrm>
            <a:off x="457200" y="3845291"/>
            <a:ext cx="2026816" cy="68970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That is why machine intelligence matters: it turns operational learning into recurring cents-per-part savings.</a:t>
            </a:r>
            <a:endParaRPr lang="en-US" sz="888" dirty="0"/>
          </a:p>
        </p:txBody>
      </p:sp>
      <p:sp>
        <p:nvSpPr>
          <p:cNvPr id="10" name="Text 7"/>
          <p:cNvSpPr/>
          <p:nvPr/>
        </p:nvSpPr>
        <p:spPr>
          <a:xfrm>
            <a:off x="2612603" y="1595568"/>
            <a:ext cx="2128168"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REQUIRED AI / ML STACK</a:t>
            </a:r>
            <a:endParaRPr lang="en-US" sz="634" dirty="0"/>
          </a:p>
        </p:txBody>
      </p:sp>
      <p:sp>
        <p:nvSpPr>
          <p:cNvPr id="11" name="Text 8"/>
          <p:cNvSpPr/>
          <p:nvPr/>
        </p:nvSpPr>
        <p:spPr>
          <a:xfrm>
            <a:off x="2612603" y="1765232"/>
            <a:ext cx="1785938" cy="390897"/>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What capabilities are needed on the floor</a:t>
            </a:r>
            <a:endParaRPr lang="en-US" sz="1193" dirty="0"/>
          </a:p>
        </p:txBody>
      </p:sp>
      <p:sp>
        <p:nvSpPr>
          <p:cNvPr id="12" name="Text 9"/>
          <p:cNvSpPr/>
          <p:nvPr/>
        </p:nvSpPr>
        <p:spPr>
          <a:xfrm>
            <a:off x="2612603" y="2213279"/>
            <a:ext cx="2128168" cy="120698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Core capabilities:</a:t>
            </a:r>
            <a:r>
              <a:rPr lang="en-US" sz="888" dirty="0">
                <a:solidFill>
                  <a:srgbClr val="334155"/>
                </a:solidFill>
                <a:latin typeface="Inter" pitchFamily="34" charset="0"/>
                <a:ea typeface="Inter" pitchFamily="34" charset="-122"/>
                <a:cs typeface="Inter" pitchFamily="34" charset="-120"/>
              </a:rPr>
              <a:t> sensor and telemetry integration, time-series anomaly detection, predictive maintenance models, process-drift detection, and scheduling optimization across machines or cells.</a:t>
            </a:r>
            <a:endParaRPr lang="en-US" sz="834" dirty="0"/>
          </a:p>
        </p:txBody>
      </p:sp>
      <p:sp>
        <p:nvSpPr>
          <p:cNvPr id="13" name="Text 10"/>
          <p:cNvSpPr/>
          <p:nvPr/>
        </p:nvSpPr>
        <p:spPr>
          <a:xfrm>
            <a:off x="2612603" y="3477416"/>
            <a:ext cx="2128168" cy="1034560"/>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Advanced layer:</a:t>
            </a:r>
            <a:r>
              <a:rPr lang="en-US" sz="888" dirty="0">
                <a:solidFill>
                  <a:srgbClr val="334155"/>
                </a:solidFill>
                <a:latin typeface="Inter" pitchFamily="34" charset="0"/>
                <a:ea typeface="Inter" pitchFamily="34" charset="-122"/>
                <a:cs typeface="Inter" pitchFamily="34" charset="-120"/>
              </a:rPr>
              <a:t> recommendation-driven parameter tuning first, then bounded adaptive control only where telemetry is reliable, rollback is safe, and process physics are stable.</a:t>
            </a:r>
            <a:endParaRPr lang="en-US" sz="834" dirty="0"/>
          </a:p>
        </p:txBody>
      </p:sp>
      <p:sp>
        <p:nvSpPr>
          <p:cNvPr id="14" name="Text 11"/>
          <p:cNvSpPr/>
          <p:nvPr/>
        </p:nvSpPr>
        <p:spPr>
          <a:xfrm>
            <a:off x="4869359" y="1595568"/>
            <a:ext cx="2026844"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ROLLOUT APPROACH</a:t>
            </a:r>
            <a:endParaRPr lang="en-US" sz="634" dirty="0"/>
          </a:p>
        </p:txBody>
      </p:sp>
      <p:sp>
        <p:nvSpPr>
          <p:cNvPr id="15" name="Text 12"/>
          <p:cNvSpPr/>
          <p:nvPr/>
        </p:nvSpPr>
        <p:spPr>
          <a:xfrm>
            <a:off x="4869359" y="1765232"/>
            <a:ext cx="1785938" cy="586346"/>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Phase implementation to earn trust</a:t>
            </a:r>
            <a:endParaRPr lang="en-US" sz="1193" dirty="0"/>
          </a:p>
        </p:txBody>
      </p:sp>
      <p:sp>
        <p:nvSpPr>
          <p:cNvPr id="16" name="Text 13"/>
          <p:cNvSpPr/>
          <p:nvPr/>
        </p:nvSpPr>
        <p:spPr>
          <a:xfrm>
            <a:off x="4869359" y="2263062"/>
            <a:ext cx="2026844" cy="137941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Start by instrumenting clean machine data and building SPC visibility. Then deploy predictive alerts for wear, drift, and failure risk. Only after the signal quality is trusted should the system recommend parameter changes or tighter scheduling moves.</a:t>
            </a:r>
            <a:endParaRPr lang="en-US" sz="888" dirty="0"/>
          </a:p>
        </p:txBody>
      </p:sp>
      <p:sp>
        <p:nvSpPr>
          <p:cNvPr id="17" name="Text 14"/>
          <p:cNvSpPr/>
          <p:nvPr/>
        </p:nvSpPr>
        <p:spPr>
          <a:xfrm>
            <a:off x="4869359" y="3845291"/>
            <a:ext cx="2026844" cy="34485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Autonomy should be a late-stage option, not the starting pitch.</a:t>
            </a:r>
            <a:endParaRPr lang="en-US" sz="888" dirty="0"/>
          </a:p>
        </p:txBody>
      </p:sp>
      <p:sp>
        <p:nvSpPr>
          <p:cNvPr id="18" name="Text 15"/>
          <p:cNvSpPr/>
          <p:nvPr/>
        </p:nvSpPr>
        <p:spPr>
          <a:xfrm>
            <a:off x="7024790" y="1595568"/>
            <a:ext cx="1662010"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KPIS</a:t>
            </a:r>
            <a:endParaRPr lang="en-US" sz="634" dirty="0"/>
          </a:p>
        </p:txBody>
      </p:sp>
      <p:sp>
        <p:nvSpPr>
          <p:cNvPr id="19" name="Text 16"/>
          <p:cNvSpPr/>
          <p:nvPr/>
        </p:nvSpPr>
        <p:spPr>
          <a:xfrm>
            <a:off x="7024790" y="1765232"/>
            <a:ext cx="1662010" cy="390897"/>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Measure recurring operational value</a:t>
            </a:r>
            <a:endParaRPr lang="en-US" sz="1193" dirty="0"/>
          </a:p>
        </p:txBody>
      </p:sp>
      <p:sp>
        <p:nvSpPr>
          <p:cNvPr id="20" name="Text 17"/>
          <p:cNvSpPr/>
          <p:nvPr/>
        </p:nvSpPr>
        <p:spPr>
          <a:xfrm>
            <a:off x="7024790" y="2213279"/>
            <a:ext cx="1662010"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OEE</a:t>
            </a:r>
            <a:r>
              <a:rPr lang="en-US" sz="834" dirty="0">
                <a:solidFill>
                  <a:srgbClr val="334155"/>
                </a:solidFill>
                <a:latin typeface="Inter" pitchFamily="34" charset="0"/>
                <a:ea typeface="Inter" pitchFamily="34" charset="-122"/>
                <a:cs typeface="Inter" pitchFamily="34" charset="-120"/>
              </a:rPr>
              <a:t>
Whether machine availability and performance improve together.</a:t>
            </a:r>
            <a:endParaRPr lang="en-US" sz="784" dirty="0"/>
          </a:p>
        </p:txBody>
      </p:sp>
      <p:sp>
        <p:nvSpPr>
          <p:cNvPr id="21" name="Text 18"/>
          <p:cNvSpPr/>
          <p:nvPr/>
        </p:nvSpPr>
        <p:spPr>
          <a:xfrm>
            <a:off x="7024790" y="2918724"/>
            <a:ext cx="1662010"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Scrap rate</a:t>
            </a:r>
            <a:r>
              <a:rPr lang="en-US" sz="834" dirty="0">
                <a:solidFill>
                  <a:srgbClr val="334155"/>
                </a:solidFill>
                <a:latin typeface="Inter" pitchFamily="34" charset="0"/>
                <a:ea typeface="Inter" pitchFamily="34" charset="-122"/>
                <a:cs typeface="Inter" pitchFamily="34" charset="-120"/>
              </a:rPr>
              <a:t>
Whether process stability reduces wasted material and rework.</a:t>
            </a:r>
            <a:endParaRPr lang="en-US" sz="784" dirty="0"/>
          </a:p>
        </p:txBody>
      </p:sp>
      <p:sp>
        <p:nvSpPr>
          <p:cNvPr id="22" name="Text 19"/>
          <p:cNvSpPr/>
          <p:nvPr/>
        </p:nvSpPr>
        <p:spPr>
          <a:xfrm>
            <a:off x="7024790" y="3624169"/>
            <a:ext cx="1662010"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Downtime</a:t>
            </a:r>
            <a:r>
              <a:rPr lang="en-US" sz="834" dirty="0">
                <a:solidFill>
                  <a:srgbClr val="334155"/>
                </a:solidFill>
                <a:latin typeface="Inter" pitchFamily="34" charset="0"/>
                <a:ea typeface="Inter" pitchFamily="34" charset="-122"/>
                <a:cs typeface="Inter" pitchFamily="34" charset="-120"/>
              </a:rPr>
              <a:t>
Whether alerts prevent costly interruptions.</a:t>
            </a:r>
            <a:endParaRPr lang="en-US" sz="784" dirty="0"/>
          </a:p>
        </p:txBody>
      </p:sp>
      <p:sp>
        <p:nvSpPr>
          <p:cNvPr id="23" name="Text 20"/>
          <p:cNvSpPr/>
          <p:nvPr/>
        </p:nvSpPr>
        <p:spPr>
          <a:xfrm>
            <a:off x="7024790" y="4176471"/>
            <a:ext cx="1662010"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Throughput</a:t>
            </a:r>
            <a:r>
              <a:rPr lang="en-US" sz="834" dirty="0">
                <a:solidFill>
                  <a:srgbClr val="334155"/>
                </a:solidFill>
                <a:latin typeface="Inter" pitchFamily="34" charset="0"/>
                <a:ea typeface="Inter" pitchFamily="34" charset="-122"/>
                <a:cs typeface="Inter" pitchFamily="34" charset="-120"/>
              </a:rPr>
              <a:t>
Whether output per machine-hour increases sustainably.</a:t>
            </a:r>
            <a:endParaRPr lang="en-US" sz="784" dirty="0"/>
          </a:p>
        </p:txBody>
      </p:sp>
      <p:sp>
        <p:nvSpPr>
          <p:cNvPr id="24" name="Text 21"/>
          <p:cNvSpPr/>
          <p:nvPr/>
        </p:nvSpPr>
        <p:spPr>
          <a:xfrm>
            <a:off x="457200" y="4810255"/>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5" name="Text 22"/>
          <p:cNvSpPr/>
          <p:nvPr/>
        </p:nvSpPr>
        <p:spPr>
          <a:xfrm>
            <a:off x="5268516" y="4810255"/>
            <a:ext cx="34182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6 COMPANION · MACHINE AI STACK, ROLLOUT, AND KPIS</a:t>
            </a:r>
            <a:endParaRPr lang="en-US" sz="72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400050"/>
            <a:ext cx="2428875"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7 / 9 · MANUFACTURING</a:t>
            </a:r>
            <a:endParaRPr lang="en-US" sz="734" dirty="0"/>
          </a:p>
        </p:txBody>
      </p:sp>
      <p:sp>
        <p:nvSpPr>
          <p:cNvPr id="4" name="Text 1"/>
          <p:cNvSpPr/>
          <p:nvPr/>
        </p:nvSpPr>
        <p:spPr>
          <a:xfrm>
            <a:off x="500063" y="614363"/>
            <a:ext cx="2286000" cy="1140098"/>
          </a:xfrm>
          <a:prstGeom prst="rect">
            <a:avLst/>
          </a:prstGeom>
          <a:noFill/>
          <a:ln/>
        </p:spPr>
        <p:txBody>
          <a:bodyPr wrap="square" lIns="0" tIns="0" rIns="0" bIns="0" rtlCol="0" anchor="t">
            <a:spAutoFit/>
          </a:bodyPr>
          <a:lstStyle/>
          <a:p>
            <a:pPr marL="0" indent="0" algn="l">
              <a:lnSpc>
                <a:spcPts val="2200"/>
              </a:lnSpc>
              <a:buNone/>
            </a:pPr>
            <a:r>
              <a:rPr lang="en-US" sz="1912" b="1" dirty="0">
                <a:solidFill>
                  <a:srgbClr val="123B6D"/>
                </a:solidFill>
                <a:latin typeface="Inter" pitchFamily="34" charset="0"/>
                <a:ea typeface="Inter" pitchFamily="34" charset="-122"/>
                <a:cs typeface="Inter" pitchFamily="34" charset="-120"/>
              </a:rPr>
              <a:t>Vision QA Creates Both Savings and Trust</a:t>
            </a:r>
            <a:endParaRPr lang="en-US" sz="1912" dirty="0"/>
          </a:p>
        </p:txBody>
      </p:sp>
      <p:sp>
        <p:nvSpPr>
          <p:cNvPr id="5" name="Text 2"/>
          <p:cNvSpPr/>
          <p:nvPr/>
        </p:nvSpPr>
        <p:spPr>
          <a:xfrm>
            <a:off x="500063" y="1811610"/>
            <a:ext cx="2214563" cy="834368"/>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Quality control is a clear early AI wedge: it reduces defects and preserves human oversight to keep trust intact.</a:t>
            </a:r>
            <a:endParaRPr lang="en-US" sz="1050" dirty="0"/>
          </a:p>
        </p:txBody>
      </p:sp>
      <p:sp>
        <p:nvSpPr>
          <p:cNvPr id="6" name="Text 3"/>
          <p:cNvSpPr/>
          <p:nvPr/>
        </p:nvSpPr>
        <p:spPr>
          <a:xfrm>
            <a:off x="3171825" y="242888"/>
            <a:ext cx="5472113" cy="1110965"/>
          </a:xfrm>
          <a:prstGeom prst="rect">
            <a:avLst/>
          </a:prstGeom>
          <a:noFill/>
          <a:ln/>
        </p:spPr>
        <p:txBody>
          <a:bodyPr wrap="square" lIns="0" tIns="0" rIns="0" bIns="0" rtlCol="0" anchor="t">
            <a:spAutoFit/>
          </a:bodyPr>
          <a:lstStyle/>
          <a:p>
            <a:pPr marL="0" indent="0" algn="l">
              <a:lnSpc>
                <a:spcPts val="2200"/>
              </a:lnSpc>
              <a:buNone/>
            </a:pPr>
            <a:r>
              <a:rPr lang="en-US" sz="1808" b="1" dirty="0">
                <a:solidFill>
                  <a:srgbClr val="123B6D"/>
                </a:solidFill>
                <a:latin typeface="Inter" pitchFamily="34" charset="0"/>
                <a:ea typeface="Inter" pitchFamily="34" charset="-122"/>
                <a:cs typeface="Inter" pitchFamily="34" charset="-120"/>
              </a:rPr>
              <a:t>Inspection AI should lower cost, increase consistency, and create a traceable quality record that customers and auditors can trust.</a:t>
            </a:r>
            <a:endParaRPr lang="en-US" sz="1808" dirty="0"/>
          </a:p>
        </p:txBody>
      </p:sp>
      <p:sp>
        <p:nvSpPr>
          <p:cNvPr id="7" name="Text 4"/>
          <p:cNvSpPr/>
          <p:nvPr/>
        </p:nvSpPr>
        <p:spPr>
          <a:xfrm>
            <a:off x="3171825" y="1468152"/>
            <a:ext cx="10001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TODAY</a:t>
            </a:r>
            <a:endParaRPr lang="en-US" sz="683" dirty="0"/>
          </a:p>
        </p:txBody>
      </p:sp>
      <p:sp>
        <p:nvSpPr>
          <p:cNvPr id="8" name="Text 5"/>
          <p:cNvSpPr/>
          <p:nvPr/>
        </p:nvSpPr>
        <p:spPr>
          <a:xfrm>
            <a:off x="3636169" y="1468152"/>
            <a:ext cx="2214563" cy="1072922"/>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Quality is confirmed by human inspection and process checks, which protects standards but creates shift-to-shift variability and slower defect feedback.</a:t>
            </a:r>
            <a:endParaRPr lang="en-US" sz="1104" dirty="0"/>
          </a:p>
        </p:txBody>
      </p:sp>
      <p:sp>
        <p:nvSpPr>
          <p:cNvPr id="9" name="Text 6"/>
          <p:cNvSpPr/>
          <p:nvPr/>
        </p:nvSpPr>
        <p:spPr>
          <a:xfrm>
            <a:off x="5965031" y="1468152"/>
            <a:ext cx="1000125" cy="242888"/>
          </a:xfrm>
          <a:prstGeom prst="rect">
            <a:avLst/>
          </a:prstGeom>
          <a:noFill/>
          <a:ln/>
        </p:spPr>
        <p:txBody>
          <a:bodyPr wrap="squar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STRATEGIC LENS</a:t>
            </a:r>
            <a:endParaRPr lang="en-US" sz="683" dirty="0"/>
          </a:p>
        </p:txBody>
      </p:sp>
      <p:sp>
        <p:nvSpPr>
          <p:cNvPr id="10" name="Text 7"/>
          <p:cNvSpPr/>
          <p:nvPr/>
        </p:nvSpPr>
        <p:spPr>
          <a:xfrm>
            <a:off x="6700839" y="1468152"/>
            <a:ext cx="1943100" cy="1072922"/>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Vision systems improve </a:t>
            </a:r>
            <a:r>
              <a:rPr lang="en-US" sz="1038" b="1" dirty="0">
                <a:solidFill>
                  <a:srgbClr val="123B6D"/>
                </a:solidFill>
                <a:latin typeface="Inter" pitchFamily="34" charset="0"/>
                <a:ea typeface="Inter" pitchFamily="34" charset="-122"/>
                <a:cs typeface="Inter" pitchFamily="34" charset="-120"/>
              </a:rPr>
              <a:t>throughput, scrap detection, and repeatability</a:t>
            </a:r>
            <a:r>
              <a:rPr lang="en-US" sz="1104" dirty="0">
                <a:solidFill>
                  <a:srgbClr val="334155"/>
                </a:solidFill>
                <a:latin typeface="Inter" pitchFamily="34" charset="0"/>
                <a:ea typeface="Inter" pitchFamily="34" charset="-122"/>
                <a:cs typeface="Inter" pitchFamily="34" charset="-120"/>
              </a:rPr>
              <a:t> while producing digital records that simplify audits and ROI justification.</a:t>
            </a:r>
            <a:endParaRPr lang="en-US" sz="1104" dirty="0"/>
          </a:p>
        </p:txBody>
      </p:sp>
      <p:sp>
        <p:nvSpPr>
          <p:cNvPr id="11" name="Text 8"/>
          <p:cNvSpPr/>
          <p:nvPr/>
        </p:nvSpPr>
        <p:spPr>
          <a:xfrm>
            <a:off x="3171825" y="3286460"/>
            <a:ext cx="10001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TOP POINT</a:t>
            </a:r>
            <a:endParaRPr lang="en-US" sz="683" dirty="0"/>
          </a:p>
        </p:txBody>
      </p:sp>
      <p:sp>
        <p:nvSpPr>
          <p:cNvPr id="12" name="Text 9"/>
          <p:cNvSpPr/>
          <p:nvPr/>
        </p:nvSpPr>
        <p:spPr>
          <a:xfrm>
            <a:off x="3636169" y="3286460"/>
            <a:ext cx="5007769" cy="418897"/>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Deploy where scrap or manual load is highest. Use vision as assistive triage with human confirmation, and use defect history to refine models and audit trails.</a:t>
            </a:r>
            <a:endParaRPr lang="en-US" sz="1104" dirty="0"/>
          </a:p>
        </p:txBody>
      </p:sp>
      <p:sp>
        <p:nvSpPr>
          <p:cNvPr id="13" name="Text 10"/>
          <p:cNvSpPr/>
          <p:nvPr/>
        </p:nvSpPr>
        <p:spPr>
          <a:xfrm>
            <a:off x="500063" y="4502321"/>
            <a:ext cx="1064084" cy="641179"/>
          </a:xfrm>
          <a:prstGeom prst="rect">
            <a:avLst/>
          </a:prstGeom>
          <a:noFill/>
          <a:ln/>
        </p:spPr>
        <p:txBody>
          <a:bodyPr wrap="squar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4" name="Text 11"/>
          <p:cNvSpPr/>
          <p:nvPr/>
        </p:nvSpPr>
        <p:spPr>
          <a:xfrm>
            <a:off x="5652827" y="4502321"/>
            <a:ext cx="2991110" cy="641179"/>
          </a:xfrm>
          <a:prstGeom prst="rect">
            <a:avLst/>
          </a:prstGeom>
          <a:noFill/>
          <a:ln/>
        </p:spPr>
        <p:txBody>
          <a:bodyPr wrap="squar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ROI AND COMPLIANCE FRAMING</a:t>
            </a:r>
            <a:endParaRPr lang="en-US" sz="72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rot="10800000">
            <a:off x="485775" y="428625"/>
            <a:ext cx="225028" cy="1285875"/>
          </a:xfrm>
          <a:prstGeom prst="rect">
            <a:avLst/>
          </a:prstGeom>
          <a:noFill/>
          <a:ln/>
        </p:spPr>
        <p:txBody>
          <a:bodyPr wrap="square" lIns="0" tIns="0" rIns="0" bIns="0" rtlCol="0" anchor="t">
            <a:spAutoFit/>
          </a:bodyPr>
          <a:lstStyle/>
          <a:p>
            <a:pPr marL="0" indent="0" algn="l">
              <a:lnSpc>
                <a:spcPts val="900"/>
              </a:lnSpc>
              <a:buNone/>
            </a:pPr>
            <a:r>
              <a:rPr lang="en-US" sz="634" b="1" kern="0" spc="2" dirty="0">
                <a:solidFill>
                  <a:srgbClr val="1D4ED8"/>
                </a:solidFill>
                <a:latin typeface="Inter" pitchFamily="34" charset="0"/>
                <a:ea typeface="Inter" pitchFamily="34" charset="-122"/>
                <a:cs typeface="Inter" pitchFamily="34" charset="-120"/>
              </a:rPr>
              <a:t>STAGE 7 / 9 · MANUFACTURING</a:t>
            </a:r>
            <a:endParaRPr lang="en-US" sz="634" dirty="0"/>
          </a:p>
        </p:txBody>
      </p:sp>
      <p:sp>
        <p:nvSpPr>
          <p:cNvPr id="4" name="Text 1"/>
          <p:cNvSpPr/>
          <p:nvPr/>
        </p:nvSpPr>
        <p:spPr>
          <a:xfrm>
            <a:off x="1071563" y="442913"/>
            <a:ext cx="2143125"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7 COMPANION · VISION QA OPERATING STACK</a:t>
            </a:r>
            <a:endParaRPr lang="en-US" sz="734" dirty="0"/>
          </a:p>
        </p:txBody>
      </p:sp>
      <p:sp>
        <p:nvSpPr>
          <p:cNvPr id="5" name="Text 2"/>
          <p:cNvSpPr/>
          <p:nvPr/>
        </p:nvSpPr>
        <p:spPr>
          <a:xfrm>
            <a:off x="3386138" y="442913"/>
            <a:ext cx="5272088"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Cameras need more than a model</a:t>
            </a:r>
            <a:endParaRPr lang="en-US" sz="1808" dirty="0"/>
          </a:p>
        </p:txBody>
      </p:sp>
      <p:sp>
        <p:nvSpPr>
          <p:cNvPr id="6" name="Text 3"/>
          <p:cNvSpPr/>
          <p:nvPr/>
        </p:nvSpPr>
        <p:spPr>
          <a:xfrm>
            <a:off x="3386138" y="772641"/>
            <a:ext cx="5272088" cy="600075"/>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AI-assisted QA works when capture is engineered alongside the model: controlled cameras, human review, traceability, and monitoring combine to form a reliable system.</a:t>
            </a:r>
            <a:endParaRPr lang="en-US" sz="1050" dirty="0"/>
          </a:p>
        </p:txBody>
      </p:sp>
      <p:sp>
        <p:nvSpPr>
          <p:cNvPr id="7" name="Text 4"/>
          <p:cNvSpPr/>
          <p:nvPr/>
        </p:nvSpPr>
        <p:spPr>
          <a:xfrm>
            <a:off x="1071563" y="1515591"/>
            <a:ext cx="2490518"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CAMERA STACK</a:t>
            </a:r>
            <a:endParaRPr lang="en-US" sz="634" dirty="0"/>
          </a:p>
        </p:txBody>
      </p:sp>
      <p:sp>
        <p:nvSpPr>
          <p:cNvPr id="8" name="Text 5"/>
          <p:cNvSpPr/>
          <p:nvPr/>
        </p:nvSpPr>
        <p:spPr>
          <a:xfrm>
            <a:off x="1071563" y="1670968"/>
            <a:ext cx="2071688" cy="624018"/>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Inspection quality starts at the station, not in the algorithm</a:t>
            </a:r>
            <a:endParaRPr lang="en-US" sz="1295" dirty="0"/>
          </a:p>
        </p:txBody>
      </p:sp>
      <p:sp>
        <p:nvSpPr>
          <p:cNvPr id="9" name="Text 6"/>
          <p:cNvSpPr/>
          <p:nvPr/>
        </p:nvSpPr>
        <p:spPr>
          <a:xfrm>
            <a:off x="1071563" y="2352135"/>
            <a:ext cx="2490518" cy="86213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Industrial cameras, fixed optics, controlled lighting, calibration routines, and repeatable part positioning</a:t>
            </a:r>
            <a:r>
              <a:rPr lang="en-US" sz="888" dirty="0">
                <a:solidFill>
                  <a:srgbClr val="334155"/>
                </a:solidFill>
                <a:latin typeface="Inter" pitchFamily="34" charset="0"/>
                <a:ea typeface="Inter" pitchFamily="34" charset="-122"/>
                <a:cs typeface="Inter" pitchFamily="34" charset="-120"/>
              </a:rPr>
              <a:t> keep the image stream stable so inspections remain reliable.</a:t>
            </a:r>
            <a:endParaRPr lang="en-US" sz="834" dirty="0"/>
          </a:p>
        </p:txBody>
      </p:sp>
      <p:sp>
        <p:nvSpPr>
          <p:cNvPr id="10" name="Text 7"/>
          <p:cNvSpPr/>
          <p:nvPr/>
        </p:nvSpPr>
        <p:spPr>
          <a:xfrm>
            <a:off x="1071563" y="3257131"/>
            <a:ext cx="2490518" cy="51728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For some workflows, guided multi-angle capture reveals defects a single view misses.</a:t>
            </a:r>
            <a:endParaRPr lang="en-US" sz="888" dirty="0"/>
          </a:p>
        </p:txBody>
      </p:sp>
      <p:sp>
        <p:nvSpPr>
          <p:cNvPr id="11" name="Text 8"/>
          <p:cNvSpPr/>
          <p:nvPr/>
        </p:nvSpPr>
        <p:spPr>
          <a:xfrm>
            <a:off x="1071563" y="3831561"/>
            <a:ext cx="2490518"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Required skills:</a:t>
            </a:r>
            <a:r>
              <a:rPr lang="en-US" sz="834" dirty="0">
                <a:solidFill>
                  <a:srgbClr val="334155"/>
                </a:solidFill>
                <a:latin typeface="Inter" pitchFamily="34" charset="0"/>
                <a:ea typeface="Inter" pitchFamily="34" charset="-122"/>
                <a:cs typeface="Inter" pitchFamily="34" charset="-120"/>
              </a:rPr>
              <a:t> camera selection, lighting design, calibration, and station engineering with manufacturing teams.</a:t>
            </a:r>
            <a:endParaRPr lang="en-US" sz="784" dirty="0"/>
          </a:p>
        </p:txBody>
      </p:sp>
      <p:sp>
        <p:nvSpPr>
          <p:cNvPr id="12" name="Text 9"/>
          <p:cNvSpPr/>
          <p:nvPr/>
        </p:nvSpPr>
        <p:spPr>
          <a:xfrm>
            <a:off x="3719243" y="1515591"/>
            <a:ext cx="2490518"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VISION MODELS + WORKFLOW</a:t>
            </a:r>
            <a:endParaRPr lang="en-US" sz="634" dirty="0"/>
          </a:p>
        </p:txBody>
      </p:sp>
      <p:sp>
        <p:nvSpPr>
          <p:cNvPr id="13" name="Text 10"/>
          <p:cNvSpPr/>
          <p:nvPr/>
        </p:nvSpPr>
        <p:spPr>
          <a:xfrm>
            <a:off x="3719243" y="1670968"/>
            <a:ext cx="2071688" cy="624018"/>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Deploy as assistive triage before autonomy</a:t>
            </a:r>
            <a:endParaRPr lang="en-US" sz="1295" dirty="0"/>
          </a:p>
        </p:txBody>
      </p:sp>
      <p:sp>
        <p:nvSpPr>
          <p:cNvPr id="14" name="Text 11"/>
          <p:cNvSpPr/>
          <p:nvPr/>
        </p:nvSpPr>
        <p:spPr>
          <a:xfrm>
            <a:off x="3719243" y="2352135"/>
            <a:ext cx="2490518" cy="68970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Defect detection, anomaly grading, and traceability outputs</a:t>
            </a:r>
            <a:r>
              <a:rPr lang="en-US" sz="888" dirty="0">
                <a:solidFill>
                  <a:srgbClr val="334155"/>
                </a:solidFill>
                <a:latin typeface="Inter" pitchFamily="34" charset="0"/>
                <a:ea typeface="Inter" pitchFamily="34" charset="-122"/>
                <a:cs typeface="Inter" pitchFamily="34" charset="-120"/>
              </a:rPr>
              <a:t> should be paired with humans confirming borderline decisions so models learn from corrections.</a:t>
            </a:r>
            <a:endParaRPr lang="en-US" sz="834" dirty="0"/>
          </a:p>
        </p:txBody>
      </p:sp>
      <p:sp>
        <p:nvSpPr>
          <p:cNvPr id="15" name="Text 12"/>
          <p:cNvSpPr/>
          <p:nvPr/>
        </p:nvSpPr>
        <p:spPr>
          <a:xfrm>
            <a:off x="3719243" y="3084705"/>
            <a:ext cx="2490518" cy="34485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Human-in-the-loop workflows prioritize and label the right examples for retraining.</a:t>
            </a:r>
            <a:endParaRPr lang="en-US" sz="888" dirty="0"/>
          </a:p>
        </p:txBody>
      </p:sp>
      <p:sp>
        <p:nvSpPr>
          <p:cNvPr id="16" name="Text 13"/>
          <p:cNvSpPr/>
          <p:nvPr/>
        </p:nvSpPr>
        <p:spPr>
          <a:xfrm>
            <a:off x="3719243" y="3486708"/>
            <a:ext cx="2490518"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Required ML skills:</a:t>
            </a:r>
            <a:r>
              <a:rPr lang="en-US" sz="834" dirty="0">
                <a:solidFill>
                  <a:srgbClr val="334155"/>
                </a:solidFill>
                <a:latin typeface="Inter" pitchFamily="34" charset="0"/>
                <a:ea typeface="Inter" pitchFamily="34" charset="-122"/>
                <a:cs typeface="Inter" pitchFamily="34" charset="-120"/>
              </a:rPr>
              <a:t> supervised training, anomaly detection, drift monitoring, and labeling ops.</a:t>
            </a:r>
            <a:endParaRPr lang="en-US" sz="784" dirty="0"/>
          </a:p>
        </p:txBody>
      </p:sp>
      <p:sp>
        <p:nvSpPr>
          <p:cNvPr id="17" name="Text 14"/>
          <p:cNvSpPr/>
          <p:nvPr/>
        </p:nvSpPr>
        <p:spPr>
          <a:xfrm>
            <a:off x="6366923" y="1515591"/>
            <a:ext cx="2291274"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IMPLEMENTATION + METRICS</a:t>
            </a:r>
            <a:endParaRPr lang="en-US" sz="634" dirty="0"/>
          </a:p>
        </p:txBody>
      </p:sp>
      <p:sp>
        <p:nvSpPr>
          <p:cNvPr id="18" name="Text 15"/>
          <p:cNvSpPr/>
          <p:nvPr/>
        </p:nvSpPr>
        <p:spPr>
          <a:xfrm>
            <a:off x="6366923" y="1670968"/>
            <a:ext cx="2071688" cy="624018"/>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Start where scrap is worst and proof is fastest</a:t>
            </a:r>
            <a:endParaRPr lang="en-US" sz="1295" dirty="0"/>
          </a:p>
        </p:txBody>
      </p:sp>
      <p:sp>
        <p:nvSpPr>
          <p:cNvPr id="19" name="Text 16"/>
          <p:cNvSpPr/>
          <p:nvPr/>
        </p:nvSpPr>
        <p:spPr>
          <a:xfrm>
            <a:off x="6366923" y="2352135"/>
            <a:ext cx="2291274" cy="68970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Choose the inspection point with the highest scrap cost, standardize capture, and launch vision as a triage layer.</a:t>
            </a:r>
            <a:endParaRPr lang="en-US" sz="888" dirty="0"/>
          </a:p>
        </p:txBody>
      </p:sp>
      <p:sp>
        <p:nvSpPr>
          <p:cNvPr id="20" name="Text 17"/>
          <p:cNvSpPr/>
          <p:nvPr/>
        </p:nvSpPr>
        <p:spPr>
          <a:xfrm>
            <a:off x="6366923" y="3148998"/>
            <a:ext cx="1102761" cy="765721"/>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False negatives</a:t>
            </a:r>
            <a:r>
              <a:rPr lang="en-US" sz="834" dirty="0">
                <a:solidFill>
                  <a:srgbClr val="334155"/>
                </a:solidFill>
                <a:latin typeface="Inter" pitchFamily="34" charset="0"/>
                <a:ea typeface="Inter" pitchFamily="34" charset="-122"/>
                <a:cs typeface="Inter" pitchFamily="34" charset="-120"/>
              </a:rPr>
              <a:t>
Escaped defects that damage customers and confidence.</a:t>
            </a:r>
            <a:endParaRPr lang="en-US" sz="784" dirty="0"/>
          </a:p>
        </p:txBody>
      </p:sp>
      <p:sp>
        <p:nvSpPr>
          <p:cNvPr id="21" name="Text 18"/>
          <p:cNvSpPr/>
          <p:nvPr/>
        </p:nvSpPr>
        <p:spPr>
          <a:xfrm>
            <a:off x="7555409" y="3148998"/>
            <a:ext cx="1102789" cy="765721"/>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Scrap reduction</a:t>
            </a:r>
            <a:r>
              <a:rPr lang="en-US" sz="834" dirty="0">
                <a:solidFill>
                  <a:srgbClr val="334155"/>
                </a:solidFill>
                <a:latin typeface="Inter" pitchFamily="34" charset="0"/>
                <a:ea typeface="Inter" pitchFamily="34" charset="-122"/>
                <a:cs typeface="Inter" pitchFamily="34" charset="-120"/>
              </a:rPr>
              <a:t>
Whether inspection lowers waste.</a:t>
            </a:r>
            <a:endParaRPr lang="en-US" sz="784" dirty="0"/>
          </a:p>
        </p:txBody>
      </p:sp>
      <p:sp>
        <p:nvSpPr>
          <p:cNvPr id="22" name="Text 19"/>
          <p:cNvSpPr/>
          <p:nvPr/>
        </p:nvSpPr>
        <p:spPr>
          <a:xfrm>
            <a:off x="6366923" y="3957582"/>
            <a:ext cx="1102761" cy="612577"/>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Inspection labor</a:t>
            </a:r>
            <a:r>
              <a:rPr lang="en-US" sz="834" dirty="0">
                <a:solidFill>
                  <a:srgbClr val="334155"/>
                </a:solidFill>
                <a:latin typeface="Inter" pitchFamily="34" charset="0"/>
                <a:ea typeface="Inter" pitchFamily="34" charset="-122"/>
                <a:cs typeface="Inter" pitchFamily="34" charset="-120"/>
              </a:rPr>
              <a:t>
Whether teams spend less time on repetitive checks.</a:t>
            </a:r>
            <a:endParaRPr lang="en-US" sz="784" dirty="0"/>
          </a:p>
        </p:txBody>
      </p:sp>
      <p:sp>
        <p:nvSpPr>
          <p:cNvPr id="23" name="Text 20"/>
          <p:cNvSpPr/>
          <p:nvPr/>
        </p:nvSpPr>
        <p:spPr>
          <a:xfrm>
            <a:off x="7555409" y="3957582"/>
            <a:ext cx="1102789" cy="612577"/>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Escapes &amp; audits</a:t>
            </a:r>
            <a:r>
              <a:rPr lang="en-US" sz="834" dirty="0">
                <a:solidFill>
                  <a:srgbClr val="334155"/>
                </a:solidFill>
                <a:latin typeface="Inter" pitchFamily="34" charset="0"/>
                <a:ea typeface="Inter" pitchFamily="34" charset="-122"/>
                <a:cs typeface="Inter" pitchFamily="34" charset="-120"/>
              </a:rPr>
              <a:t>
Traceability and compliance readiness.</a:t>
            </a:r>
            <a:endParaRPr lang="en-US" sz="784" dirty="0"/>
          </a:p>
        </p:txBody>
      </p:sp>
      <p:sp>
        <p:nvSpPr>
          <p:cNvPr id="24" name="Text 21"/>
          <p:cNvSpPr/>
          <p:nvPr/>
        </p:nvSpPr>
        <p:spPr>
          <a:xfrm>
            <a:off x="1071563" y="4627308"/>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5" name="Text 22"/>
          <p:cNvSpPr/>
          <p:nvPr/>
        </p:nvSpPr>
        <p:spPr>
          <a:xfrm>
            <a:off x="3894404" y="4627308"/>
            <a:ext cx="4763821"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7 COMPANION · CAMERA STACK, MODEL WORKFLOW, IMPLEMENTATION, METRICS</a:t>
            </a:r>
            <a:endParaRPr lang="en-US" sz="72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904075"/>
            <a:ext cx="1928813"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8 / 9 · CLIENT EDGE</a:t>
            </a:r>
            <a:endParaRPr lang="en-US" sz="734" dirty="0"/>
          </a:p>
        </p:txBody>
      </p:sp>
      <p:sp>
        <p:nvSpPr>
          <p:cNvPr id="4" name="Text 1"/>
          <p:cNvSpPr/>
          <p:nvPr/>
        </p:nvSpPr>
        <p:spPr>
          <a:xfrm>
            <a:off x="2628900" y="457200"/>
            <a:ext cx="5857875" cy="575463"/>
          </a:xfrm>
          <a:prstGeom prst="rect">
            <a:avLst/>
          </a:prstGeom>
          <a:noFill/>
          <a:ln/>
        </p:spPr>
        <p:txBody>
          <a:bodyPr wrap="squar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Warehousing Can Become Predictive Revenue</a:t>
            </a:r>
            <a:endParaRPr lang="en-US" sz="1912" dirty="0"/>
          </a:p>
        </p:txBody>
      </p:sp>
      <p:sp>
        <p:nvSpPr>
          <p:cNvPr id="5" name="Text 2"/>
          <p:cNvSpPr/>
          <p:nvPr/>
        </p:nvSpPr>
        <p:spPr>
          <a:xfrm>
            <a:off x="500063" y="1032663"/>
            <a:ext cx="7572375" cy="785589"/>
          </a:xfrm>
          <a:prstGeom prst="rect">
            <a:avLst/>
          </a:prstGeom>
          <a:noFill/>
          <a:ln/>
        </p:spPr>
        <p:txBody>
          <a:bodyPr wrap="square" lIns="0" tIns="102108" rIns="0" bIns="0" rtlCol="0" anchor="t">
            <a:spAutoFit/>
          </a:bodyPr>
          <a:lstStyle/>
          <a:p>
            <a:pPr marL="0" indent="0" algn="l">
              <a:lnSpc>
                <a:spcPts val="1800"/>
              </a:lnSpc>
              <a:buNone/>
            </a:pPr>
            <a:r>
              <a:rPr lang="en-US" sz="1214" dirty="0">
                <a:solidFill>
                  <a:srgbClr val="334155"/>
                </a:solidFill>
                <a:latin typeface="Inter" pitchFamily="34" charset="0"/>
                <a:ea typeface="Inter" pitchFamily="34" charset="-122"/>
                <a:cs typeface="Inter" pitchFamily="34" charset="-120"/>
              </a:rPr>
              <a:t>Stored inventory should not be treated as a passive fulfillment option. With demand forecasting and reorder prediction, warehousing becomes a </a:t>
            </a:r>
            <a:r>
              <a:rPr lang="en-US" sz="1141" b="1" dirty="0">
                <a:solidFill>
                  <a:srgbClr val="123B6D"/>
                </a:solidFill>
                <a:latin typeface="Inter" pitchFamily="34" charset="0"/>
                <a:ea typeface="Inter" pitchFamily="34" charset="-122"/>
                <a:cs typeface="Inter" pitchFamily="34" charset="-120"/>
              </a:rPr>
              <a:t>retention engine, expansion lever, and service advantage</a:t>
            </a:r>
            <a:r>
              <a:rPr lang="en-US" sz="1214" dirty="0">
                <a:solidFill>
                  <a:srgbClr val="334155"/>
                </a:solidFill>
                <a:latin typeface="Inter" pitchFamily="34" charset="0"/>
                <a:ea typeface="Inter" pitchFamily="34" charset="-122"/>
                <a:cs typeface="Inter" pitchFamily="34" charset="-120"/>
              </a:rPr>
              <a:t> built on customer history that Protolabs already owns.</a:t>
            </a:r>
            <a:endParaRPr lang="en-US" sz="1214" dirty="0"/>
          </a:p>
        </p:txBody>
      </p:sp>
      <p:sp>
        <p:nvSpPr>
          <p:cNvPr id="6" name="Text 3"/>
          <p:cNvSpPr/>
          <p:nvPr/>
        </p:nvSpPr>
        <p:spPr>
          <a:xfrm>
            <a:off x="500063" y="2039708"/>
            <a:ext cx="2428875"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STRATEGIC REFRAME</a:t>
            </a:r>
            <a:endParaRPr lang="en-US" sz="634" dirty="0"/>
          </a:p>
        </p:txBody>
      </p:sp>
      <p:sp>
        <p:nvSpPr>
          <p:cNvPr id="7" name="Text 4"/>
          <p:cNvSpPr/>
          <p:nvPr/>
        </p:nvSpPr>
        <p:spPr>
          <a:xfrm>
            <a:off x="500063" y="2223660"/>
            <a:ext cx="2214563" cy="911498"/>
          </a:xfrm>
          <a:prstGeom prst="rect">
            <a:avLst/>
          </a:prstGeom>
          <a:noFill/>
          <a:ln/>
        </p:spPr>
        <p:txBody>
          <a:bodyPr wrap="square" lIns="0" tIns="0" rIns="0" bIns="0" rtlCol="0" anchor="t">
            <a:spAutoFit/>
          </a:bodyPr>
          <a:lstStyle/>
          <a:p>
            <a:pPr marL="0" indent="0" algn="l">
              <a:lnSpc>
                <a:spcPts val="1800"/>
              </a:lnSpc>
              <a:buNone/>
            </a:pPr>
            <a:r>
              <a:rPr lang="en-US" sz="1448" b="1" dirty="0">
                <a:solidFill>
                  <a:srgbClr val="123B6D"/>
                </a:solidFill>
                <a:latin typeface="Inter" pitchFamily="34" charset="0"/>
                <a:ea typeface="Inter" pitchFamily="34" charset="-122"/>
                <a:cs typeface="Inter" pitchFamily="34" charset="-120"/>
              </a:rPr>
              <a:t>Every repeat customer is a demand signal, not just a stored order</a:t>
            </a:r>
            <a:endParaRPr lang="en-US" sz="1448" dirty="0"/>
          </a:p>
        </p:txBody>
      </p:sp>
      <p:sp>
        <p:nvSpPr>
          <p:cNvPr id="8" name="Text 5"/>
          <p:cNvSpPr/>
          <p:nvPr/>
        </p:nvSpPr>
        <p:spPr>
          <a:xfrm>
            <a:off x="500063" y="3206595"/>
            <a:ext cx="2214563" cy="1205173"/>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The real opportunity is growth from existing customers at near-zero acquisition cost by predicting when they will need the next batch and making reorder timing easier and more useful.</a:t>
            </a:r>
            <a:endParaRPr lang="en-US" sz="996" dirty="0"/>
          </a:p>
        </p:txBody>
      </p:sp>
      <p:sp>
        <p:nvSpPr>
          <p:cNvPr id="9" name="Text 6"/>
          <p:cNvSpPr/>
          <p:nvPr/>
        </p:nvSpPr>
        <p:spPr>
          <a:xfrm>
            <a:off x="3157538" y="2046852"/>
            <a:ext cx="2671763"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TODAY</a:t>
            </a:r>
            <a:endParaRPr lang="en-US" sz="683" dirty="0"/>
          </a:p>
        </p:txBody>
      </p:sp>
      <p:sp>
        <p:nvSpPr>
          <p:cNvPr id="10" name="Text 7"/>
          <p:cNvSpPr/>
          <p:nvPr/>
        </p:nvSpPr>
        <p:spPr>
          <a:xfrm>
            <a:off x="3157538" y="2168296"/>
            <a:ext cx="2671763" cy="852004"/>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Warehousing is largely passive: parts wait in storage until the customer decides to request more or release inventory.</a:t>
            </a:r>
            <a:endParaRPr lang="en-US" sz="1104" dirty="0"/>
          </a:p>
        </p:txBody>
      </p:sp>
      <p:sp>
        <p:nvSpPr>
          <p:cNvPr id="11" name="Text 8"/>
          <p:cNvSpPr/>
          <p:nvPr/>
        </p:nvSpPr>
        <p:spPr>
          <a:xfrm>
            <a:off x="5972175" y="2046852"/>
            <a:ext cx="2671763"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DISRUPTION LOGIC</a:t>
            </a:r>
            <a:endParaRPr lang="en-US" sz="683" dirty="0"/>
          </a:p>
        </p:txBody>
      </p:sp>
      <p:sp>
        <p:nvSpPr>
          <p:cNvPr id="12" name="Text 9"/>
          <p:cNvSpPr/>
          <p:nvPr/>
        </p:nvSpPr>
        <p:spPr>
          <a:xfrm>
            <a:off x="5972175" y="2168296"/>
            <a:ext cx="2671763" cy="1278006"/>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Order history and consumption patterns can power </a:t>
            </a:r>
            <a:r>
              <a:rPr lang="en-US" sz="1038" b="1" dirty="0">
                <a:solidFill>
                  <a:srgbClr val="123B6D"/>
                </a:solidFill>
                <a:latin typeface="Inter" pitchFamily="34" charset="0"/>
                <a:ea typeface="Inter" pitchFamily="34" charset="-122"/>
                <a:cs typeface="Inter" pitchFamily="34" charset="-120"/>
              </a:rPr>
              <a:t>reorder prediction</a:t>
            </a:r>
            <a:r>
              <a:rPr lang="en-US" sz="1104" dirty="0">
                <a:solidFill>
                  <a:srgbClr val="334155"/>
                </a:solidFill>
                <a:latin typeface="Inter" pitchFamily="34" charset="0"/>
                <a:ea typeface="Inter" pitchFamily="34" charset="-122"/>
                <a:cs typeface="Inter" pitchFamily="34" charset="-120"/>
              </a:rPr>
              <a:t>, turning warehousing into a proactive service that helps avoid stockouts and capture future demand.</a:t>
            </a:r>
            <a:endParaRPr lang="en-US" sz="1104" dirty="0"/>
          </a:p>
        </p:txBody>
      </p:sp>
      <p:sp>
        <p:nvSpPr>
          <p:cNvPr id="13" name="Text 10"/>
          <p:cNvSpPr/>
          <p:nvPr/>
        </p:nvSpPr>
        <p:spPr>
          <a:xfrm>
            <a:off x="3157538" y="3617751"/>
            <a:ext cx="2671763"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TOP IDEA</a:t>
            </a:r>
            <a:endParaRPr lang="en-US" sz="683" dirty="0"/>
          </a:p>
        </p:txBody>
      </p:sp>
      <p:sp>
        <p:nvSpPr>
          <p:cNvPr id="14" name="Text 11"/>
          <p:cNvSpPr/>
          <p:nvPr/>
        </p:nvSpPr>
        <p:spPr>
          <a:xfrm>
            <a:off x="3157538" y="3739195"/>
            <a:ext cx="2671763" cy="1065005"/>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Offer an opt-in reorder intelligence service: forecast replenishment windows, link signals to batch releases, and present it as planning support.</a:t>
            </a:r>
            <a:endParaRPr lang="en-US" sz="1104" dirty="0"/>
          </a:p>
        </p:txBody>
      </p:sp>
      <p:sp>
        <p:nvSpPr>
          <p:cNvPr id="15" name="Text 12"/>
          <p:cNvSpPr/>
          <p:nvPr/>
        </p:nvSpPr>
        <p:spPr>
          <a:xfrm>
            <a:off x="5972175" y="3617751"/>
            <a:ext cx="2671763"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QUICK WIN</a:t>
            </a:r>
            <a:endParaRPr lang="en-US" sz="683" dirty="0"/>
          </a:p>
        </p:txBody>
      </p:sp>
      <p:sp>
        <p:nvSpPr>
          <p:cNvPr id="16" name="Text 13"/>
          <p:cNvSpPr/>
          <p:nvPr/>
        </p:nvSpPr>
        <p:spPr>
          <a:xfrm>
            <a:off x="5972175" y="3739195"/>
            <a:ext cx="2671763" cy="639003"/>
          </a:xfrm>
          <a:prstGeom prst="rect">
            <a:avLst/>
          </a:prstGeom>
          <a:noFill/>
          <a:ln/>
        </p:spPr>
        <p:txBody>
          <a:bodyPr wrap="square" lIns="0" tIns="0" rIns="0" bIns="0" rtlCol="0" anchor="t">
            <a:spAutoFit/>
          </a:bodyPr>
          <a:lstStyle/>
          <a:p>
            <a:pPr marL="0" indent="0" algn="l">
              <a:lnSpc>
                <a:spcPts val="1700"/>
              </a:lnSpc>
              <a:buNone/>
            </a:pPr>
            <a:r>
              <a:rPr lang="en-US" sz="1104" dirty="0">
                <a:solidFill>
                  <a:srgbClr val="334155"/>
                </a:solidFill>
                <a:latin typeface="Inter" pitchFamily="34" charset="0"/>
                <a:ea typeface="Inter" pitchFamily="34" charset="-122"/>
                <a:cs typeface="Inter" pitchFamily="34" charset="-120"/>
              </a:rPr>
              <a:t>Start with high-frequency repeat buyers where patterns are strongest to validate forecasting and ROI.</a:t>
            </a:r>
            <a:endParaRPr lang="en-US" sz="1104" dirty="0"/>
          </a:p>
        </p:txBody>
      </p:sp>
      <p:sp>
        <p:nvSpPr>
          <p:cNvPr id="17" name="Text 14"/>
          <p:cNvSpPr/>
          <p:nvPr/>
        </p:nvSpPr>
        <p:spPr>
          <a:xfrm>
            <a:off x="500063" y="4932787"/>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8" name="Text 15"/>
          <p:cNvSpPr/>
          <p:nvPr/>
        </p:nvSpPr>
        <p:spPr>
          <a:xfrm>
            <a:off x="5322429" y="4932787"/>
            <a:ext cx="3321509"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RETENTION AND EXPANSION FRAMING</a:t>
            </a:r>
            <a:endParaRPr lang="en-US" sz="72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85775" y="442913"/>
            <a:ext cx="2143125"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8 COMPANION · PREDICTIVE WAREHOUSING</a:t>
            </a:r>
            <a:endParaRPr lang="en-US" sz="734" dirty="0"/>
          </a:p>
        </p:txBody>
      </p:sp>
      <p:sp>
        <p:nvSpPr>
          <p:cNvPr id="4" name="Text 1"/>
          <p:cNvSpPr/>
          <p:nvPr/>
        </p:nvSpPr>
        <p:spPr>
          <a:xfrm>
            <a:off x="2800350" y="442913"/>
            <a:ext cx="5857875"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Forecasting Makes Inventory Commercial</a:t>
            </a:r>
            <a:endParaRPr lang="en-US" sz="1808" dirty="0"/>
          </a:p>
        </p:txBody>
      </p:sp>
      <p:sp>
        <p:nvSpPr>
          <p:cNvPr id="5" name="Text 2"/>
          <p:cNvSpPr/>
          <p:nvPr/>
        </p:nvSpPr>
        <p:spPr>
          <a:xfrm>
            <a:off x="2800350" y="786929"/>
            <a:ext cx="5857875" cy="800100"/>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Warehousing becomes strategically valuable when stored parts are treated not as passive inventory, but as a predictive revenue opportunity. The goal is to use reorder signals to increase retention, improve service levels, and make existing customer demand more visible before the next order is requested.</a:t>
            </a:r>
            <a:endParaRPr lang="en-US" sz="1050" dirty="0"/>
          </a:p>
        </p:txBody>
      </p:sp>
      <p:sp>
        <p:nvSpPr>
          <p:cNvPr id="6" name="Text 3"/>
          <p:cNvSpPr/>
          <p:nvPr/>
        </p:nvSpPr>
        <p:spPr>
          <a:xfrm>
            <a:off x="485775" y="1744191"/>
            <a:ext cx="2455636"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BUSINESS LOGIC</a:t>
            </a:r>
            <a:endParaRPr lang="en-US" sz="634" dirty="0"/>
          </a:p>
        </p:txBody>
      </p:sp>
      <p:sp>
        <p:nvSpPr>
          <p:cNvPr id="7" name="Text 4"/>
          <p:cNvSpPr/>
          <p:nvPr/>
        </p:nvSpPr>
        <p:spPr>
          <a:xfrm>
            <a:off x="485775" y="1913855"/>
            <a:ext cx="2071688" cy="832024"/>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Inventory can act like a commercial signal, not only a storage cost</a:t>
            </a:r>
            <a:endParaRPr lang="en-US" sz="1295" dirty="0"/>
          </a:p>
        </p:txBody>
      </p:sp>
      <p:sp>
        <p:nvSpPr>
          <p:cNvPr id="8" name="Text 5"/>
          <p:cNvSpPr/>
          <p:nvPr/>
        </p:nvSpPr>
        <p:spPr>
          <a:xfrm>
            <a:off x="485775" y="2817316"/>
            <a:ext cx="2455636" cy="103456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Repeat customers already generate demand patterns through order frequency, part families, and replenishment timing. If Protolabs can forecast these patterns well, warehousing shifts from a passive service into a low-acquisition-cost growth lever.</a:t>
            </a:r>
            <a:endParaRPr lang="en-US" sz="888" dirty="0"/>
          </a:p>
        </p:txBody>
      </p:sp>
      <p:sp>
        <p:nvSpPr>
          <p:cNvPr id="9" name="Text 6"/>
          <p:cNvSpPr/>
          <p:nvPr/>
        </p:nvSpPr>
        <p:spPr>
          <a:xfrm>
            <a:off x="3098574" y="1744191"/>
            <a:ext cx="2728522"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REQUIRED AI / ML STACK</a:t>
            </a:r>
            <a:endParaRPr lang="en-US" sz="634" dirty="0"/>
          </a:p>
        </p:txBody>
      </p:sp>
      <p:sp>
        <p:nvSpPr>
          <p:cNvPr id="10" name="Text 7"/>
          <p:cNvSpPr/>
          <p:nvPr/>
        </p:nvSpPr>
        <p:spPr>
          <a:xfrm>
            <a:off x="3098574" y="1913855"/>
            <a:ext cx="2071688" cy="416012"/>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What the forecasting system needs to do</a:t>
            </a:r>
            <a:endParaRPr lang="en-US" sz="1295" dirty="0"/>
          </a:p>
        </p:txBody>
      </p:sp>
      <p:sp>
        <p:nvSpPr>
          <p:cNvPr id="11" name="Text 8"/>
          <p:cNvSpPr/>
          <p:nvPr/>
        </p:nvSpPr>
        <p:spPr>
          <a:xfrm>
            <a:off x="3098574" y="2401305"/>
            <a:ext cx="2728522" cy="862133"/>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Core capabilities:</a:t>
            </a:r>
            <a:r>
              <a:rPr lang="en-US" sz="888" dirty="0">
                <a:solidFill>
                  <a:srgbClr val="334155"/>
                </a:solidFill>
                <a:latin typeface="Inter" pitchFamily="34" charset="0"/>
                <a:ea typeface="Inter" pitchFamily="34" charset="-122"/>
                <a:cs typeface="Inter" pitchFamily="34" charset="-120"/>
              </a:rPr>
              <a:t> demand forecasting, reorder propensity models, customer segmentation, inventory optimization, and recommendation systems for replenishment timing or warehouse placement.</a:t>
            </a:r>
            <a:endParaRPr lang="en-US" sz="834" dirty="0"/>
          </a:p>
        </p:txBody>
      </p:sp>
      <p:sp>
        <p:nvSpPr>
          <p:cNvPr id="12" name="Text 9"/>
          <p:cNvSpPr/>
          <p:nvPr/>
        </p:nvSpPr>
        <p:spPr>
          <a:xfrm>
            <a:off x="3098574" y="3320588"/>
            <a:ext cx="2728522" cy="676870"/>
          </a:xfrm>
          <a:prstGeom prst="rect">
            <a:avLst/>
          </a:prstGeom>
          <a:noFill/>
          <a:ln/>
        </p:spPr>
        <p:txBody>
          <a:bodyPr wrap="square" lIns="0" tIns="68072"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Required skills:</a:t>
            </a:r>
            <a:r>
              <a:rPr lang="en-US" sz="834" dirty="0">
                <a:solidFill>
                  <a:srgbClr val="334155"/>
                </a:solidFill>
                <a:latin typeface="Inter" pitchFamily="34" charset="0"/>
                <a:ea typeface="Inter" pitchFamily="34" charset="-122"/>
                <a:cs typeface="Inter" pitchFamily="34" charset="-120"/>
              </a:rPr>
              <a:t> time-series modeling, supervised propensity prediction, inventory analytics, segmentation logic, and decision design that keeps the experience helpful rather than intrusive.</a:t>
            </a:r>
            <a:endParaRPr lang="en-US" sz="784" dirty="0"/>
          </a:p>
        </p:txBody>
      </p:sp>
      <p:sp>
        <p:nvSpPr>
          <p:cNvPr id="13" name="Text 10"/>
          <p:cNvSpPr/>
          <p:nvPr/>
        </p:nvSpPr>
        <p:spPr>
          <a:xfrm>
            <a:off x="5984258" y="1744191"/>
            <a:ext cx="2673939"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ROLLOUT + METRICS</a:t>
            </a:r>
            <a:endParaRPr lang="en-US" sz="634" dirty="0"/>
          </a:p>
        </p:txBody>
      </p:sp>
      <p:sp>
        <p:nvSpPr>
          <p:cNvPr id="14" name="Text 11"/>
          <p:cNvSpPr/>
          <p:nvPr/>
        </p:nvSpPr>
        <p:spPr>
          <a:xfrm>
            <a:off x="5984258" y="1913855"/>
            <a:ext cx="2071688" cy="624018"/>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Start narrow, prove service value, then expand</a:t>
            </a:r>
            <a:endParaRPr lang="en-US" sz="1295" dirty="0"/>
          </a:p>
        </p:txBody>
      </p:sp>
      <p:sp>
        <p:nvSpPr>
          <p:cNvPr id="15" name="Text 12"/>
          <p:cNvSpPr/>
          <p:nvPr/>
        </p:nvSpPr>
        <p:spPr>
          <a:xfrm>
            <a:off x="5984258" y="2609310"/>
            <a:ext cx="2673939" cy="103456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Launch with repeat customers and an opt-in replenishment service. Use forecasts first to inform internal release and placement decisions, then add customer-facing recommendations once prediction quality and messaging are trusted.</a:t>
            </a:r>
            <a:endParaRPr lang="en-US" sz="888" dirty="0"/>
          </a:p>
        </p:txBody>
      </p:sp>
      <p:sp>
        <p:nvSpPr>
          <p:cNvPr id="16" name="Text 13"/>
          <p:cNvSpPr/>
          <p:nvPr/>
        </p:nvSpPr>
        <p:spPr>
          <a:xfrm>
            <a:off x="5984258" y="3686733"/>
            <a:ext cx="2673939" cy="968871"/>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Reorder rate</a:t>
            </a:r>
            <a:r>
              <a:rPr lang="en-US" sz="834" dirty="0">
                <a:solidFill>
                  <a:srgbClr val="334155"/>
                </a:solidFill>
                <a:latin typeface="Inter" pitchFamily="34" charset="0"/>
                <a:ea typeface="Inter" pitchFamily="34" charset="-122"/>
                <a:cs typeface="Inter" pitchFamily="34" charset="-120"/>
              </a:rPr>
              <a:t> — Whether forecasting increases repeat purchase capture; </a:t>
            </a:r>
            <a:r>
              <a:rPr lang="en-US" sz="784" b="1" dirty="0">
                <a:solidFill>
                  <a:srgbClr val="123B6D"/>
                </a:solidFill>
                <a:latin typeface="Inter" pitchFamily="34" charset="0"/>
                <a:ea typeface="Inter" pitchFamily="34" charset="-122"/>
                <a:cs typeface="Inter" pitchFamily="34" charset="-120"/>
              </a:rPr>
              <a:t>Expansion revenue</a:t>
            </a:r>
            <a:r>
              <a:rPr lang="en-US" sz="834" dirty="0">
                <a:solidFill>
                  <a:srgbClr val="334155"/>
                </a:solidFill>
                <a:latin typeface="Inter" pitchFamily="34" charset="0"/>
                <a:ea typeface="Inter" pitchFamily="34" charset="-122"/>
                <a:cs typeface="Inter" pitchFamily="34" charset="-120"/>
              </a:rPr>
              <a:t> — Whether predictive warehousing creates incremental sales from existing accounts; </a:t>
            </a:r>
            <a:r>
              <a:rPr lang="en-US" sz="784" b="1" dirty="0">
                <a:solidFill>
                  <a:srgbClr val="123B6D"/>
                </a:solidFill>
                <a:latin typeface="Inter" pitchFamily="34" charset="0"/>
                <a:ea typeface="Inter" pitchFamily="34" charset="-122"/>
                <a:cs typeface="Inter" pitchFamily="34" charset="-120"/>
              </a:rPr>
              <a:t>Forecast accuracy</a:t>
            </a:r>
            <a:r>
              <a:rPr lang="en-US" sz="834" dirty="0">
                <a:solidFill>
                  <a:srgbClr val="334155"/>
                </a:solidFill>
                <a:latin typeface="Inter" pitchFamily="34" charset="0"/>
                <a:ea typeface="Inter" pitchFamily="34" charset="-122"/>
                <a:cs typeface="Inter" pitchFamily="34" charset="-120"/>
              </a:rPr>
              <a:t> — Whether the demand model is reliable enough to influence decisions.</a:t>
            </a:r>
            <a:endParaRPr lang="en-US" sz="784" dirty="0"/>
          </a:p>
        </p:txBody>
      </p:sp>
      <p:sp>
        <p:nvSpPr>
          <p:cNvPr id="17" name="Text 14"/>
          <p:cNvSpPr/>
          <p:nvPr/>
        </p:nvSpPr>
        <p:spPr>
          <a:xfrm>
            <a:off x="485775" y="4741329"/>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8" name="Text 15"/>
          <p:cNvSpPr/>
          <p:nvPr/>
        </p:nvSpPr>
        <p:spPr>
          <a:xfrm>
            <a:off x="4572335" y="4741329"/>
            <a:ext cx="4085890"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8 COMPANION · BUSINESS LOGIC, AI STACK, ROLLOUT, AND METRICS</a:t>
            </a:r>
            <a:endParaRPr lang="en-US" sz="72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00063" y="616344"/>
            <a:ext cx="2000250"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9 / 9 · INTERNAL OPS</a:t>
            </a:r>
            <a:endParaRPr lang="en-US" sz="734" dirty="0"/>
          </a:p>
        </p:txBody>
      </p:sp>
      <p:sp>
        <p:nvSpPr>
          <p:cNvPr id="4" name="Text 1"/>
          <p:cNvSpPr/>
          <p:nvPr/>
        </p:nvSpPr>
        <p:spPr>
          <a:xfrm>
            <a:off x="2700338" y="457200"/>
            <a:ext cx="5857875" cy="287731"/>
          </a:xfrm>
          <a:prstGeom prst="rect">
            <a:avLst/>
          </a:prstGeom>
          <a:noFill/>
          <a:ln/>
        </p:spPr>
        <p:txBody>
          <a:bodyPr wrap="non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Shipping Determines the Final Memory</a:t>
            </a:r>
            <a:endParaRPr lang="en-US" sz="1912" dirty="0"/>
          </a:p>
        </p:txBody>
      </p:sp>
      <p:sp>
        <p:nvSpPr>
          <p:cNvPr id="5" name="Text 2"/>
          <p:cNvSpPr/>
          <p:nvPr/>
        </p:nvSpPr>
        <p:spPr>
          <a:xfrm>
            <a:off x="500063" y="744931"/>
            <a:ext cx="7572375" cy="858924"/>
          </a:xfrm>
          <a:prstGeom prst="rect">
            <a:avLst/>
          </a:prstGeom>
          <a:noFill/>
          <a:ln/>
        </p:spPr>
        <p:txBody>
          <a:bodyPr wrap="square" lIns="0" tIns="153035" rIns="0" bIns="0" rtlCol="0" anchor="t">
            <a:spAutoFit/>
          </a:bodyPr>
          <a:lstStyle/>
          <a:p>
            <a:pPr marL="0" indent="0" algn="l">
              <a:lnSpc>
                <a:spcPts val="1900"/>
              </a:lnSpc>
              <a:buNone/>
            </a:pPr>
            <a:r>
              <a:rPr lang="en-US" sz="1269" dirty="0">
                <a:solidFill>
                  <a:srgbClr val="334155"/>
                </a:solidFill>
                <a:latin typeface="Inter" pitchFamily="34" charset="0"/>
                <a:ea typeface="Inter" pitchFamily="34" charset="-122"/>
                <a:cs typeface="Inter" pitchFamily="34" charset="-120"/>
              </a:rPr>
              <a:t>Customers may remember the quote, but they judge reliability at delivery. A late or poorly managed shipment does more than raise freight cost. It </a:t>
            </a:r>
            <a:r>
              <a:rPr lang="en-US" sz="1193" b="1" dirty="0">
                <a:solidFill>
                  <a:srgbClr val="123B6D"/>
                </a:solidFill>
                <a:latin typeface="Inter" pitchFamily="34" charset="0"/>
                <a:ea typeface="Inter" pitchFamily="34" charset="-122"/>
                <a:cs typeface="Inter" pitchFamily="34" charset="-120"/>
              </a:rPr>
              <a:t>damages trust at the final experience moment and weakens the probability of the next order</a:t>
            </a:r>
            <a:r>
              <a:rPr lang="en-US" sz="1269" dirty="0">
                <a:solidFill>
                  <a:srgbClr val="334155"/>
                </a:solidFill>
                <a:latin typeface="Inter" pitchFamily="34" charset="0"/>
                <a:ea typeface="Inter" pitchFamily="34" charset="-122"/>
                <a:cs typeface="Inter" pitchFamily="34" charset="-120"/>
              </a:rPr>
              <a:t>.</a:t>
            </a:r>
            <a:endParaRPr lang="en-US" sz="1269" dirty="0"/>
          </a:p>
        </p:txBody>
      </p:sp>
      <p:sp>
        <p:nvSpPr>
          <p:cNvPr id="6" name="Text 3"/>
          <p:cNvSpPr/>
          <p:nvPr/>
        </p:nvSpPr>
        <p:spPr>
          <a:xfrm>
            <a:off x="500063" y="1825312"/>
            <a:ext cx="26003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CUSTOMER MEMORY</a:t>
            </a:r>
            <a:endParaRPr lang="en-US" sz="683" dirty="0"/>
          </a:p>
        </p:txBody>
      </p:sp>
      <p:sp>
        <p:nvSpPr>
          <p:cNvPr id="7" name="Text 4"/>
          <p:cNvSpPr/>
          <p:nvPr/>
        </p:nvSpPr>
        <p:spPr>
          <a:xfrm>
            <a:off x="500063" y="2018193"/>
            <a:ext cx="2143125" cy="896094"/>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Logistics performance becomes commercial memory</a:t>
            </a:r>
            <a:endParaRPr lang="en-US" sz="1397" dirty="0"/>
          </a:p>
        </p:txBody>
      </p:sp>
      <p:sp>
        <p:nvSpPr>
          <p:cNvPr id="8" name="Text 5"/>
          <p:cNvSpPr/>
          <p:nvPr/>
        </p:nvSpPr>
        <p:spPr>
          <a:xfrm>
            <a:off x="500063" y="2985725"/>
            <a:ext cx="2393156" cy="1387087"/>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For many customers, the shipment is the last visible step in the Protolabs experience. If it arrives late, lacks proactive updates, or creates customs friction, the operational problem becomes a commercial impression.</a:t>
            </a:r>
            <a:endParaRPr lang="en-US" sz="996" dirty="0"/>
          </a:p>
        </p:txBody>
      </p:sp>
      <p:sp>
        <p:nvSpPr>
          <p:cNvPr id="9" name="Text 6"/>
          <p:cNvSpPr/>
          <p:nvPr/>
        </p:nvSpPr>
        <p:spPr>
          <a:xfrm>
            <a:off x="3271838" y="1825312"/>
            <a:ext cx="26003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AI INTERVENTION</a:t>
            </a:r>
            <a:endParaRPr lang="en-US" sz="683" dirty="0"/>
          </a:p>
        </p:txBody>
      </p:sp>
      <p:sp>
        <p:nvSpPr>
          <p:cNvPr id="10" name="Text 7"/>
          <p:cNvSpPr/>
          <p:nvPr/>
        </p:nvSpPr>
        <p:spPr>
          <a:xfrm>
            <a:off x="3271838" y="2018193"/>
            <a:ext cx="2143125"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Prediction matters more than passive tracking</a:t>
            </a:r>
            <a:endParaRPr lang="en-US" sz="1397" dirty="0"/>
          </a:p>
        </p:txBody>
      </p:sp>
      <p:sp>
        <p:nvSpPr>
          <p:cNvPr id="11" name="Text 8"/>
          <p:cNvSpPr/>
          <p:nvPr/>
        </p:nvSpPr>
        <p:spPr>
          <a:xfrm>
            <a:off x="3271838" y="2761701"/>
            <a:ext cx="2393156" cy="1783398"/>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The strongest AI use case is early identification of delay risk, customs issues, and carrier underperformance so teams can intervene before the customer escalates. Better ETA prediction and route ranking turn logistics from reactive status updates into active exception management.</a:t>
            </a:r>
            <a:endParaRPr lang="en-US" sz="996" dirty="0"/>
          </a:p>
        </p:txBody>
      </p:sp>
      <p:sp>
        <p:nvSpPr>
          <p:cNvPr id="12" name="Text 9"/>
          <p:cNvSpPr/>
          <p:nvPr/>
        </p:nvSpPr>
        <p:spPr>
          <a:xfrm>
            <a:off x="6043613" y="1825312"/>
            <a:ext cx="2600325" cy="121444"/>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1D4ED8"/>
                </a:solidFill>
                <a:latin typeface="Inter" pitchFamily="34" charset="0"/>
                <a:ea typeface="Inter" pitchFamily="34" charset="-122"/>
                <a:cs typeface="Inter" pitchFamily="34" charset="-120"/>
              </a:rPr>
              <a:t>STRATEGIC RECOMMENDATION</a:t>
            </a:r>
            <a:endParaRPr lang="en-US" sz="683" dirty="0"/>
          </a:p>
        </p:txBody>
      </p:sp>
      <p:sp>
        <p:nvSpPr>
          <p:cNvPr id="13" name="Text 10"/>
          <p:cNvSpPr/>
          <p:nvPr/>
        </p:nvSpPr>
        <p:spPr>
          <a:xfrm>
            <a:off x="6043613" y="2018193"/>
            <a:ext cx="2143125" cy="672071"/>
          </a:xfrm>
          <a:prstGeom prst="rect">
            <a:avLst/>
          </a:prstGeom>
          <a:noFill/>
          <a:ln/>
        </p:spPr>
        <p:txBody>
          <a:bodyPr wrap="square" lIns="0" tIns="0" rIns="0" bIns="0" rtlCol="0" anchor="t">
            <a:spAutoFit/>
          </a:bodyPr>
          <a:lstStyle/>
          <a:p>
            <a:pPr marL="0" indent="0" algn="l">
              <a:lnSpc>
                <a:spcPts val="1800"/>
              </a:lnSpc>
              <a:buNone/>
            </a:pPr>
            <a:r>
              <a:rPr lang="en-US" sz="1397" b="1" dirty="0">
                <a:solidFill>
                  <a:srgbClr val="123B6D"/>
                </a:solidFill>
                <a:latin typeface="Inter" pitchFamily="34" charset="0"/>
                <a:ea typeface="Inter" pitchFamily="34" charset="-122"/>
                <a:cs typeface="Inter" pitchFamily="34" charset="-120"/>
              </a:rPr>
              <a:t>Start internally, then turn precision into service</a:t>
            </a:r>
            <a:endParaRPr lang="en-US" sz="1397" dirty="0"/>
          </a:p>
        </p:txBody>
      </p:sp>
      <p:sp>
        <p:nvSpPr>
          <p:cNvPr id="14" name="Text 11"/>
          <p:cNvSpPr/>
          <p:nvPr/>
        </p:nvSpPr>
        <p:spPr>
          <a:xfrm>
            <a:off x="6043613" y="2761701"/>
            <a:ext cx="2393156" cy="1585243"/>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334155"/>
                </a:solidFill>
                <a:latin typeface="Inter" pitchFamily="34" charset="0"/>
                <a:ea typeface="Inter" pitchFamily="34" charset="-122"/>
                <a:cs typeface="Inter" pitchFamily="34" charset="-120"/>
              </a:rPr>
              <a:t>Deploy predictive alerts and intervention workflows for operations teams first. Once the signal quality is trusted, expose proactive customer communications and differentiated reliability service levels built on the same intelligence layer.</a:t>
            </a:r>
            <a:endParaRPr lang="en-US" sz="996" dirty="0"/>
          </a:p>
        </p:txBody>
      </p:sp>
      <p:sp>
        <p:nvSpPr>
          <p:cNvPr id="15" name="Text 12"/>
          <p:cNvSpPr/>
          <p:nvPr/>
        </p:nvSpPr>
        <p:spPr>
          <a:xfrm>
            <a:off x="500063" y="4673687"/>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16" name="Text 13"/>
          <p:cNvSpPr/>
          <p:nvPr/>
        </p:nvSpPr>
        <p:spPr>
          <a:xfrm>
            <a:off x="4585925" y="4673687"/>
            <a:ext cx="4058013"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ANALYSIS WITH SHIPPING AS RETENTION AND INTERVENTION LOGIC</a:t>
            </a:r>
            <a:endParaRPr lang="en-US" sz="72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85775" y="442913"/>
            <a:ext cx="2143125"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STAGE 9 COMPANION · PREDICTIVE LOGISTICS</a:t>
            </a:r>
            <a:endParaRPr lang="en-US" sz="734" dirty="0"/>
          </a:p>
        </p:txBody>
      </p:sp>
      <p:sp>
        <p:nvSpPr>
          <p:cNvPr id="4" name="Text 1"/>
          <p:cNvSpPr/>
          <p:nvPr/>
        </p:nvSpPr>
        <p:spPr>
          <a:xfrm>
            <a:off x="2800350" y="442913"/>
            <a:ext cx="5857875"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Reliability Intelligence Protects Retention</a:t>
            </a:r>
            <a:endParaRPr lang="en-US" sz="1808" dirty="0"/>
          </a:p>
        </p:txBody>
      </p:sp>
      <p:sp>
        <p:nvSpPr>
          <p:cNvPr id="5" name="Text 2"/>
          <p:cNvSpPr/>
          <p:nvPr/>
        </p:nvSpPr>
        <p:spPr>
          <a:xfrm>
            <a:off x="2800350" y="786929"/>
            <a:ext cx="5857875" cy="600075"/>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Shipping intelligence matters because logistics failures reduce customer confidence at the last visible moment. The best system predicts risk early, orchestrates intervention fast, and turns reliability into repeat-order advantage.</a:t>
            </a:r>
            <a:endParaRPr lang="en-US" sz="1050" dirty="0"/>
          </a:p>
        </p:txBody>
      </p:sp>
      <p:sp>
        <p:nvSpPr>
          <p:cNvPr id="6" name="Text 3"/>
          <p:cNvSpPr/>
          <p:nvPr/>
        </p:nvSpPr>
        <p:spPr>
          <a:xfrm>
            <a:off x="485775" y="1529879"/>
            <a:ext cx="2520097"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BUSINESS LOGIC</a:t>
            </a:r>
            <a:endParaRPr lang="en-US" sz="634" dirty="0"/>
          </a:p>
        </p:txBody>
      </p:sp>
      <p:sp>
        <p:nvSpPr>
          <p:cNvPr id="7" name="Text 4"/>
          <p:cNvSpPr/>
          <p:nvPr/>
        </p:nvSpPr>
        <p:spPr>
          <a:xfrm>
            <a:off x="485775" y="1699543"/>
            <a:ext cx="2071688" cy="416012"/>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Delivery performance is a retention lever</a:t>
            </a:r>
            <a:endParaRPr lang="en-US" sz="1295" dirty="0"/>
          </a:p>
        </p:txBody>
      </p:sp>
      <p:sp>
        <p:nvSpPr>
          <p:cNvPr id="8" name="Text 5"/>
          <p:cNvSpPr/>
          <p:nvPr/>
        </p:nvSpPr>
        <p:spPr>
          <a:xfrm>
            <a:off x="485775" y="2172705"/>
            <a:ext cx="2520097" cy="68970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When a shipment slips, it changes how the customer remembers the entire order. That makes shipping reliability a commercial outcome, not just a logistics KPI.</a:t>
            </a:r>
            <a:endParaRPr lang="en-US" sz="888" dirty="0"/>
          </a:p>
        </p:txBody>
      </p:sp>
      <p:sp>
        <p:nvSpPr>
          <p:cNvPr id="9" name="Text 6"/>
          <p:cNvSpPr/>
          <p:nvPr/>
        </p:nvSpPr>
        <p:spPr>
          <a:xfrm>
            <a:off x="3120172" y="1529879"/>
            <a:ext cx="2794043"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REQUIRED AI / ML STACK</a:t>
            </a:r>
            <a:endParaRPr lang="en-US" sz="634" dirty="0"/>
          </a:p>
        </p:txBody>
      </p:sp>
      <p:sp>
        <p:nvSpPr>
          <p:cNvPr id="10" name="Text 7"/>
          <p:cNvSpPr/>
          <p:nvPr/>
        </p:nvSpPr>
        <p:spPr>
          <a:xfrm>
            <a:off x="3120172" y="1699543"/>
            <a:ext cx="2071688" cy="624018"/>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Prediction plus orchestration is the real capability</a:t>
            </a:r>
            <a:endParaRPr lang="en-US" sz="1295" dirty="0"/>
          </a:p>
        </p:txBody>
      </p:sp>
      <p:sp>
        <p:nvSpPr>
          <p:cNvPr id="11" name="Text 8"/>
          <p:cNvSpPr/>
          <p:nvPr/>
        </p:nvSpPr>
        <p:spPr>
          <a:xfrm>
            <a:off x="3120172" y="2380710"/>
            <a:ext cx="2794043" cy="689707"/>
          </a:xfrm>
          <a:prstGeom prst="rect">
            <a:avLst/>
          </a:prstGeom>
          <a:noFill/>
          <a:ln/>
        </p:spPr>
        <p:txBody>
          <a:bodyPr wrap="square" lIns="0" tIns="0" rIns="0" bIns="0" rtlCol="0" anchor="t">
            <a:spAutoFit/>
          </a:bodyPr>
          <a:lstStyle/>
          <a:p>
            <a:pPr marL="0" indent="0" algn="l">
              <a:lnSpc>
                <a:spcPts val="1400"/>
              </a:lnSpc>
              <a:buNone/>
            </a:pPr>
            <a:r>
              <a:rPr lang="en-US" sz="834" b="1" dirty="0">
                <a:solidFill>
                  <a:srgbClr val="123B6D"/>
                </a:solidFill>
                <a:latin typeface="Inter" pitchFamily="34" charset="0"/>
                <a:ea typeface="Inter" pitchFamily="34" charset="-122"/>
                <a:cs typeface="Inter" pitchFamily="34" charset="-120"/>
              </a:rPr>
              <a:t>Core models:</a:t>
            </a:r>
            <a:r>
              <a:rPr lang="en-US" sz="888" dirty="0">
                <a:solidFill>
                  <a:srgbClr val="334155"/>
                </a:solidFill>
                <a:latin typeface="Inter" pitchFamily="34" charset="0"/>
                <a:ea typeface="Inter" pitchFamily="34" charset="-122"/>
                <a:cs typeface="Inter" pitchFamily="34" charset="-120"/>
              </a:rPr>
              <a:t> ETA prediction, carrier ranking, and delay-risk scoring. </a:t>
            </a:r>
            <a:r>
              <a:rPr lang="en-US" sz="834" b="1" dirty="0">
                <a:solidFill>
                  <a:srgbClr val="123B6D"/>
                </a:solidFill>
                <a:latin typeface="Inter" pitchFamily="34" charset="0"/>
                <a:ea typeface="Inter" pitchFamily="34" charset="-122"/>
                <a:cs typeface="Inter" pitchFamily="34" charset="-120"/>
              </a:rPr>
              <a:t>Operating layer:</a:t>
            </a:r>
            <a:r>
              <a:rPr lang="en-US" sz="888" dirty="0">
                <a:solidFill>
                  <a:srgbClr val="334155"/>
                </a:solidFill>
                <a:latin typeface="Inter" pitchFamily="34" charset="0"/>
                <a:ea typeface="Inter" pitchFamily="34" charset="-122"/>
                <a:cs typeface="Inter" pitchFamily="34" charset="-120"/>
              </a:rPr>
              <a:t> orchestration that triggers interventions and proactive communication.</a:t>
            </a:r>
            <a:endParaRPr lang="en-US" sz="834" dirty="0"/>
          </a:p>
        </p:txBody>
      </p:sp>
      <p:sp>
        <p:nvSpPr>
          <p:cNvPr id="12" name="Text 9"/>
          <p:cNvSpPr/>
          <p:nvPr/>
        </p:nvSpPr>
        <p:spPr>
          <a:xfrm>
            <a:off x="3120172" y="3113280"/>
            <a:ext cx="2794043" cy="509439"/>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Skills:</a:t>
            </a:r>
            <a:r>
              <a:rPr lang="en-US" sz="834" dirty="0">
                <a:solidFill>
                  <a:srgbClr val="334155"/>
                </a:solidFill>
                <a:latin typeface="Inter" pitchFamily="34" charset="0"/>
                <a:ea typeface="Inter" pitchFamily="34" charset="-122"/>
                <a:cs typeface="Inter" pitchFamily="34" charset="-120"/>
              </a:rPr>
              <a:t> time-to-event prediction, ranking systems, document classification, and exception management.</a:t>
            </a:r>
            <a:endParaRPr lang="en-US" sz="784" dirty="0"/>
          </a:p>
        </p:txBody>
      </p:sp>
      <p:sp>
        <p:nvSpPr>
          <p:cNvPr id="13" name="Text 10"/>
          <p:cNvSpPr/>
          <p:nvPr/>
        </p:nvSpPr>
        <p:spPr>
          <a:xfrm>
            <a:off x="6028516" y="1529879"/>
            <a:ext cx="2629681" cy="112514"/>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D4ED8"/>
                </a:solidFill>
                <a:latin typeface="Inter" pitchFamily="34" charset="0"/>
                <a:ea typeface="Inter" pitchFamily="34" charset="-122"/>
                <a:cs typeface="Inter" pitchFamily="34" charset="-120"/>
              </a:rPr>
              <a:t>IMPLEMENTATION + METRICS</a:t>
            </a:r>
            <a:endParaRPr lang="en-US" sz="634" dirty="0"/>
          </a:p>
        </p:txBody>
      </p:sp>
      <p:sp>
        <p:nvSpPr>
          <p:cNvPr id="14" name="Text 11"/>
          <p:cNvSpPr/>
          <p:nvPr/>
        </p:nvSpPr>
        <p:spPr>
          <a:xfrm>
            <a:off x="6028516" y="1699543"/>
            <a:ext cx="2071688" cy="624018"/>
          </a:xfrm>
          <a:prstGeom prst="rect">
            <a:avLst/>
          </a:prstGeom>
          <a:noFill/>
          <a:ln/>
        </p:spPr>
        <p:txBody>
          <a:bodyPr wrap="square" lIns="0" tIns="0" rIns="0" bIns="0" rtlCol="0" anchor="t">
            <a:spAutoFit/>
          </a:bodyPr>
          <a:lstStyle/>
          <a:p>
            <a:pPr marL="0" indent="0" algn="l">
              <a:lnSpc>
                <a:spcPts val="1600"/>
              </a:lnSpc>
              <a:buNone/>
            </a:pPr>
            <a:r>
              <a:rPr lang="en-US" sz="1295" b="1" dirty="0">
                <a:solidFill>
                  <a:srgbClr val="123B6D"/>
                </a:solidFill>
                <a:latin typeface="Inter" pitchFamily="34" charset="0"/>
                <a:ea typeface="Inter" pitchFamily="34" charset="-122"/>
                <a:cs typeface="Inter" pitchFamily="34" charset="-120"/>
              </a:rPr>
              <a:t>Start with internal alerts, then expose service value</a:t>
            </a:r>
            <a:endParaRPr lang="en-US" sz="1295" dirty="0"/>
          </a:p>
        </p:txBody>
      </p:sp>
      <p:sp>
        <p:nvSpPr>
          <p:cNvPr id="15" name="Text 12"/>
          <p:cNvSpPr/>
          <p:nvPr/>
        </p:nvSpPr>
        <p:spPr>
          <a:xfrm>
            <a:off x="6028516" y="2380710"/>
            <a:ext cx="2629681" cy="68970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Launch with internal predictive alerts so operations can validate precision and refine intervention playbooks before customers see outputs.</a:t>
            </a:r>
            <a:endParaRPr lang="en-US" sz="888" dirty="0"/>
          </a:p>
        </p:txBody>
      </p:sp>
      <p:sp>
        <p:nvSpPr>
          <p:cNvPr id="16" name="Text 13"/>
          <p:cNvSpPr/>
          <p:nvPr/>
        </p:nvSpPr>
        <p:spPr>
          <a:xfrm>
            <a:off x="6028516" y="3113280"/>
            <a:ext cx="1262239" cy="662583"/>
          </a:xfrm>
          <a:prstGeom prst="rect">
            <a:avLst/>
          </a:prstGeom>
          <a:noFill/>
          <a:ln/>
        </p:spPr>
        <p:txBody>
          <a:bodyPr wrap="square" lIns="0" tIns="0"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OTIF</a:t>
            </a:r>
            <a:r>
              <a:rPr lang="en-US" sz="834" dirty="0">
                <a:solidFill>
                  <a:srgbClr val="334155"/>
                </a:solidFill>
                <a:latin typeface="Inter" pitchFamily="34" charset="0"/>
                <a:ea typeface="Inter" pitchFamily="34" charset="-122"/>
                <a:cs typeface="Inter" pitchFamily="34" charset="-120"/>
              </a:rPr>
              <a:t>
On-time and in-full performance on targeted lanes.</a:t>
            </a:r>
            <a:endParaRPr lang="en-US" sz="784" dirty="0"/>
          </a:p>
        </p:txBody>
      </p:sp>
      <p:sp>
        <p:nvSpPr>
          <p:cNvPr id="17" name="Text 14"/>
          <p:cNvSpPr/>
          <p:nvPr/>
        </p:nvSpPr>
        <p:spPr>
          <a:xfrm>
            <a:off x="7376480" y="3113280"/>
            <a:ext cx="1262239"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Delay precision</a:t>
            </a:r>
            <a:r>
              <a:rPr lang="en-US" sz="834" dirty="0">
                <a:solidFill>
                  <a:srgbClr val="334155"/>
                </a:solidFill>
                <a:latin typeface="Inter" pitchFamily="34" charset="0"/>
                <a:ea typeface="Inter" pitchFamily="34" charset="-122"/>
                <a:cs typeface="Inter" pitchFamily="34" charset="-120"/>
              </a:rPr>
              <a:t>
Are alerts early and accurate enough to act on?</a:t>
            </a:r>
            <a:endParaRPr lang="en-US" sz="784" dirty="0"/>
          </a:p>
        </p:txBody>
      </p:sp>
      <p:sp>
        <p:nvSpPr>
          <p:cNvPr id="18" name="Text 15"/>
          <p:cNvSpPr/>
          <p:nvPr/>
        </p:nvSpPr>
        <p:spPr>
          <a:xfrm>
            <a:off x="6028516" y="3875875"/>
            <a:ext cx="1262239"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Support tickets</a:t>
            </a:r>
            <a:r>
              <a:rPr lang="en-US" sz="834" dirty="0">
                <a:solidFill>
                  <a:srgbClr val="334155"/>
                </a:solidFill>
                <a:latin typeface="Inter" pitchFamily="34" charset="0"/>
                <a:ea typeface="Inter" pitchFamily="34" charset="-122"/>
                <a:cs typeface="Inter" pitchFamily="34" charset="-120"/>
              </a:rPr>
              <a:t>
Reactive service load per shipment.</a:t>
            </a:r>
            <a:endParaRPr lang="en-US" sz="784" dirty="0"/>
          </a:p>
        </p:txBody>
      </p:sp>
      <p:sp>
        <p:nvSpPr>
          <p:cNvPr id="19" name="Text 16"/>
          <p:cNvSpPr/>
          <p:nvPr/>
        </p:nvSpPr>
        <p:spPr>
          <a:xfrm>
            <a:off x="7376480" y="3875875"/>
            <a:ext cx="1262239" cy="662583"/>
          </a:xfrm>
          <a:prstGeom prst="rect">
            <a:avLst/>
          </a:prstGeom>
          <a:noFill/>
          <a:ln/>
        </p:spPr>
        <p:txBody>
          <a:bodyPr wrap="square" lIns="0" tIns="51054" rIns="0" bIns="0" rtlCol="0" anchor="t">
            <a:spAutoFit/>
          </a:bodyPr>
          <a:lstStyle/>
          <a:p>
            <a:pPr marL="0" indent="0" algn="l">
              <a:lnSpc>
                <a:spcPts val="1200"/>
              </a:lnSpc>
              <a:buNone/>
            </a:pPr>
            <a:r>
              <a:rPr lang="en-US" sz="784" b="1" dirty="0">
                <a:solidFill>
                  <a:srgbClr val="123B6D"/>
                </a:solidFill>
                <a:latin typeface="Inter" pitchFamily="34" charset="0"/>
                <a:ea typeface="Inter" pitchFamily="34" charset="-122"/>
                <a:cs typeface="Inter" pitchFamily="34" charset="-120"/>
              </a:rPr>
              <a:t>Retention</a:t>
            </a:r>
            <a:r>
              <a:rPr lang="en-US" sz="834" dirty="0">
                <a:solidFill>
                  <a:srgbClr val="334155"/>
                </a:solidFill>
                <a:latin typeface="Inter" pitchFamily="34" charset="0"/>
                <a:ea typeface="Inter" pitchFamily="34" charset="-122"/>
                <a:cs typeface="Inter" pitchFamily="34" charset="-120"/>
              </a:rPr>
              <a:t>
Repeat-order confidence after shipping issues.</a:t>
            </a:r>
            <a:endParaRPr lang="en-US" sz="784" dirty="0"/>
          </a:p>
        </p:txBody>
      </p:sp>
      <p:sp>
        <p:nvSpPr>
          <p:cNvPr id="20" name="Text 17"/>
          <p:cNvSpPr/>
          <p:nvPr/>
        </p:nvSpPr>
        <p:spPr>
          <a:xfrm>
            <a:off x="485775" y="4624183"/>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1" name="Text 18"/>
          <p:cNvSpPr/>
          <p:nvPr/>
        </p:nvSpPr>
        <p:spPr>
          <a:xfrm>
            <a:off x="4339465" y="4624183"/>
            <a:ext cx="4318760"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STAGE 9 COMPANION · PREDICTIVE LOGISTICS, IMPLEMENTATION, AND METRICS</a:t>
            </a:r>
            <a:endParaRPr lang="en-US" sz="727"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57200" y="442913"/>
            <a:ext cx="2000250" cy="171450"/>
          </a:xfrm>
          <a:prstGeom prst="rect">
            <a:avLst/>
          </a:prstGeom>
          <a:noFill/>
          <a:ln/>
        </p:spPr>
        <p:txBody>
          <a:bodyPr wrap="non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STRATEGIC SEQUENCING</a:t>
            </a:r>
            <a:endParaRPr lang="en-US" sz="734" dirty="0"/>
          </a:p>
        </p:txBody>
      </p:sp>
      <p:sp>
        <p:nvSpPr>
          <p:cNvPr id="4" name="Text 1"/>
          <p:cNvSpPr/>
          <p:nvPr/>
        </p:nvSpPr>
        <p:spPr>
          <a:xfrm>
            <a:off x="2628900" y="442913"/>
            <a:ext cx="6057900" cy="287731"/>
          </a:xfrm>
          <a:prstGeom prst="rect">
            <a:avLst/>
          </a:prstGeom>
          <a:noFill/>
          <a:ln/>
        </p:spPr>
        <p:txBody>
          <a:bodyPr wrap="none" lIns="0" tIns="0" rIns="0" bIns="0" rtlCol="0" anchor="t">
            <a:spAutoFit/>
          </a:bodyPr>
          <a:lstStyle/>
          <a:p>
            <a:pPr marL="0" indent="0" algn="l">
              <a:lnSpc>
                <a:spcPts val="2300"/>
              </a:lnSpc>
              <a:buNone/>
            </a:pPr>
            <a:r>
              <a:rPr lang="en-US" sz="1912" b="1" dirty="0">
                <a:solidFill>
                  <a:srgbClr val="123B6D"/>
                </a:solidFill>
                <a:latin typeface="Inter" pitchFamily="34" charset="0"/>
                <a:ea typeface="Inter" pitchFamily="34" charset="-122"/>
                <a:cs typeface="Inter" pitchFamily="34" charset="-120"/>
              </a:rPr>
              <a:t>Where I Would Start</a:t>
            </a:r>
            <a:endParaRPr lang="en-US" sz="1912" dirty="0"/>
          </a:p>
        </p:txBody>
      </p:sp>
      <p:sp>
        <p:nvSpPr>
          <p:cNvPr id="5" name="Text 2"/>
          <p:cNvSpPr/>
          <p:nvPr/>
        </p:nvSpPr>
        <p:spPr>
          <a:xfrm>
            <a:off x="2628900" y="802081"/>
            <a:ext cx="6057900" cy="669475"/>
          </a:xfrm>
          <a:prstGeom prst="rect">
            <a:avLst/>
          </a:prstGeom>
          <a:noFill/>
          <a:ln/>
        </p:spPr>
        <p:txBody>
          <a:bodyPr wrap="square" lIns="0" tIns="0" rIns="0" bIns="0" rtlCol="0" anchor="t">
            <a:spAutoFit/>
          </a:bodyPr>
          <a:lstStyle/>
          <a:p>
            <a:pPr marL="0" indent="0" algn="l">
              <a:lnSpc>
                <a:spcPts val="1800"/>
              </a:lnSpc>
              <a:buNone/>
            </a:pPr>
            <a:r>
              <a:rPr lang="en-US" sz="1159" dirty="0">
                <a:solidFill>
                  <a:srgbClr val="334155"/>
                </a:solidFill>
                <a:latin typeface="Inter" pitchFamily="34" charset="0"/>
                <a:ea typeface="Inter" pitchFamily="34" charset="-122"/>
                <a:cs typeface="Inter" pitchFamily="34" charset="-120"/>
              </a:rPr>
              <a:t>With a small team, sequence beats parallelism. The right first wedge is the one that opens revenue, creates structured data, and makes every later AI system easier to ship, trust, and improve.</a:t>
            </a:r>
            <a:endParaRPr lang="en-US" sz="1159" dirty="0"/>
          </a:p>
        </p:txBody>
      </p:sp>
      <p:sp>
        <p:nvSpPr>
          <p:cNvPr id="6" name="Text 3"/>
          <p:cNvSpPr/>
          <p:nvPr/>
        </p:nvSpPr>
        <p:spPr>
          <a:xfrm>
            <a:off x="457200" y="1843032"/>
            <a:ext cx="8229600"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1D4ED8"/>
                </a:solidFill>
                <a:latin typeface="Inter" pitchFamily="34" charset="0"/>
                <a:ea typeface="Inter" pitchFamily="34" charset="-122"/>
                <a:cs typeface="Inter" pitchFamily="34" charset="-120"/>
              </a:rPr>
              <a:t>RECOMMENDED ORDER OF ATTACK</a:t>
            </a:r>
            <a:endParaRPr lang="en-US" sz="784" dirty="0"/>
          </a:p>
        </p:txBody>
      </p:sp>
      <p:sp>
        <p:nvSpPr>
          <p:cNvPr id="7" name="Text 4"/>
          <p:cNvSpPr/>
          <p:nvPr/>
        </p:nvSpPr>
        <p:spPr>
          <a:xfrm>
            <a:off x="457200" y="2216293"/>
            <a:ext cx="157162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1D4ED8"/>
                </a:solidFill>
                <a:latin typeface="Inter" pitchFamily="34" charset="0"/>
                <a:ea typeface="Inter" pitchFamily="34" charset="-122"/>
                <a:cs typeface="Inter" pitchFamily="34" charset="-120"/>
              </a:rPr>
              <a:t>1</a:t>
            </a:r>
            <a:endParaRPr lang="en-US" sz="1397" dirty="0"/>
          </a:p>
        </p:txBody>
      </p:sp>
      <p:sp>
        <p:nvSpPr>
          <p:cNvPr id="8" name="Text 5"/>
          <p:cNvSpPr/>
          <p:nvPr/>
        </p:nvSpPr>
        <p:spPr>
          <a:xfrm>
            <a:off x="457200" y="2502043"/>
            <a:ext cx="1464469" cy="384032"/>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Multimodal Intake</a:t>
            </a:r>
            <a:endParaRPr lang="en-US" sz="1193" dirty="0"/>
          </a:p>
        </p:txBody>
      </p:sp>
      <p:sp>
        <p:nvSpPr>
          <p:cNvPr id="9" name="Text 6"/>
          <p:cNvSpPr/>
          <p:nvPr/>
        </p:nvSpPr>
        <p:spPr>
          <a:xfrm>
            <a:off x="457200" y="2971800"/>
            <a:ext cx="1464469" cy="1551840"/>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Start here because it opens </a:t>
            </a:r>
            <a:r>
              <a:rPr lang="en-US" sz="834" b="1" dirty="0">
                <a:solidFill>
                  <a:srgbClr val="123B6D"/>
                </a:solidFill>
                <a:latin typeface="Inter" pitchFamily="34" charset="0"/>
                <a:ea typeface="Inter" pitchFamily="34" charset="-122"/>
                <a:cs typeface="Inter" pitchFamily="34" charset="-120"/>
              </a:rPr>
              <a:t>new no-CAD demand</a:t>
            </a:r>
            <a:r>
              <a:rPr lang="en-US" sz="888" dirty="0">
                <a:solidFill>
                  <a:srgbClr val="334155"/>
                </a:solidFill>
                <a:latin typeface="Inter" pitchFamily="34" charset="0"/>
                <a:ea typeface="Inter" pitchFamily="34" charset="-122"/>
                <a:cs typeface="Inter" pitchFamily="34" charset="-120"/>
              </a:rPr>
              <a:t> and creates the canonical Order Object. Every later system depends on cleaner intake, structured fields, confidence scores, and human corrections.</a:t>
            </a:r>
            <a:endParaRPr lang="en-US" sz="888" dirty="0"/>
          </a:p>
        </p:txBody>
      </p:sp>
      <p:sp>
        <p:nvSpPr>
          <p:cNvPr id="10" name="Text 7"/>
          <p:cNvSpPr/>
          <p:nvPr/>
        </p:nvSpPr>
        <p:spPr>
          <a:xfrm>
            <a:off x="2028825" y="2094849"/>
            <a:ext cx="257175" cy="1194792"/>
          </a:xfrm>
          <a:prstGeom prst="rect">
            <a:avLst/>
          </a:prstGeom>
          <a:noFill/>
          <a:ln/>
        </p:spPr>
        <p:txBody>
          <a:bodyPr wrap="square" lIns="0" tIns="1071626" rIns="0" bIns="0" rtlCol="0" anchor="t">
            <a:spAutoFit/>
          </a:bodyPr>
          <a:lstStyle/>
          <a:p>
            <a:pPr marL="0" indent="0" algn="ctr">
              <a:lnSpc>
                <a:spcPts val="2300"/>
              </a:lnSpc>
              <a:buNone/>
            </a:pPr>
            <a:r>
              <a:rPr lang="en-US" sz="1705" b="1" dirty="0">
                <a:solidFill>
                  <a:srgbClr val="1D4ED8"/>
                </a:solidFill>
                <a:latin typeface="Inter" pitchFamily="34" charset="0"/>
                <a:ea typeface="Inter" pitchFamily="34" charset="-122"/>
                <a:cs typeface="Inter" pitchFamily="34" charset="-120"/>
              </a:rPr>
              <a:t>→</a:t>
            </a:r>
            <a:endParaRPr lang="en-US" sz="1705" dirty="0"/>
          </a:p>
        </p:txBody>
      </p:sp>
      <p:sp>
        <p:nvSpPr>
          <p:cNvPr id="11" name="Text 8"/>
          <p:cNvSpPr/>
          <p:nvPr/>
        </p:nvSpPr>
        <p:spPr>
          <a:xfrm>
            <a:off x="2286000" y="2216293"/>
            <a:ext cx="157162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1D4ED8"/>
                </a:solidFill>
                <a:latin typeface="Inter" pitchFamily="34" charset="0"/>
                <a:ea typeface="Inter" pitchFamily="34" charset="-122"/>
                <a:cs typeface="Inter" pitchFamily="34" charset="-120"/>
              </a:rPr>
              <a:t>2</a:t>
            </a:r>
            <a:endParaRPr lang="en-US" sz="1397" dirty="0"/>
          </a:p>
        </p:txBody>
      </p:sp>
      <p:sp>
        <p:nvSpPr>
          <p:cNvPr id="12" name="Text 9"/>
          <p:cNvSpPr/>
          <p:nvPr/>
        </p:nvSpPr>
        <p:spPr>
          <a:xfrm>
            <a:off x="2286000" y="2502043"/>
            <a:ext cx="1464469" cy="384032"/>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Routing Intelligence</a:t>
            </a:r>
            <a:endParaRPr lang="en-US" sz="1193" dirty="0"/>
          </a:p>
        </p:txBody>
      </p:sp>
      <p:sp>
        <p:nvSpPr>
          <p:cNvPr id="13" name="Text 10"/>
          <p:cNvSpPr/>
          <p:nvPr/>
        </p:nvSpPr>
        <p:spPr>
          <a:xfrm>
            <a:off x="2286000" y="2971800"/>
            <a:ext cx="1464469" cy="172426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Once intake is structured, routing can learn from geometry, material, quality, and partner outcomes. This is the strongest moat because the network data compounds and competitors cannot copy it easily.</a:t>
            </a:r>
            <a:endParaRPr lang="en-US" sz="888" dirty="0"/>
          </a:p>
        </p:txBody>
      </p:sp>
      <p:sp>
        <p:nvSpPr>
          <p:cNvPr id="14" name="Text 11"/>
          <p:cNvSpPr/>
          <p:nvPr/>
        </p:nvSpPr>
        <p:spPr>
          <a:xfrm>
            <a:off x="3857625" y="2094849"/>
            <a:ext cx="257175" cy="1194792"/>
          </a:xfrm>
          <a:prstGeom prst="rect">
            <a:avLst/>
          </a:prstGeom>
          <a:noFill/>
          <a:ln/>
        </p:spPr>
        <p:txBody>
          <a:bodyPr wrap="square" lIns="0" tIns="1071626" rIns="0" bIns="0" rtlCol="0" anchor="t">
            <a:spAutoFit/>
          </a:bodyPr>
          <a:lstStyle/>
          <a:p>
            <a:pPr marL="0" indent="0" algn="ctr">
              <a:lnSpc>
                <a:spcPts val="2300"/>
              </a:lnSpc>
              <a:buNone/>
            </a:pPr>
            <a:r>
              <a:rPr lang="en-US" sz="1705" b="1" dirty="0">
                <a:solidFill>
                  <a:srgbClr val="1D4ED8"/>
                </a:solidFill>
                <a:latin typeface="Inter" pitchFamily="34" charset="0"/>
                <a:ea typeface="Inter" pitchFamily="34" charset="-122"/>
                <a:cs typeface="Inter" pitchFamily="34" charset="-120"/>
              </a:rPr>
              <a:t>→</a:t>
            </a:r>
            <a:endParaRPr lang="en-US" sz="1705" dirty="0"/>
          </a:p>
        </p:txBody>
      </p:sp>
      <p:sp>
        <p:nvSpPr>
          <p:cNvPr id="15" name="Text 12"/>
          <p:cNvSpPr/>
          <p:nvPr/>
        </p:nvSpPr>
        <p:spPr>
          <a:xfrm>
            <a:off x="4114800" y="2216293"/>
            <a:ext cx="157162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1D4ED8"/>
                </a:solidFill>
                <a:latin typeface="Inter" pitchFamily="34" charset="0"/>
                <a:ea typeface="Inter" pitchFamily="34" charset="-122"/>
                <a:cs typeface="Inter" pitchFamily="34" charset="-120"/>
              </a:rPr>
              <a:t>3</a:t>
            </a:r>
            <a:endParaRPr lang="en-US" sz="1397" dirty="0"/>
          </a:p>
        </p:txBody>
      </p:sp>
      <p:sp>
        <p:nvSpPr>
          <p:cNvPr id="16" name="Text 13"/>
          <p:cNvSpPr/>
          <p:nvPr/>
        </p:nvSpPr>
        <p:spPr>
          <a:xfrm>
            <a:off x="4114800" y="2502043"/>
            <a:ext cx="1464469" cy="192016"/>
          </a:xfrm>
          <a:prstGeom prst="rect">
            <a:avLst/>
          </a:prstGeom>
          <a:noFill/>
          <a:ln/>
        </p:spPr>
        <p:txBody>
          <a:bodyPr wrap="non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Engineer Copilot</a:t>
            </a:r>
            <a:endParaRPr lang="en-US" sz="1193" dirty="0"/>
          </a:p>
        </p:txBody>
      </p:sp>
      <p:sp>
        <p:nvSpPr>
          <p:cNvPr id="17" name="Text 14"/>
          <p:cNvSpPr/>
          <p:nvPr/>
        </p:nvSpPr>
        <p:spPr>
          <a:xfrm>
            <a:off x="4114800" y="2779784"/>
            <a:ext cx="1464469" cy="1379413"/>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Ship this early enough to win internal trust. It gives engineers time back quickly, improves response speed, and turns their edits into high-quality feedback data for later systems.</a:t>
            </a:r>
            <a:endParaRPr lang="en-US" sz="888" dirty="0"/>
          </a:p>
        </p:txBody>
      </p:sp>
      <p:sp>
        <p:nvSpPr>
          <p:cNvPr id="18" name="Text 15"/>
          <p:cNvSpPr/>
          <p:nvPr/>
        </p:nvSpPr>
        <p:spPr>
          <a:xfrm>
            <a:off x="5686425" y="2094849"/>
            <a:ext cx="257175" cy="1194792"/>
          </a:xfrm>
          <a:prstGeom prst="rect">
            <a:avLst/>
          </a:prstGeom>
          <a:noFill/>
          <a:ln/>
        </p:spPr>
        <p:txBody>
          <a:bodyPr wrap="square" lIns="0" tIns="1071626" rIns="0" bIns="0" rtlCol="0" anchor="t">
            <a:spAutoFit/>
          </a:bodyPr>
          <a:lstStyle/>
          <a:p>
            <a:pPr marL="0" indent="0" algn="ctr">
              <a:lnSpc>
                <a:spcPts val="2300"/>
              </a:lnSpc>
              <a:buNone/>
            </a:pPr>
            <a:r>
              <a:rPr lang="en-US" sz="1705" b="1" dirty="0">
                <a:solidFill>
                  <a:srgbClr val="1D4ED8"/>
                </a:solidFill>
                <a:latin typeface="Inter" pitchFamily="34" charset="0"/>
                <a:ea typeface="Inter" pitchFamily="34" charset="-122"/>
                <a:cs typeface="Inter" pitchFamily="34" charset="-120"/>
              </a:rPr>
              <a:t>→</a:t>
            </a:r>
            <a:endParaRPr lang="en-US" sz="1705" dirty="0"/>
          </a:p>
        </p:txBody>
      </p:sp>
      <p:sp>
        <p:nvSpPr>
          <p:cNvPr id="19" name="Text 16"/>
          <p:cNvSpPr/>
          <p:nvPr/>
        </p:nvSpPr>
        <p:spPr>
          <a:xfrm>
            <a:off x="5943600" y="2216293"/>
            <a:ext cx="157162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1D4ED8"/>
                </a:solidFill>
                <a:latin typeface="Inter" pitchFamily="34" charset="0"/>
                <a:ea typeface="Inter" pitchFamily="34" charset="-122"/>
                <a:cs typeface="Inter" pitchFamily="34" charset="-120"/>
              </a:rPr>
              <a:t>4</a:t>
            </a:r>
            <a:endParaRPr lang="en-US" sz="1397" dirty="0"/>
          </a:p>
        </p:txBody>
      </p:sp>
      <p:sp>
        <p:nvSpPr>
          <p:cNvPr id="20" name="Text 17"/>
          <p:cNvSpPr/>
          <p:nvPr/>
        </p:nvSpPr>
        <p:spPr>
          <a:xfrm>
            <a:off x="5943600" y="2502043"/>
            <a:ext cx="1464469" cy="192016"/>
          </a:xfrm>
          <a:prstGeom prst="rect">
            <a:avLst/>
          </a:prstGeom>
          <a:noFill/>
          <a:ln/>
        </p:spPr>
        <p:txBody>
          <a:bodyPr wrap="non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Vision QA</a:t>
            </a:r>
            <a:endParaRPr lang="en-US" sz="1193" dirty="0"/>
          </a:p>
        </p:txBody>
      </p:sp>
      <p:sp>
        <p:nvSpPr>
          <p:cNvPr id="21" name="Text 18"/>
          <p:cNvSpPr/>
          <p:nvPr/>
        </p:nvSpPr>
        <p:spPr>
          <a:xfrm>
            <a:off x="5943600" y="2779784"/>
            <a:ext cx="1464469" cy="172426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After core workflow data exists, deploy vision where scrap or inspection load is highest. The ROI is clear, the compliance story is strong, and the organization can now absorb a camera-and-model workflow.</a:t>
            </a:r>
            <a:endParaRPr lang="en-US" sz="888" dirty="0"/>
          </a:p>
        </p:txBody>
      </p:sp>
      <p:sp>
        <p:nvSpPr>
          <p:cNvPr id="22" name="Text 19"/>
          <p:cNvSpPr/>
          <p:nvPr/>
        </p:nvSpPr>
        <p:spPr>
          <a:xfrm>
            <a:off x="7515225" y="2094849"/>
            <a:ext cx="257175" cy="1194792"/>
          </a:xfrm>
          <a:prstGeom prst="rect">
            <a:avLst/>
          </a:prstGeom>
          <a:noFill/>
          <a:ln/>
        </p:spPr>
        <p:txBody>
          <a:bodyPr wrap="square" lIns="0" tIns="1071626" rIns="0" bIns="0" rtlCol="0" anchor="t">
            <a:spAutoFit/>
          </a:bodyPr>
          <a:lstStyle/>
          <a:p>
            <a:pPr marL="0" indent="0" algn="ctr">
              <a:lnSpc>
                <a:spcPts val="2300"/>
              </a:lnSpc>
              <a:buNone/>
            </a:pPr>
            <a:r>
              <a:rPr lang="en-US" sz="1705" b="1" dirty="0">
                <a:solidFill>
                  <a:srgbClr val="1D4ED8"/>
                </a:solidFill>
                <a:latin typeface="Inter" pitchFamily="34" charset="0"/>
                <a:ea typeface="Inter" pitchFamily="34" charset="-122"/>
                <a:cs typeface="Inter" pitchFamily="34" charset="-120"/>
              </a:rPr>
              <a:t>→</a:t>
            </a:r>
            <a:endParaRPr lang="en-US" sz="1705" dirty="0"/>
          </a:p>
        </p:txBody>
      </p:sp>
      <p:sp>
        <p:nvSpPr>
          <p:cNvPr id="23" name="Text 20"/>
          <p:cNvSpPr/>
          <p:nvPr/>
        </p:nvSpPr>
        <p:spPr>
          <a:xfrm>
            <a:off x="7772400" y="2216293"/>
            <a:ext cx="157162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1D4ED8"/>
                </a:solidFill>
                <a:latin typeface="Inter" pitchFamily="34" charset="0"/>
                <a:ea typeface="Inter" pitchFamily="34" charset="-122"/>
                <a:cs typeface="Inter" pitchFamily="34" charset="-120"/>
              </a:rPr>
              <a:t>5</a:t>
            </a:r>
            <a:endParaRPr lang="en-US" sz="1397" dirty="0"/>
          </a:p>
        </p:txBody>
      </p:sp>
      <p:sp>
        <p:nvSpPr>
          <p:cNvPr id="24" name="Text 21"/>
          <p:cNvSpPr/>
          <p:nvPr/>
        </p:nvSpPr>
        <p:spPr>
          <a:xfrm>
            <a:off x="7772400" y="2502043"/>
            <a:ext cx="1464469" cy="384032"/>
          </a:xfrm>
          <a:prstGeom prst="rect">
            <a:avLst/>
          </a:prstGeom>
          <a:noFill/>
          <a:ln/>
        </p:spPr>
        <p:txBody>
          <a:bodyPr wrap="square" lIns="0" tIns="0" rIns="0" bIns="0" rtlCol="0" anchor="t">
            <a:spAutoFit/>
          </a:bodyPr>
          <a:lstStyle/>
          <a:p>
            <a:pPr marL="0" indent="0" algn="l">
              <a:lnSpc>
                <a:spcPts val="1500"/>
              </a:lnSpc>
              <a:buNone/>
            </a:pPr>
            <a:r>
              <a:rPr lang="en-US" sz="1193" b="1" dirty="0">
                <a:solidFill>
                  <a:srgbClr val="123B6D"/>
                </a:solidFill>
                <a:latin typeface="Inter" pitchFamily="34" charset="0"/>
                <a:ea typeface="Inter" pitchFamily="34" charset="-122"/>
                <a:cs typeface="Inter" pitchFamily="34" charset="-120"/>
              </a:rPr>
              <a:t>Quote-to-Actual Loop</a:t>
            </a:r>
            <a:endParaRPr lang="en-US" sz="1193" dirty="0"/>
          </a:p>
        </p:txBody>
      </p:sp>
      <p:sp>
        <p:nvSpPr>
          <p:cNvPr id="25" name="Text 22"/>
          <p:cNvSpPr/>
          <p:nvPr/>
        </p:nvSpPr>
        <p:spPr>
          <a:xfrm>
            <a:off x="7772400" y="2971800"/>
            <a:ext cx="1464469" cy="1724267"/>
          </a:xfrm>
          <a:prstGeom prst="rect">
            <a:avLst/>
          </a:prstGeom>
          <a:noFill/>
          <a:ln/>
        </p:spPr>
        <p:txBody>
          <a:bodyPr wrap="square" lIns="0" tIns="0" rIns="0" bIns="0" rtlCol="0" anchor="t">
            <a:spAutoFit/>
          </a:bodyPr>
          <a:lstStyle/>
          <a:p>
            <a:pPr marL="0" indent="0" algn="l">
              <a:lnSpc>
                <a:spcPts val="1400"/>
              </a:lnSpc>
              <a:buNone/>
            </a:pPr>
            <a:r>
              <a:rPr lang="en-US" sz="888" dirty="0">
                <a:solidFill>
                  <a:srgbClr val="334155"/>
                </a:solidFill>
                <a:latin typeface="Inter" pitchFamily="34" charset="0"/>
                <a:ea typeface="Inter" pitchFamily="34" charset="-122"/>
                <a:cs typeface="Inter" pitchFamily="34" charset="-120"/>
              </a:rPr>
              <a:t>Close the flywheel by feeding pricing, delivery, routing, and quality outcomes back into decision systems. This is where the roadmap stops being a set of features and becomes a compounding operating model.</a:t>
            </a:r>
            <a:endParaRPr lang="en-US" sz="888" dirty="0"/>
          </a:p>
        </p:txBody>
      </p:sp>
      <p:sp>
        <p:nvSpPr>
          <p:cNvPr id="26" name="Text 23"/>
          <p:cNvSpPr/>
          <p:nvPr/>
        </p:nvSpPr>
        <p:spPr>
          <a:xfrm>
            <a:off x="457200" y="4838942"/>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7" name="Text 24"/>
          <p:cNvSpPr/>
          <p:nvPr/>
        </p:nvSpPr>
        <p:spPr>
          <a:xfrm>
            <a:off x="5576395" y="4838942"/>
            <a:ext cx="3110405"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SEQUENCE FIRST, THEN COMPOUND THE LEARNING LOOP</a:t>
            </a:r>
            <a:endParaRPr lang="en-US" sz="727"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05323"/>
          </a:xfrm>
          <a:prstGeom prst="rect">
            <a:avLst/>
          </a:prstGeom>
        </p:spPr>
      </p:pic>
      <p:sp>
        <p:nvSpPr>
          <p:cNvPr id="3" name="Text 0"/>
          <p:cNvSpPr/>
          <p:nvPr/>
        </p:nvSpPr>
        <p:spPr>
          <a:xfrm>
            <a:off x="457200" y="442913"/>
            <a:ext cx="2071688" cy="300038"/>
          </a:xfrm>
          <a:prstGeom prst="rect">
            <a:avLst/>
          </a:prstGeom>
          <a:noFill/>
          <a:ln/>
        </p:spPr>
        <p:txBody>
          <a:bodyPr wrap="square" lIns="0" tIns="51054"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EXECUTION BLUEPRINT · ENABLING STACK</a:t>
            </a:r>
            <a:endParaRPr lang="en-US" sz="734" dirty="0"/>
          </a:p>
        </p:txBody>
      </p:sp>
      <p:sp>
        <p:nvSpPr>
          <p:cNvPr id="4" name="Text 1"/>
          <p:cNvSpPr/>
          <p:nvPr/>
        </p:nvSpPr>
        <p:spPr>
          <a:xfrm>
            <a:off x="2700338" y="442913"/>
            <a:ext cx="5986463" cy="272579"/>
          </a:xfrm>
          <a:prstGeom prst="rect">
            <a:avLst/>
          </a:prstGeom>
          <a:noFill/>
          <a:ln/>
        </p:spPr>
        <p:txBody>
          <a:bodyPr wrap="none" lIns="0" tIns="0" rIns="0" bIns="0" rtlCol="0" anchor="t">
            <a:spAutoFit/>
          </a:bodyPr>
          <a:lstStyle/>
          <a:p>
            <a:pPr marL="0" indent="0" algn="l">
              <a:lnSpc>
                <a:spcPts val="2100"/>
              </a:lnSpc>
              <a:buNone/>
            </a:pPr>
            <a:r>
              <a:rPr lang="en-US" sz="1808" b="1" dirty="0">
                <a:solidFill>
                  <a:srgbClr val="123B6D"/>
                </a:solidFill>
                <a:latin typeface="Inter" pitchFamily="34" charset="0"/>
                <a:ea typeface="Inter" pitchFamily="34" charset="-122"/>
                <a:cs typeface="Inter" pitchFamily="34" charset="-120"/>
              </a:rPr>
              <a:t>The Capability Stack Required</a:t>
            </a:r>
            <a:endParaRPr lang="en-US" sz="1808" dirty="0"/>
          </a:p>
        </p:txBody>
      </p:sp>
      <p:sp>
        <p:nvSpPr>
          <p:cNvPr id="5" name="Text 2"/>
          <p:cNvSpPr/>
          <p:nvPr/>
        </p:nvSpPr>
        <p:spPr>
          <a:xfrm>
            <a:off x="2700338" y="786929"/>
            <a:ext cx="5986463" cy="800100"/>
          </a:xfrm>
          <a:prstGeom prst="rect">
            <a:avLst/>
          </a:prstGeom>
          <a:noFill/>
          <a:ln/>
        </p:spPr>
        <p:txBody>
          <a:bodyPr wrap="square" lIns="0" tIns="0" rIns="0" bIns="0" rtlCol="0" anchor="t">
            <a:spAutoFit/>
          </a:bodyPr>
          <a:lstStyle/>
          <a:p>
            <a:pPr marL="0" indent="0" algn="l">
              <a:lnSpc>
                <a:spcPts val="1600"/>
              </a:lnSpc>
              <a:buNone/>
            </a:pPr>
            <a:r>
              <a:rPr lang="en-US" sz="1050" dirty="0">
                <a:solidFill>
                  <a:srgbClr val="334155"/>
                </a:solidFill>
                <a:latin typeface="Inter" pitchFamily="34" charset="0"/>
                <a:ea typeface="Inter" pitchFamily="34" charset="-122"/>
                <a:cs typeface="Inter" pitchFamily="34" charset="-120"/>
              </a:rPr>
              <a:t>To execute this roadmap, Protolabs does not need one model. It needs a coordinated stack that combines decision intelligence, camera systems, data infrastructure, governance, and an operating model that turns human judgment into continuous improvement.</a:t>
            </a:r>
            <a:endParaRPr lang="en-US" sz="1050" dirty="0"/>
          </a:p>
        </p:txBody>
      </p:sp>
      <p:sp>
        <p:nvSpPr>
          <p:cNvPr id="6" name="Text 3"/>
          <p:cNvSpPr/>
          <p:nvPr/>
        </p:nvSpPr>
        <p:spPr>
          <a:xfrm>
            <a:off x="457200" y="1801341"/>
            <a:ext cx="1554463"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D4ED8"/>
                </a:solidFill>
                <a:latin typeface="Inter" pitchFamily="34" charset="0"/>
                <a:ea typeface="Inter" pitchFamily="34" charset="-122"/>
                <a:cs typeface="Inter" pitchFamily="34" charset="-120"/>
              </a:rPr>
              <a:t>LAYER 1</a:t>
            </a:r>
            <a:endParaRPr lang="en-US" sz="584" dirty="0"/>
          </a:p>
        </p:txBody>
      </p:sp>
      <p:sp>
        <p:nvSpPr>
          <p:cNvPr id="7" name="Text 4"/>
          <p:cNvSpPr/>
          <p:nvPr/>
        </p:nvSpPr>
        <p:spPr>
          <a:xfrm>
            <a:off x="457200" y="1963862"/>
            <a:ext cx="1500188" cy="184007"/>
          </a:xfrm>
          <a:prstGeom prst="rect">
            <a:avLst/>
          </a:prstGeom>
          <a:noFill/>
          <a:ln/>
        </p:spPr>
        <p:txBody>
          <a:bodyPr wrap="none" lIns="0" tIns="0" rIns="0" bIns="0" rtlCol="0" anchor="t">
            <a:spAutoFit/>
          </a:bodyPr>
          <a:lstStyle/>
          <a:p>
            <a:pPr marL="0" indent="0" algn="l">
              <a:lnSpc>
                <a:spcPts val="1400"/>
              </a:lnSpc>
              <a:buNone/>
            </a:pPr>
            <a:r>
              <a:rPr lang="en-US" sz="1141" b="1" dirty="0">
                <a:solidFill>
                  <a:srgbClr val="123B6D"/>
                </a:solidFill>
                <a:latin typeface="Inter" pitchFamily="34" charset="0"/>
                <a:ea typeface="Inter" pitchFamily="34" charset="-122"/>
                <a:cs typeface="Inter" pitchFamily="34" charset="-120"/>
              </a:rPr>
              <a:t>Core AI and ML</a:t>
            </a:r>
            <a:endParaRPr lang="en-US" sz="1141" dirty="0"/>
          </a:p>
        </p:txBody>
      </p:sp>
      <p:sp>
        <p:nvSpPr>
          <p:cNvPr id="8" name="Text 5"/>
          <p:cNvSpPr/>
          <p:nvPr/>
        </p:nvSpPr>
        <p:spPr>
          <a:xfrm>
            <a:off x="457200" y="2219306"/>
            <a:ext cx="1554463" cy="1280071"/>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Multimodal extraction, ranking, forecasting, anomaly detection, recommendation systems, and confidence scoring power intake, routing, pricing, warehousing, and logistics.</a:t>
            </a:r>
            <a:endParaRPr lang="en-US" sz="834" dirty="0"/>
          </a:p>
        </p:txBody>
      </p:sp>
      <p:sp>
        <p:nvSpPr>
          <p:cNvPr id="9" name="Text 6"/>
          <p:cNvSpPr/>
          <p:nvPr/>
        </p:nvSpPr>
        <p:spPr>
          <a:xfrm>
            <a:off x="457200" y="3556527"/>
            <a:ext cx="1554463" cy="80004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The key skill is not just training models, but deciding when they should recommend, escalate, or abstain.</a:t>
            </a:r>
            <a:endParaRPr lang="en-US" sz="834" dirty="0"/>
          </a:p>
        </p:txBody>
      </p:sp>
      <p:sp>
        <p:nvSpPr>
          <p:cNvPr id="10" name="Text 7"/>
          <p:cNvSpPr/>
          <p:nvPr/>
        </p:nvSpPr>
        <p:spPr>
          <a:xfrm>
            <a:off x="457200" y="4428009"/>
            <a:ext cx="1554463" cy="638584"/>
          </a:xfrm>
          <a:prstGeom prst="rect">
            <a:avLst/>
          </a:prstGeom>
          <a:noFill/>
          <a:ln/>
        </p:spPr>
        <p:txBody>
          <a:bodyPr wrap="square" lIns="0" tIns="68072" rIns="0" bIns="0" rtlCol="0" anchor="t">
            <a:spAutoFit/>
          </a:bodyPr>
          <a:lstStyle/>
          <a:p>
            <a:pPr marL="0" indent="0" algn="l">
              <a:lnSpc>
                <a:spcPts val="1100"/>
              </a:lnSpc>
              <a:buNone/>
            </a:pPr>
            <a:r>
              <a:rPr lang="en-US" sz="734" b="1" dirty="0">
                <a:solidFill>
                  <a:srgbClr val="123B6D"/>
                </a:solidFill>
                <a:latin typeface="Inter" pitchFamily="34" charset="0"/>
                <a:ea typeface="Inter" pitchFamily="34" charset="-122"/>
                <a:cs typeface="Inter" pitchFamily="34" charset="-120"/>
              </a:rPr>
              <a:t>Needed skills:</a:t>
            </a:r>
            <a:r>
              <a:rPr lang="en-US" sz="780" dirty="0">
                <a:solidFill>
                  <a:srgbClr val="334155"/>
                </a:solidFill>
                <a:latin typeface="Inter" pitchFamily="34" charset="0"/>
                <a:ea typeface="Inter" pitchFamily="34" charset="-122"/>
                <a:cs typeface="Inter" pitchFamily="34" charset="-120"/>
              </a:rPr>
              <a:t> supervised learning, ranking, time-series forecasting, retrieval, and decision-threshold design.</a:t>
            </a:r>
            <a:endParaRPr lang="en-US" sz="734" dirty="0"/>
          </a:p>
        </p:txBody>
      </p:sp>
      <p:sp>
        <p:nvSpPr>
          <p:cNvPr id="11" name="Text 8"/>
          <p:cNvSpPr/>
          <p:nvPr/>
        </p:nvSpPr>
        <p:spPr>
          <a:xfrm>
            <a:off x="2125963" y="1801341"/>
            <a:ext cx="1554491"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D4ED8"/>
                </a:solidFill>
                <a:latin typeface="Inter" pitchFamily="34" charset="0"/>
                <a:ea typeface="Inter" pitchFamily="34" charset="-122"/>
                <a:cs typeface="Inter" pitchFamily="34" charset="-120"/>
              </a:rPr>
              <a:t>LAYER 2</a:t>
            </a:r>
            <a:endParaRPr lang="en-US" sz="584" dirty="0"/>
          </a:p>
        </p:txBody>
      </p:sp>
      <p:sp>
        <p:nvSpPr>
          <p:cNvPr id="12" name="Text 9"/>
          <p:cNvSpPr/>
          <p:nvPr/>
        </p:nvSpPr>
        <p:spPr>
          <a:xfrm>
            <a:off x="2125963" y="1963862"/>
            <a:ext cx="1500188" cy="552022"/>
          </a:xfrm>
          <a:prstGeom prst="rect">
            <a:avLst/>
          </a:prstGeom>
          <a:noFill/>
          <a:ln/>
        </p:spPr>
        <p:txBody>
          <a:bodyPr wrap="square" lIns="0" tIns="0" rIns="0" bIns="0" rtlCol="0" anchor="t">
            <a:spAutoFit/>
          </a:bodyPr>
          <a:lstStyle/>
          <a:p>
            <a:pPr marL="0" indent="0" algn="l">
              <a:lnSpc>
                <a:spcPts val="1400"/>
              </a:lnSpc>
              <a:buNone/>
            </a:pPr>
            <a:r>
              <a:rPr lang="en-US" sz="1141" b="1" dirty="0">
                <a:solidFill>
                  <a:srgbClr val="123B6D"/>
                </a:solidFill>
                <a:latin typeface="Inter" pitchFamily="34" charset="0"/>
                <a:ea typeface="Inter" pitchFamily="34" charset="-122"/>
                <a:cs typeface="Inter" pitchFamily="34" charset="-120"/>
              </a:rPr>
              <a:t>Computer Vision and Camera Systems</a:t>
            </a:r>
            <a:endParaRPr lang="en-US" sz="1141" dirty="0"/>
          </a:p>
        </p:txBody>
      </p:sp>
      <p:sp>
        <p:nvSpPr>
          <p:cNvPr id="13" name="Text 10"/>
          <p:cNvSpPr/>
          <p:nvPr/>
        </p:nvSpPr>
        <p:spPr>
          <a:xfrm>
            <a:off x="2125963" y="2587321"/>
            <a:ext cx="1554491" cy="960053"/>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Vision use cases require industrial cameras, lighting, calibration, guided multi-angle capture, dimensional measurement, and defect detection workflows.</a:t>
            </a:r>
            <a:endParaRPr lang="en-US" sz="834" dirty="0"/>
          </a:p>
        </p:txBody>
      </p:sp>
      <p:sp>
        <p:nvSpPr>
          <p:cNvPr id="14" name="Text 11"/>
          <p:cNvSpPr/>
          <p:nvPr/>
        </p:nvSpPr>
        <p:spPr>
          <a:xfrm>
            <a:off x="2125963" y="3604524"/>
            <a:ext cx="1554491" cy="64003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Camera engineering matters as much as model quality because unstable capture creates unstable inspection.</a:t>
            </a:r>
            <a:endParaRPr lang="en-US" sz="834" dirty="0"/>
          </a:p>
        </p:txBody>
      </p:sp>
      <p:sp>
        <p:nvSpPr>
          <p:cNvPr id="15" name="Text 12"/>
          <p:cNvSpPr/>
          <p:nvPr/>
        </p:nvSpPr>
        <p:spPr>
          <a:xfrm>
            <a:off x="2125963" y="4315997"/>
            <a:ext cx="1554491" cy="782157"/>
          </a:xfrm>
          <a:prstGeom prst="rect">
            <a:avLst/>
          </a:prstGeom>
          <a:noFill/>
          <a:ln/>
        </p:spPr>
        <p:txBody>
          <a:bodyPr wrap="square" lIns="0" tIns="68072" rIns="0" bIns="0" rtlCol="0" anchor="t">
            <a:spAutoFit/>
          </a:bodyPr>
          <a:lstStyle/>
          <a:p>
            <a:pPr marL="0" indent="0" algn="l">
              <a:lnSpc>
                <a:spcPts val="1100"/>
              </a:lnSpc>
              <a:buNone/>
            </a:pPr>
            <a:r>
              <a:rPr lang="en-US" sz="734" b="1" dirty="0">
                <a:solidFill>
                  <a:srgbClr val="123B6D"/>
                </a:solidFill>
                <a:latin typeface="Inter" pitchFamily="34" charset="0"/>
                <a:ea typeface="Inter" pitchFamily="34" charset="-122"/>
                <a:cs typeface="Inter" pitchFamily="34" charset="-120"/>
              </a:rPr>
              <a:t>Needed skills:</a:t>
            </a:r>
            <a:r>
              <a:rPr lang="en-US" sz="780" dirty="0">
                <a:solidFill>
                  <a:srgbClr val="334155"/>
                </a:solidFill>
                <a:latin typeface="Inter" pitchFamily="34" charset="0"/>
                <a:ea typeface="Inter" pitchFamily="34" charset="-122"/>
                <a:cs typeface="Inter" pitchFamily="34" charset="-120"/>
              </a:rPr>
              <a:t> camera selection, lighting design, calibration, image-quality validation, defect labeling, and metrology workflows.</a:t>
            </a:r>
            <a:endParaRPr lang="en-US" sz="734" dirty="0"/>
          </a:p>
        </p:txBody>
      </p:sp>
      <p:sp>
        <p:nvSpPr>
          <p:cNvPr id="16" name="Text 13"/>
          <p:cNvSpPr/>
          <p:nvPr/>
        </p:nvSpPr>
        <p:spPr>
          <a:xfrm>
            <a:off x="3794754" y="1801341"/>
            <a:ext cx="1554463"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D4ED8"/>
                </a:solidFill>
                <a:latin typeface="Inter" pitchFamily="34" charset="0"/>
                <a:ea typeface="Inter" pitchFamily="34" charset="-122"/>
                <a:cs typeface="Inter" pitchFamily="34" charset="-120"/>
              </a:rPr>
              <a:t>LAYER 3</a:t>
            </a:r>
            <a:endParaRPr lang="en-US" sz="584" dirty="0"/>
          </a:p>
        </p:txBody>
      </p:sp>
      <p:sp>
        <p:nvSpPr>
          <p:cNvPr id="17" name="Text 14"/>
          <p:cNvSpPr/>
          <p:nvPr/>
        </p:nvSpPr>
        <p:spPr>
          <a:xfrm>
            <a:off x="3794754" y="1963862"/>
            <a:ext cx="1500188" cy="184007"/>
          </a:xfrm>
          <a:prstGeom prst="rect">
            <a:avLst/>
          </a:prstGeom>
          <a:noFill/>
          <a:ln/>
        </p:spPr>
        <p:txBody>
          <a:bodyPr wrap="none" lIns="0" tIns="0" rIns="0" bIns="0" rtlCol="0" anchor="t">
            <a:spAutoFit/>
          </a:bodyPr>
          <a:lstStyle/>
          <a:p>
            <a:pPr marL="0" indent="0" algn="l">
              <a:lnSpc>
                <a:spcPts val="1400"/>
              </a:lnSpc>
              <a:buNone/>
            </a:pPr>
            <a:r>
              <a:rPr lang="en-US" sz="1141" b="1" dirty="0">
                <a:solidFill>
                  <a:srgbClr val="123B6D"/>
                </a:solidFill>
                <a:latin typeface="Inter" pitchFamily="34" charset="0"/>
                <a:ea typeface="Inter" pitchFamily="34" charset="-122"/>
                <a:cs typeface="Inter" pitchFamily="34" charset="-120"/>
              </a:rPr>
              <a:t>Data Platform</a:t>
            </a:r>
            <a:endParaRPr lang="en-US" sz="1141" dirty="0"/>
          </a:p>
        </p:txBody>
      </p:sp>
      <p:sp>
        <p:nvSpPr>
          <p:cNvPr id="18" name="Text 15"/>
          <p:cNvSpPr/>
          <p:nvPr/>
        </p:nvSpPr>
        <p:spPr>
          <a:xfrm>
            <a:off x="3794754" y="2219306"/>
            <a:ext cx="1554463" cy="112006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The roadmap depends on a canonical Order Object, event logging, telemetry capture, outcome history, and feedback storage across quoting, routing, quality, and delivery.</a:t>
            </a:r>
            <a:endParaRPr lang="en-US" sz="834" dirty="0"/>
          </a:p>
        </p:txBody>
      </p:sp>
      <p:sp>
        <p:nvSpPr>
          <p:cNvPr id="19" name="Text 16"/>
          <p:cNvSpPr/>
          <p:nvPr/>
        </p:nvSpPr>
        <p:spPr>
          <a:xfrm>
            <a:off x="3794754" y="3396518"/>
            <a:ext cx="1554463" cy="80004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Without a shared data model, every AI feature becomes an isolated demo instead of a compounding system.</a:t>
            </a:r>
            <a:endParaRPr lang="en-US" sz="834" dirty="0"/>
          </a:p>
        </p:txBody>
      </p:sp>
      <p:sp>
        <p:nvSpPr>
          <p:cNvPr id="20" name="Text 17"/>
          <p:cNvSpPr/>
          <p:nvPr/>
        </p:nvSpPr>
        <p:spPr>
          <a:xfrm>
            <a:off x="3794754" y="4268000"/>
            <a:ext cx="1554463" cy="782157"/>
          </a:xfrm>
          <a:prstGeom prst="rect">
            <a:avLst/>
          </a:prstGeom>
          <a:noFill/>
          <a:ln/>
        </p:spPr>
        <p:txBody>
          <a:bodyPr wrap="square" lIns="0" tIns="68072" rIns="0" bIns="0" rtlCol="0" anchor="t">
            <a:spAutoFit/>
          </a:bodyPr>
          <a:lstStyle/>
          <a:p>
            <a:pPr marL="0" indent="0" algn="l">
              <a:lnSpc>
                <a:spcPts val="1100"/>
              </a:lnSpc>
              <a:buNone/>
            </a:pPr>
            <a:r>
              <a:rPr lang="en-US" sz="734" b="1" dirty="0">
                <a:solidFill>
                  <a:srgbClr val="123B6D"/>
                </a:solidFill>
                <a:latin typeface="Inter" pitchFamily="34" charset="0"/>
                <a:ea typeface="Inter" pitchFamily="34" charset="-122"/>
                <a:cs typeface="Inter" pitchFamily="34" charset="-120"/>
              </a:rPr>
              <a:t>Needed skills:</a:t>
            </a:r>
            <a:r>
              <a:rPr lang="en-US" sz="780" dirty="0">
                <a:solidFill>
                  <a:srgbClr val="334155"/>
                </a:solidFill>
                <a:latin typeface="Inter" pitchFamily="34" charset="0"/>
                <a:ea typeface="Inter" pitchFamily="34" charset="-122"/>
                <a:cs typeface="Inter" pitchFamily="34" charset="-120"/>
              </a:rPr>
              <a:t> schema design, event pipelines, telemetry ingestion, feature stores, and reliable feedback capture.</a:t>
            </a:r>
            <a:endParaRPr lang="en-US" sz="734" dirty="0"/>
          </a:p>
        </p:txBody>
      </p:sp>
      <p:sp>
        <p:nvSpPr>
          <p:cNvPr id="21" name="Text 18"/>
          <p:cNvSpPr/>
          <p:nvPr/>
        </p:nvSpPr>
        <p:spPr>
          <a:xfrm>
            <a:off x="5463518" y="1801341"/>
            <a:ext cx="1554491"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D4ED8"/>
                </a:solidFill>
                <a:latin typeface="Inter" pitchFamily="34" charset="0"/>
                <a:ea typeface="Inter" pitchFamily="34" charset="-122"/>
                <a:cs typeface="Inter" pitchFamily="34" charset="-120"/>
              </a:rPr>
              <a:t>LAYER 4</a:t>
            </a:r>
            <a:endParaRPr lang="en-US" sz="584" dirty="0"/>
          </a:p>
        </p:txBody>
      </p:sp>
      <p:sp>
        <p:nvSpPr>
          <p:cNvPr id="22" name="Text 19"/>
          <p:cNvSpPr/>
          <p:nvPr/>
        </p:nvSpPr>
        <p:spPr>
          <a:xfrm>
            <a:off x="5463518" y="1963862"/>
            <a:ext cx="1500188" cy="368015"/>
          </a:xfrm>
          <a:prstGeom prst="rect">
            <a:avLst/>
          </a:prstGeom>
          <a:noFill/>
          <a:ln/>
        </p:spPr>
        <p:txBody>
          <a:bodyPr wrap="square" lIns="0" tIns="0" rIns="0" bIns="0" rtlCol="0" anchor="t">
            <a:spAutoFit/>
          </a:bodyPr>
          <a:lstStyle/>
          <a:p>
            <a:pPr marL="0" indent="0" algn="l">
              <a:lnSpc>
                <a:spcPts val="1400"/>
              </a:lnSpc>
              <a:buNone/>
            </a:pPr>
            <a:r>
              <a:rPr lang="en-US" sz="1141" b="1" dirty="0">
                <a:solidFill>
                  <a:srgbClr val="123B6D"/>
                </a:solidFill>
                <a:latin typeface="Inter" pitchFamily="34" charset="0"/>
                <a:ea typeface="Inter" pitchFamily="34" charset="-122"/>
                <a:cs typeface="Inter" pitchFamily="34" charset="-120"/>
              </a:rPr>
              <a:t>Governance and Monitoring</a:t>
            </a:r>
            <a:endParaRPr lang="en-US" sz="1141" dirty="0"/>
          </a:p>
        </p:txBody>
      </p:sp>
      <p:sp>
        <p:nvSpPr>
          <p:cNvPr id="23" name="Text 20"/>
          <p:cNvSpPr/>
          <p:nvPr/>
        </p:nvSpPr>
        <p:spPr>
          <a:xfrm>
            <a:off x="5463518" y="2403314"/>
            <a:ext cx="1554491" cy="1120062"/>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Each stage needs confidence thresholds, override logging, audit trails, drift monitoring, and clear human-in-the-loop controls so performance and trust can scale together.</a:t>
            </a:r>
            <a:endParaRPr lang="en-US" sz="834" dirty="0"/>
          </a:p>
        </p:txBody>
      </p:sp>
      <p:sp>
        <p:nvSpPr>
          <p:cNvPr id="24" name="Text 21"/>
          <p:cNvSpPr/>
          <p:nvPr/>
        </p:nvSpPr>
        <p:spPr>
          <a:xfrm>
            <a:off x="5463518" y="3580526"/>
            <a:ext cx="1554491" cy="640035"/>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This is what makes the roadmap defensible to engineers, customers, and regulators.</a:t>
            </a:r>
            <a:endParaRPr lang="en-US" sz="834" dirty="0"/>
          </a:p>
        </p:txBody>
      </p:sp>
      <p:sp>
        <p:nvSpPr>
          <p:cNvPr id="25" name="Text 22"/>
          <p:cNvSpPr/>
          <p:nvPr/>
        </p:nvSpPr>
        <p:spPr>
          <a:xfrm>
            <a:off x="5463518" y="4291998"/>
            <a:ext cx="1554491" cy="782157"/>
          </a:xfrm>
          <a:prstGeom prst="rect">
            <a:avLst/>
          </a:prstGeom>
          <a:noFill/>
          <a:ln/>
        </p:spPr>
        <p:txBody>
          <a:bodyPr wrap="square" lIns="0" tIns="68072" rIns="0" bIns="0" rtlCol="0" anchor="t">
            <a:spAutoFit/>
          </a:bodyPr>
          <a:lstStyle/>
          <a:p>
            <a:pPr marL="0" indent="0" algn="l">
              <a:lnSpc>
                <a:spcPts val="1100"/>
              </a:lnSpc>
              <a:buNone/>
            </a:pPr>
            <a:r>
              <a:rPr lang="en-US" sz="734" b="1" dirty="0">
                <a:solidFill>
                  <a:srgbClr val="123B6D"/>
                </a:solidFill>
                <a:latin typeface="Inter" pitchFamily="34" charset="0"/>
                <a:ea typeface="Inter" pitchFamily="34" charset="-122"/>
                <a:cs typeface="Inter" pitchFamily="34" charset="-120"/>
              </a:rPr>
              <a:t>Needed skills:</a:t>
            </a:r>
            <a:r>
              <a:rPr lang="en-US" sz="780" dirty="0">
                <a:solidFill>
                  <a:srgbClr val="334155"/>
                </a:solidFill>
                <a:latin typeface="Inter" pitchFamily="34" charset="0"/>
                <a:ea typeface="Inter" pitchFamily="34" charset="-122"/>
                <a:cs typeface="Inter" pitchFamily="34" charset="-120"/>
              </a:rPr>
              <a:t> model monitoring, threshold tuning, audit design, override analysis, and quality review workflows.</a:t>
            </a:r>
            <a:endParaRPr lang="en-US" sz="734" dirty="0"/>
          </a:p>
        </p:txBody>
      </p:sp>
      <p:sp>
        <p:nvSpPr>
          <p:cNvPr id="26" name="Text 23"/>
          <p:cNvSpPr/>
          <p:nvPr/>
        </p:nvSpPr>
        <p:spPr>
          <a:xfrm>
            <a:off x="7132309" y="1801341"/>
            <a:ext cx="1554491" cy="105370"/>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D4ED8"/>
                </a:solidFill>
                <a:latin typeface="Inter" pitchFamily="34" charset="0"/>
                <a:ea typeface="Inter" pitchFamily="34" charset="-122"/>
                <a:cs typeface="Inter" pitchFamily="34" charset="-120"/>
              </a:rPr>
              <a:t>LAYER 5</a:t>
            </a:r>
            <a:endParaRPr lang="en-US" sz="584" dirty="0"/>
          </a:p>
        </p:txBody>
      </p:sp>
      <p:sp>
        <p:nvSpPr>
          <p:cNvPr id="27" name="Text 24"/>
          <p:cNvSpPr/>
          <p:nvPr/>
        </p:nvSpPr>
        <p:spPr>
          <a:xfrm>
            <a:off x="7132309" y="1963862"/>
            <a:ext cx="1500188" cy="184007"/>
          </a:xfrm>
          <a:prstGeom prst="rect">
            <a:avLst/>
          </a:prstGeom>
          <a:noFill/>
          <a:ln/>
        </p:spPr>
        <p:txBody>
          <a:bodyPr wrap="none" lIns="0" tIns="0" rIns="0" bIns="0" rtlCol="0" anchor="t">
            <a:spAutoFit/>
          </a:bodyPr>
          <a:lstStyle/>
          <a:p>
            <a:pPr marL="0" indent="0" algn="l">
              <a:lnSpc>
                <a:spcPts val="1400"/>
              </a:lnSpc>
              <a:buNone/>
            </a:pPr>
            <a:r>
              <a:rPr lang="en-US" sz="1141" b="1" dirty="0">
                <a:solidFill>
                  <a:srgbClr val="123B6D"/>
                </a:solidFill>
                <a:latin typeface="Inter" pitchFamily="34" charset="0"/>
                <a:ea typeface="Inter" pitchFamily="34" charset="-122"/>
                <a:cs typeface="Inter" pitchFamily="34" charset="-120"/>
              </a:rPr>
              <a:t>Operating Model</a:t>
            </a:r>
            <a:endParaRPr lang="en-US" sz="1141" dirty="0"/>
          </a:p>
        </p:txBody>
      </p:sp>
      <p:sp>
        <p:nvSpPr>
          <p:cNvPr id="28" name="Text 25"/>
          <p:cNvSpPr/>
          <p:nvPr/>
        </p:nvSpPr>
        <p:spPr>
          <a:xfrm>
            <a:off x="7132309" y="2219306"/>
            <a:ext cx="1554491" cy="960053"/>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The stack only works if product, engineering, manufacturing, quality, and operations teams deploy in phases and learn from live use together.</a:t>
            </a:r>
            <a:endParaRPr lang="en-US" sz="834" dirty="0"/>
          </a:p>
        </p:txBody>
      </p:sp>
      <p:sp>
        <p:nvSpPr>
          <p:cNvPr id="29" name="Text 26"/>
          <p:cNvSpPr/>
          <p:nvPr/>
        </p:nvSpPr>
        <p:spPr>
          <a:xfrm>
            <a:off x="7132309" y="3236509"/>
            <a:ext cx="1554491" cy="800044"/>
          </a:xfrm>
          <a:prstGeom prst="rect">
            <a:avLst/>
          </a:prstGeom>
          <a:noFill/>
          <a:ln/>
        </p:spPr>
        <p:txBody>
          <a:bodyPr wrap="square" lIns="0" tIns="0" rIns="0" bIns="0" rtlCol="0" anchor="t">
            <a:spAutoFit/>
          </a:bodyPr>
          <a:lstStyle/>
          <a:p>
            <a:pPr marL="0" indent="0" algn="l">
              <a:lnSpc>
                <a:spcPts val="1300"/>
              </a:lnSpc>
              <a:buNone/>
            </a:pPr>
            <a:r>
              <a:rPr lang="en-US" sz="834" dirty="0">
                <a:solidFill>
                  <a:srgbClr val="334155"/>
                </a:solidFill>
                <a:latin typeface="Inter" pitchFamily="34" charset="0"/>
                <a:ea typeface="Inter" pitchFamily="34" charset="-122"/>
                <a:cs typeface="Inter" pitchFamily="34" charset="-120"/>
              </a:rPr>
              <a:t>Human expertise must remain visible because engineer and operator corrections are the data flywheel.</a:t>
            </a:r>
            <a:endParaRPr lang="en-US" sz="834" dirty="0"/>
          </a:p>
        </p:txBody>
      </p:sp>
      <p:sp>
        <p:nvSpPr>
          <p:cNvPr id="30" name="Text 27"/>
          <p:cNvSpPr/>
          <p:nvPr/>
        </p:nvSpPr>
        <p:spPr>
          <a:xfrm>
            <a:off x="7132309" y="4107991"/>
            <a:ext cx="1554491" cy="782157"/>
          </a:xfrm>
          <a:prstGeom prst="rect">
            <a:avLst/>
          </a:prstGeom>
          <a:noFill/>
          <a:ln/>
        </p:spPr>
        <p:txBody>
          <a:bodyPr wrap="square" lIns="0" tIns="68072" rIns="0" bIns="0" rtlCol="0" anchor="t">
            <a:spAutoFit/>
          </a:bodyPr>
          <a:lstStyle/>
          <a:p>
            <a:pPr marL="0" indent="0" algn="l">
              <a:lnSpc>
                <a:spcPts val="1100"/>
              </a:lnSpc>
              <a:buNone/>
            </a:pPr>
            <a:r>
              <a:rPr lang="en-US" sz="734" b="1" dirty="0">
                <a:solidFill>
                  <a:srgbClr val="123B6D"/>
                </a:solidFill>
                <a:latin typeface="Inter" pitchFamily="34" charset="0"/>
                <a:ea typeface="Inter" pitchFamily="34" charset="-122"/>
                <a:cs typeface="Inter" pitchFamily="34" charset="-120"/>
              </a:rPr>
              <a:t>Needed skills:</a:t>
            </a:r>
            <a:r>
              <a:rPr lang="en-US" sz="780" dirty="0">
                <a:solidFill>
                  <a:srgbClr val="334155"/>
                </a:solidFill>
                <a:latin typeface="Inter" pitchFamily="34" charset="0"/>
                <a:ea typeface="Inter" pitchFamily="34" charset="-122"/>
                <a:cs typeface="Inter" pitchFamily="34" charset="-120"/>
              </a:rPr>
              <a:t> staged rollout, workflow design, change management, human-in-the-loop operations, and KPI ownership.</a:t>
            </a:r>
            <a:endParaRPr lang="en-US" sz="734" dirty="0"/>
          </a:p>
        </p:txBody>
      </p:sp>
      <p:sp>
        <p:nvSpPr>
          <p:cNvPr id="31" name="Text 28"/>
          <p:cNvSpPr/>
          <p:nvPr/>
        </p:nvSpPr>
        <p:spPr>
          <a:xfrm>
            <a:off x="457200" y="5183879"/>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32" name="Text 29"/>
          <p:cNvSpPr/>
          <p:nvPr/>
        </p:nvSpPr>
        <p:spPr>
          <a:xfrm>
            <a:off x="4453403" y="5183879"/>
            <a:ext cx="4233397"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CAPABILITY STACK ACROSS AI, VISION, DATA, GOVERNANCE, AND OPERATIONS</a:t>
            </a:r>
            <a:endParaRPr lang="en-US" sz="727"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57200" y="585788"/>
            <a:ext cx="6686550" cy="128588"/>
          </a:xfrm>
          <a:prstGeom prst="rect">
            <a:avLst/>
          </a:prstGeom>
          <a:noFill/>
          <a:ln/>
        </p:spPr>
        <p:txBody>
          <a:bodyPr wrap="none" lIns="0" tIns="0" rIns="0" bIns="0" rtlCol="0" anchor="t">
            <a:spAutoFit/>
          </a:bodyPr>
          <a:lstStyle/>
          <a:p>
            <a:pPr marL="0" indent="0" algn="l">
              <a:lnSpc>
                <a:spcPts val="1000"/>
              </a:lnSpc>
              <a:buNone/>
            </a:pPr>
            <a:r>
              <a:rPr lang="en-US" sz="734" b="1" kern="0" spc="2" dirty="0">
                <a:solidFill>
                  <a:srgbClr val="1D4ED8"/>
                </a:solidFill>
                <a:latin typeface="Inter" pitchFamily="34" charset="0"/>
                <a:ea typeface="Inter" pitchFamily="34" charset="-122"/>
                <a:cs typeface="Inter" pitchFamily="34" charset="-120"/>
              </a:rPr>
              <a:t>CLOSING MESSAGE</a:t>
            </a:r>
            <a:endParaRPr lang="en-US" sz="734" dirty="0"/>
          </a:p>
        </p:txBody>
      </p:sp>
      <p:sp>
        <p:nvSpPr>
          <p:cNvPr id="4" name="Text 1"/>
          <p:cNvSpPr/>
          <p:nvPr/>
        </p:nvSpPr>
        <p:spPr>
          <a:xfrm>
            <a:off x="457200" y="800100"/>
            <a:ext cx="6686550" cy="1267792"/>
          </a:xfrm>
          <a:prstGeom prst="rect">
            <a:avLst/>
          </a:prstGeom>
          <a:noFill/>
          <a:ln/>
        </p:spPr>
        <p:txBody>
          <a:bodyPr wrap="square" lIns="0" tIns="0" rIns="0" bIns="0" rtlCol="0" anchor="t">
            <a:spAutoFit/>
          </a:bodyPr>
          <a:lstStyle/>
          <a:p>
            <a:pPr marL="0" indent="0" algn="l">
              <a:lnSpc>
                <a:spcPts val="3300"/>
              </a:lnSpc>
              <a:buNone/>
            </a:pPr>
            <a:r>
              <a:rPr lang="en-US" sz="2970" b="1" dirty="0">
                <a:solidFill>
                  <a:srgbClr val="123B6D"/>
                </a:solidFill>
                <a:latin typeface="Inter" pitchFamily="34" charset="0"/>
                <a:ea typeface="Inter" pitchFamily="34" charset="-122"/>
                <a:cs typeface="Inter" pitchFamily="34" charset="-120"/>
              </a:rPr>
              <a:t>AI should make Protolabs faster, easier to buy from, and more trusted to manufacture with.</a:t>
            </a:r>
            <a:endParaRPr lang="en-US" sz="2970" dirty="0"/>
          </a:p>
        </p:txBody>
      </p:sp>
      <p:sp>
        <p:nvSpPr>
          <p:cNvPr id="5" name="Text 2"/>
          <p:cNvSpPr/>
          <p:nvPr/>
        </p:nvSpPr>
        <p:spPr>
          <a:xfrm>
            <a:off x="457200" y="2153617"/>
            <a:ext cx="6686550" cy="1040085"/>
          </a:xfrm>
          <a:prstGeom prst="rect">
            <a:avLst/>
          </a:prstGeom>
          <a:noFill/>
          <a:ln/>
        </p:spPr>
        <p:txBody>
          <a:bodyPr wrap="square" lIns="0" tIns="0" rIns="0" bIns="0" rtlCol="0" anchor="t">
            <a:spAutoFit/>
          </a:bodyPr>
          <a:lstStyle/>
          <a:p>
            <a:pPr marL="0" indent="0" algn="l">
              <a:lnSpc>
                <a:spcPts val="2000"/>
              </a:lnSpc>
              <a:buNone/>
            </a:pPr>
            <a:r>
              <a:rPr lang="en-US" sz="1377" dirty="0">
                <a:solidFill>
                  <a:srgbClr val="334155"/>
                </a:solidFill>
                <a:latin typeface="Inter" pitchFamily="34" charset="0"/>
                <a:ea typeface="Inter" pitchFamily="34" charset="-122"/>
                <a:cs typeface="Inter" pitchFamily="34" charset="-120"/>
              </a:rPr>
              <a:t>The best AI bets are not isolated features. They </a:t>
            </a:r>
            <a:r>
              <a:rPr lang="en-US" sz="1295" b="1" dirty="0">
                <a:solidFill>
                  <a:srgbClr val="123B6D"/>
                </a:solidFill>
                <a:latin typeface="Inter" pitchFamily="34" charset="0"/>
                <a:ea typeface="Inter" pitchFamily="34" charset="-122"/>
                <a:cs typeface="Inter" pitchFamily="34" charset="-120"/>
              </a:rPr>
              <a:t>expand the market</a:t>
            </a:r>
            <a:r>
              <a:rPr lang="en-US" sz="1377" dirty="0">
                <a:solidFill>
                  <a:srgbClr val="334155"/>
                </a:solidFill>
                <a:latin typeface="Inter" pitchFamily="34" charset="0"/>
                <a:ea typeface="Inter" pitchFamily="34" charset="-122"/>
                <a:cs typeface="Inter" pitchFamily="34" charset="-120"/>
              </a:rPr>
              <a:t> by lowering intake friction, </a:t>
            </a:r>
            <a:r>
              <a:rPr lang="en-US" sz="1295" b="1" dirty="0">
                <a:solidFill>
                  <a:srgbClr val="123B6D"/>
                </a:solidFill>
                <a:latin typeface="Inter" pitchFamily="34" charset="0"/>
                <a:ea typeface="Inter" pitchFamily="34" charset="-122"/>
                <a:cs typeface="Inter" pitchFamily="34" charset="-120"/>
              </a:rPr>
              <a:t>improve unit economics</a:t>
            </a:r>
            <a:r>
              <a:rPr lang="en-US" sz="1377" dirty="0">
                <a:solidFill>
                  <a:srgbClr val="334155"/>
                </a:solidFill>
                <a:latin typeface="Inter" pitchFamily="34" charset="0"/>
                <a:ea typeface="Inter" pitchFamily="34" charset="-122"/>
                <a:cs typeface="Inter" pitchFamily="34" charset="-120"/>
              </a:rPr>
              <a:t> through better routing, pricing, and operations, and </a:t>
            </a:r>
            <a:r>
              <a:rPr lang="en-US" sz="1295" b="1" dirty="0">
                <a:solidFill>
                  <a:srgbClr val="123B6D"/>
                </a:solidFill>
                <a:latin typeface="Inter" pitchFamily="34" charset="0"/>
                <a:ea typeface="Inter" pitchFamily="34" charset="-122"/>
                <a:cs typeface="Inter" pitchFamily="34" charset="-120"/>
              </a:rPr>
              <a:t>build proprietary learning loops</a:t>
            </a:r>
            <a:r>
              <a:rPr lang="en-US" sz="1377" dirty="0">
                <a:solidFill>
                  <a:srgbClr val="334155"/>
                </a:solidFill>
                <a:latin typeface="Inter" pitchFamily="34" charset="0"/>
                <a:ea typeface="Inter" pitchFamily="34" charset="-122"/>
                <a:cs typeface="Inter" pitchFamily="34" charset="-120"/>
              </a:rPr>
              <a:t> that get stronger with every order, every override, and every production run.</a:t>
            </a:r>
            <a:endParaRPr lang="en-US" sz="1377" dirty="0"/>
          </a:p>
        </p:txBody>
      </p:sp>
      <p:sp>
        <p:nvSpPr>
          <p:cNvPr id="6" name="Text 3"/>
          <p:cNvSpPr/>
          <p:nvPr/>
        </p:nvSpPr>
        <p:spPr>
          <a:xfrm>
            <a:off x="457200" y="3279428"/>
            <a:ext cx="5857875" cy="1017761"/>
          </a:xfrm>
          <a:prstGeom prst="rect">
            <a:avLst/>
          </a:prstGeom>
          <a:noFill/>
          <a:ln/>
        </p:spPr>
        <p:txBody>
          <a:bodyPr wrap="square" lIns="0" tIns="102108" rIns="0" bIns="0" rtlCol="0" anchor="t">
            <a:spAutoFit/>
          </a:bodyPr>
          <a:lstStyle/>
          <a:p>
            <a:pPr marL="0" indent="0" algn="l">
              <a:lnSpc>
                <a:spcPts val="1800"/>
              </a:lnSpc>
              <a:buNone/>
            </a:pPr>
            <a:r>
              <a:rPr lang="en-US" sz="1159" dirty="0">
                <a:solidFill>
                  <a:srgbClr val="475569"/>
                </a:solidFill>
                <a:latin typeface="Inter" pitchFamily="34" charset="0"/>
                <a:ea typeface="Inter" pitchFamily="34" charset="-122"/>
                <a:cs typeface="Inter" pitchFamily="34" charset="-120"/>
              </a:rPr>
              <a:t>That is the strategic standard I would use for every stage in this flow. If an AI investment does not widen the funnel, sharpen the economics, or strengthen trust with engineers, customers, and regulators, it is probably a demo instead of a business advantage.</a:t>
            </a:r>
            <a:endParaRPr lang="en-US" sz="1159" dirty="0"/>
          </a:p>
        </p:txBody>
      </p:sp>
      <p:sp>
        <p:nvSpPr>
          <p:cNvPr id="7" name="Text 4"/>
          <p:cNvSpPr/>
          <p:nvPr/>
        </p:nvSpPr>
        <p:spPr>
          <a:xfrm>
            <a:off x="7572375" y="728663"/>
            <a:ext cx="1114425" cy="137517"/>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1D4ED8"/>
                </a:solidFill>
                <a:latin typeface="Inter" pitchFamily="34" charset="0"/>
                <a:ea typeface="Inter" pitchFamily="34" charset="-122"/>
                <a:cs typeface="Inter" pitchFamily="34" charset="-120"/>
              </a:rPr>
              <a:t>THE GOAL</a:t>
            </a:r>
            <a:endParaRPr lang="en-US" sz="784" dirty="0"/>
          </a:p>
        </p:txBody>
      </p:sp>
      <p:sp>
        <p:nvSpPr>
          <p:cNvPr id="8" name="Text 5"/>
          <p:cNvSpPr/>
          <p:nvPr/>
        </p:nvSpPr>
        <p:spPr>
          <a:xfrm>
            <a:off x="7572375" y="966192"/>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FASTER</a:t>
            </a:r>
            <a:endParaRPr lang="en-US" sz="734" dirty="0"/>
          </a:p>
        </p:txBody>
      </p:sp>
      <p:sp>
        <p:nvSpPr>
          <p:cNvPr id="9" name="Text 6"/>
          <p:cNvSpPr/>
          <p:nvPr/>
        </p:nvSpPr>
        <p:spPr>
          <a:xfrm>
            <a:off x="7572375" y="1153716"/>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LOWER FRICTION</a:t>
            </a:r>
            <a:endParaRPr lang="en-US" sz="734" dirty="0"/>
          </a:p>
        </p:txBody>
      </p:sp>
      <p:sp>
        <p:nvSpPr>
          <p:cNvPr id="10" name="Text 7"/>
          <p:cNvSpPr/>
          <p:nvPr/>
        </p:nvSpPr>
        <p:spPr>
          <a:xfrm>
            <a:off x="7572375" y="1341239"/>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TO QUOTE,</a:t>
            </a:r>
            <a:endParaRPr lang="en-US" sz="734" dirty="0"/>
          </a:p>
        </p:txBody>
      </p:sp>
      <p:sp>
        <p:nvSpPr>
          <p:cNvPr id="11" name="Text 8"/>
          <p:cNvSpPr/>
          <p:nvPr/>
        </p:nvSpPr>
        <p:spPr>
          <a:xfrm>
            <a:off x="7572375" y="1528763"/>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ROUTE, AND</a:t>
            </a:r>
            <a:endParaRPr lang="en-US" sz="734" dirty="0"/>
          </a:p>
        </p:txBody>
      </p:sp>
      <p:sp>
        <p:nvSpPr>
          <p:cNvPr id="12" name="Text 9"/>
          <p:cNvSpPr/>
          <p:nvPr/>
        </p:nvSpPr>
        <p:spPr>
          <a:xfrm>
            <a:off x="7572375" y="1716286"/>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DELIVER</a:t>
            </a:r>
            <a:endParaRPr lang="en-US" sz="734" dirty="0"/>
          </a:p>
        </p:txBody>
      </p:sp>
      <p:sp>
        <p:nvSpPr>
          <p:cNvPr id="13" name="Text 10"/>
          <p:cNvSpPr/>
          <p:nvPr/>
        </p:nvSpPr>
        <p:spPr>
          <a:xfrm>
            <a:off x="7572375" y="1960959"/>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EASIER</a:t>
            </a:r>
            <a:endParaRPr lang="en-US" sz="734" dirty="0"/>
          </a:p>
        </p:txBody>
      </p:sp>
      <p:sp>
        <p:nvSpPr>
          <p:cNvPr id="14" name="Text 11"/>
          <p:cNvSpPr/>
          <p:nvPr/>
        </p:nvSpPr>
        <p:spPr>
          <a:xfrm>
            <a:off x="7572375" y="2148483"/>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SIMPLER INTAKE,</a:t>
            </a:r>
            <a:endParaRPr lang="en-US" sz="734" dirty="0"/>
          </a:p>
        </p:txBody>
      </p:sp>
      <p:sp>
        <p:nvSpPr>
          <p:cNvPr id="15" name="Text 12"/>
          <p:cNvSpPr/>
          <p:nvPr/>
        </p:nvSpPr>
        <p:spPr>
          <a:xfrm>
            <a:off x="7572375" y="2336006"/>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CLEARER</a:t>
            </a:r>
            <a:endParaRPr lang="en-US" sz="734" dirty="0"/>
          </a:p>
        </p:txBody>
      </p:sp>
      <p:sp>
        <p:nvSpPr>
          <p:cNvPr id="16" name="Text 13"/>
          <p:cNvSpPr/>
          <p:nvPr/>
        </p:nvSpPr>
        <p:spPr>
          <a:xfrm>
            <a:off x="7572375" y="2523530"/>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DECISIONS,</a:t>
            </a:r>
            <a:endParaRPr lang="en-US" sz="734" dirty="0"/>
          </a:p>
        </p:txBody>
      </p:sp>
      <p:sp>
        <p:nvSpPr>
          <p:cNvPr id="17" name="Text 14"/>
          <p:cNvSpPr/>
          <p:nvPr/>
        </p:nvSpPr>
        <p:spPr>
          <a:xfrm>
            <a:off x="7572375" y="2711053"/>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BETTER SERVICE</a:t>
            </a:r>
            <a:endParaRPr lang="en-US" sz="734" dirty="0"/>
          </a:p>
        </p:txBody>
      </p:sp>
      <p:sp>
        <p:nvSpPr>
          <p:cNvPr id="18" name="Text 15"/>
          <p:cNvSpPr/>
          <p:nvPr/>
        </p:nvSpPr>
        <p:spPr>
          <a:xfrm>
            <a:off x="7572375" y="2955727"/>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TRUSTED</a:t>
            </a:r>
            <a:endParaRPr lang="en-US" sz="734" dirty="0"/>
          </a:p>
        </p:txBody>
      </p:sp>
      <p:sp>
        <p:nvSpPr>
          <p:cNvPr id="19" name="Text 16"/>
          <p:cNvSpPr/>
          <p:nvPr/>
        </p:nvSpPr>
        <p:spPr>
          <a:xfrm>
            <a:off x="7572375" y="3143250"/>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HUMAN</a:t>
            </a:r>
            <a:endParaRPr lang="en-US" sz="734" dirty="0"/>
          </a:p>
        </p:txBody>
      </p:sp>
      <p:sp>
        <p:nvSpPr>
          <p:cNvPr id="20" name="Text 17"/>
          <p:cNvSpPr/>
          <p:nvPr/>
        </p:nvSpPr>
        <p:spPr>
          <a:xfrm>
            <a:off x="7572375" y="3330773"/>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OVERSIGHT,</a:t>
            </a:r>
            <a:endParaRPr lang="en-US" sz="734" dirty="0"/>
          </a:p>
        </p:txBody>
      </p:sp>
      <p:sp>
        <p:nvSpPr>
          <p:cNvPr id="21" name="Text 18"/>
          <p:cNvSpPr/>
          <p:nvPr/>
        </p:nvSpPr>
        <p:spPr>
          <a:xfrm>
            <a:off x="7572375" y="3518297"/>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AUDITABILITY,</a:t>
            </a:r>
            <a:endParaRPr lang="en-US" sz="734" dirty="0"/>
          </a:p>
        </p:txBody>
      </p:sp>
      <p:sp>
        <p:nvSpPr>
          <p:cNvPr id="22" name="Text 19"/>
          <p:cNvSpPr/>
          <p:nvPr/>
        </p:nvSpPr>
        <p:spPr>
          <a:xfrm>
            <a:off x="7572375" y="3705820"/>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MEASURABLE</a:t>
            </a:r>
            <a:endParaRPr lang="en-US" sz="734" dirty="0"/>
          </a:p>
        </p:txBody>
      </p:sp>
      <p:sp>
        <p:nvSpPr>
          <p:cNvPr id="23" name="Text 20"/>
          <p:cNvSpPr/>
          <p:nvPr/>
        </p:nvSpPr>
        <p:spPr>
          <a:xfrm>
            <a:off x="7572375" y="3893344"/>
            <a:ext cx="1114425" cy="144661"/>
          </a:xfrm>
          <a:prstGeom prst="rect">
            <a:avLst/>
          </a:prstGeom>
          <a:noFill/>
          <a:ln/>
        </p:spPr>
        <p:txBody>
          <a:bodyPr wrap="none" lIns="0" tIns="0" rIns="0" bIns="0" rtlCol="0" anchor="t">
            <a:spAutoFit/>
          </a:bodyPr>
          <a:lstStyle/>
          <a:p>
            <a:pPr marL="0" indent="0" algn="l">
              <a:lnSpc>
                <a:spcPts val="1100"/>
              </a:lnSpc>
              <a:buNone/>
            </a:pPr>
            <a:r>
              <a:rPr lang="en-US" sz="734" b="1" kern="0" spc="1" dirty="0">
                <a:solidFill>
                  <a:srgbClr val="64748B"/>
                </a:solidFill>
                <a:latin typeface="Inter" pitchFamily="34" charset="0"/>
                <a:ea typeface="Inter" pitchFamily="34" charset="-122"/>
                <a:cs typeface="Inter" pitchFamily="34" charset="-120"/>
              </a:rPr>
              <a:t>OUTCOMES</a:t>
            </a:r>
            <a:endParaRPr lang="en-US" sz="734" dirty="0"/>
          </a:p>
        </p:txBody>
      </p:sp>
      <p:sp>
        <p:nvSpPr>
          <p:cNvPr id="24" name="Text 21"/>
          <p:cNvSpPr/>
          <p:nvPr/>
        </p:nvSpPr>
        <p:spPr>
          <a:xfrm>
            <a:off x="457200" y="4702485"/>
            <a:ext cx="1064084"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PROTOLABS TPM-AI</a:t>
            </a:r>
            <a:endParaRPr lang="en-US" sz="727" dirty="0"/>
          </a:p>
        </p:txBody>
      </p:sp>
      <p:sp>
        <p:nvSpPr>
          <p:cNvPr id="25" name="Text 22"/>
          <p:cNvSpPr/>
          <p:nvPr/>
        </p:nvSpPr>
        <p:spPr>
          <a:xfrm>
            <a:off x="5605695" y="4702485"/>
            <a:ext cx="3081105" cy="121444"/>
          </a:xfrm>
          <a:prstGeom prst="rect">
            <a:avLst/>
          </a:prstGeom>
          <a:noFill/>
          <a:ln/>
        </p:spPr>
        <p:txBody>
          <a:bodyPr wrap="none" lIns="0" tIns="0" rIns="0" bIns="0" rtlCol="0" anchor="t">
            <a:spAutoFit/>
          </a:bodyPr>
          <a:lstStyle/>
          <a:p>
            <a:pPr marL="0" indent="0" algn="l">
              <a:lnSpc>
                <a:spcPts val="900"/>
              </a:lnSpc>
              <a:buNone/>
            </a:pPr>
            <a:r>
              <a:rPr lang="en-US" sz="727" kern="0" spc="1" dirty="0">
                <a:solidFill>
                  <a:srgbClr val="64748B"/>
                </a:solidFill>
                <a:latin typeface="Inter" pitchFamily="34" charset="0"/>
                <a:ea typeface="Inter" pitchFamily="34" charset="-122"/>
                <a:cs typeface="Inter" pitchFamily="34" charset="-120"/>
              </a:rPr>
              <a:t>CLOSING PRINCIPLE FOR THE FULL 9-STAGE AI ROADMAP</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5271</Words>
  <Application>Microsoft Office PowerPoint</Application>
  <PresentationFormat>On-screen Show (16:9)</PresentationFormat>
  <Paragraphs>426</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Dimos Gougousis</cp:lastModifiedBy>
  <cp:revision>3</cp:revision>
  <dcterms:created xsi:type="dcterms:W3CDTF">2026-04-17T21:23:28Z</dcterms:created>
  <dcterms:modified xsi:type="dcterms:W3CDTF">2026-04-17T22:45:22Z</dcterms:modified>
</cp:coreProperties>
</file>