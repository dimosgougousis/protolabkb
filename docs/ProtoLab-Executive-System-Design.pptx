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305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ProtoLab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2743200" cy="3810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FFFFFF"/>
                </a:solidFill>
                <a:latin typeface="Calibri Light"/>
              </a:defRPr>
            </a:pPr>
            <a:r>
              <a:t>AI-Powered Manufacturing</a:t>
            </a:r>
            <a:br/>
            <a:r>
              <a:t>System Design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99999"/>
                </a:solidFill>
                <a:latin typeface="Calibri Light"/>
              </a:defRPr>
            </a:pPr>
            <a:r>
              <a:t>Executive Presentation  •  ProtoLabs C-Board  •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Classification: Board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6355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ProtoLab  •  AI Manufacturing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8CBA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99999"/>
                </a:solidFill>
                <a:latin typeface="Calibri Light"/>
              </a:defRPr>
            </a:pPr>
            <a:r>
              <a:t>What ProtoLab is — the architecture, agents, and governance at a glance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Executive Summary: The ProtoLab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008CBA"/>
                </a:solidFill>
                <a:latin typeface="Calibri Light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Calibri"/>
              </a:defRPr>
            </a:pPr>
            <a:r>
              <a:t>Specialist</a:t>
            </a:r>
            <a:br/>
            <a: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801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008CBA"/>
                </a:solidFill>
                <a:latin typeface="Calibri Light"/>
              </a:defRPr>
            </a:pPr>
            <a:r>
              <a:t>68+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Calibri"/>
              </a:defRPr>
            </a:pPr>
            <a:r>
              <a:t>Knowledge Base</a:t>
            </a:r>
            <a:br/>
            <a:r>
              <a:t>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801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008CBA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8288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Calibri"/>
              </a:defRPr>
            </a:pPr>
            <a:r>
              <a:t>Governance</a:t>
            </a:r>
            <a:br/>
            <a:r>
              <a:t>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2801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008CBA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8288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Calibri"/>
              </a:defRPr>
            </a:pPr>
            <a:r>
              <a:t>Compliance</a:t>
            </a:r>
            <a:br/>
            <a:r>
              <a:t>Frameworks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2801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008CBA"/>
                </a:solidFill>
                <a:latin typeface="Calibri Light"/>
              </a:defRPr>
            </a:pPr>
            <a:r>
              <a:t>$6M+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8288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Calibri"/>
              </a:defRPr>
            </a:pPr>
            <a:r>
              <a:t>Annual</a:t>
            </a:r>
            <a:br/>
            <a:r>
              <a:t>Return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10515600" cy="3810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AI-Powered DFM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3474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ProtoLab is an AI knowledge-base and agent system that mirrors ProtoLabs' manufacturing library. It routes user prompts about parts, designs, materials, and processes to specialist agents that evaluate DFM rules or answer Q&amp;A with source citations.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1089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Agentic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566160"/>
            <a:ext cx="3474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11 specialist agents cover CNC machining, injection molding, sheet metal, 3D printing, materials selection, aerospace, medical, automotive, trends, change management, and intent routing — each with risk registries and kill switches.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089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Governance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474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 7-stage governance framework adapted from ProductGovernance4AgenticWorkflows, mapped to ISO 42001, NIST AI RMF, EU AI Act, and 12 regulatory frameworks. Every agent has a SAFEST assessment across 112 control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Architectural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Domain-First</a:t>
            </a:r>
            <a:br/>
            <a:r>
              <a:t>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1A1A1A"/>
                </a:solidFill>
                <a:latin typeface="Calibri"/>
              </a:defRPr>
            </a:pPr>
            <a:r>
              <a:t>Parse user intent for process, mode, and vertical before selecting an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66420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0020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Progressive</a:t>
            </a:r>
            <a:br/>
            <a:r>
              <a:t>Loading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1A1A1A"/>
                </a:solidFill>
                <a:latin typeface="Calibri"/>
              </a:defRPr>
            </a:pPr>
            <a:r>
              <a:t>Load only KB files and agent definitions required for the current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66420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60020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Source-Grounded</a:t>
            </a:r>
            <a:br/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1A1A1A"/>
                </a:solidFill>
                <a:latin typeface="Calibri"/>
              </a:defRPr>
            </a:pPr>
            <a:r>
              <a:t>Every claim cites a cached KB file and the original ProtoLabs 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356616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2519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Governance</a:t>
            </a:r>
            <a:br/>
            <a:r>
              <a:t>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1A1A1A"/>
                </a:solidFill>
                <a:latin typeface="Calibri"/>
              </a:defRPr>
            </a:pPr>
            <a:r>
              <a:t>Every agent has a risk registry, KILLSWITCH, and SAFEST coverage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02336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4023360"/>
            <a:ext cx="356616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431596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519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Compliance-</a:t>
            </a:r>
            <a:br/>
            <a:r>
              <a:t>Aware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21208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1A1A1A"/>
                </a:solidFill>
                <a:latin typeface="Calibri"/>
              </a:defRPr>
            </a:pPr>
            <a:r>
              <a:t>Regulated contexts (ITAR, EAR, FDA, EU AI Act) trigger conditional output templates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02336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4023360"/>
            <a:ext cx="356616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21040" y="4297680"/>
            <a:ext cx="457200" cy="45720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431596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2519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Extensibility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21208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1A1A1A"/>
                </a:solidFill>
                <a:latin typeface="Calibri"/>
              </a:defRPr>
            </a:pPr>
            <a:r>
              <a:t>New agents, KB articles, and commands are added via convention-driven file placement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System Architecture — C4 Container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468880" cy="77724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 INTERFACE LAYER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80360" y="14630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234440"/>
            <a:ext cx="8503920" cy="731520"/>
          </a:xfrm>
          <a:prstGeom prst="rect">
            <a:avLst/>
          </a:prstGeom>
          <a:noFill/>
        </p:spPr>
        <p:txBody>
          <a:bodyPr wrap="square" numCol="3"/>
          <a:lstStyle/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</a:t>
            </a:r>
            <a:r>
              <a:rPr dirty="0" err="1"/>
              <a:t>dfm</a:t>
            </a:r>
            <a:r>
              <a:rPr dirty="0"/>
              <a:t>-review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/pl-ask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/pl-governance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/pl-funnel-intake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/pl-agentic-</a:t>
            </a:r>
            <a:r>
              <a:rPr dirty="0" err="1"/>
              <a:t>tpm</a:t>
            </a:r>
            <a:endParaRPr dirty="0"/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/pl-use-case-explorer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/pl-feasibility-probe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/pl-rehearse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468880" cy="77724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ROUTING LAYER — protolabs-router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80360" y="23774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22320" y="2213975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Keyword Parser → Intent Classifier → Agent Resolver → KB Slice Loader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dirty="0"/>
              <a:t>Special rule: change-management keywords bypass normal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246888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AGENT LAYER — 11 Specialist Agents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80360" y="32918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306324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DFM Router | CNC Machining | Injection Molding | Sheet Metal | 3D Printing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Materials Selection | Aerospace | Medical | Automotive/EV | Trends-Strategy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Change-Management Orchestrator (cobot adoption)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246888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2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KNOWLEDGE BASE LAYER — 68+ Articles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80360" y="42062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397764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CNC (4) | Injection Molding (8) | Sheet Metal (1) | 3D Printing (8)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Materials (5) | Verticals (4) | Trends (4) | Compliance (14+) | CAD |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246888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GOVERNANCE LAYER — 7 Stages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80360" y="51206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489204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Getting Started → Discovery → Development → Runtime → Operational → Cross-Cutting → Executive → Enterprise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Per-agent: Risk Registry | SAFEST Matrix | KILLSWITCH | Source-Grounding Contracts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60720"/>
            <a:ext cx="2468880" cy="77724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833872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OUTPUT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80644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t>dfm-eval-report.md | qa-response.md | compliance-assessment.md | funnel-canvas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8CBA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Agent Fleet &amp;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99999"/>
                </a:solidFill>
                <a:latin typeface="Calibri Light"/>
              </a:defRPr>
            </a:pPr>
            <a:r>
              <a:t>11 specialist agents powering DFM evaluation, Q&amp;A, strategy, and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Agent Inventory — 11 Specialist Agents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 ID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KB Loaded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Compliance Coverage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dfm-router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Intent classification,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 (sets regulated flag)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ITAR, EAR, ISO, NIST, GDPR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cnc-machining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CNC DFM evaluation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 CNC + 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ITAR, EAR, ISO 9001/13485/AS9100, NIST, GDPR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injection-molding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Injection molding DFM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 IM +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ITAR, EAR, ISO 9001/13485/AS9100, IATF 16949, NIST, GDPR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sheet-metal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Sheet metal DFM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 sheet metal + 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ITAR, EAR, ISO 9001/AS9100, NIST, GDPR, RoHS, REACH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3d-printing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3D printing DFM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 3DP +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ITAR, EAR, ISO 9001/13485/AS9100, NIST, GDPR, EU AI 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materials-selection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Material recommendations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materials + 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Export controls, biocompatibility, certs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vertical-aerospace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Aerospace guidance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Aerospace vertical +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AS9100D, FAR 25, NADCAP, ITAR/EAR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vertical-medical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Medical device guidance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Medical vertical + 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FDA 21 CFR 820, ISO 13485, EU MDR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vertical-automotive-ev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Automotive/EV guidance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Automotive + EV +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IATF 16949, UNECE R100, PPAP, APQP, RoHS/REACH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trends-strategy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Strategic trend analysis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Trends KB + 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Regulatory trend monitoring, AI governance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change-management-orch.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Cobot adoption, workforce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Change management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Workforce transformation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Client Journey &amp; Agent Autonomy Tiers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Touchpoint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Agent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 Delivered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 Discovery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Client uploads CAD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dfm-router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Instant process 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2. DFM Analysis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 reviews complex cases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cnc-machining, injection-molding, etc.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Automated DFM evaluation with citations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 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AM validates 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materials-selection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Material optimization, cost estimation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4. 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officer reviews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vertical agents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Regulatory validation (AS9100, FDA, IATF)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5. Production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Operator monitors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Predictive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Quality prediction, maintenance 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 Delivery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Client receives part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traceability, audit trail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3840480"/>
            <a:ext cx="365760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Tier 1 —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AI recommends;</a:t>
            </a:r>
            <a:br/>
            <a:r>
              <a:t>human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Agents: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2120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Router, DFM agents, Materials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Human Role: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6072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Validate, approve, override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840480"/>
            <a:ext cx="365760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3840480"/>
            <a:ext cx="36576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40233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Tier 2 — Conditional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57200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AI executes with</a:t>
            </a:r>
            <a:br/>
            <a:r>
              <a:t>human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212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Agents: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52120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Quote Bot, Quality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7607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Human Role: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76072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Confirm, monitor, intervene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840480"/>
            <a:ext cx="365760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3840480"/>
            <a:ext cx="36576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40233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Tier 3 — High Autonomy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7200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AI executes with</a:t>
            </a:r>
            <a:br/>
            <a:r>
              <a:t>kill switch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212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Agents: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2120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Predictive Maintenance,</a:t>
            </a:r>
            <a:br/>
            <a:r>
              <a:t>Scheduling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7607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Human Role: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76072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Supervise, emergency stop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8CBA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Data Flow &amp; Request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99999"/>
                </a:solidFill>
                <a:latin typeface="Calibri Light"/>
              </a:defRPr>
            </a:pPr>
            <a:r>
              <a:t>From user input to source-grounded output — the complete request journey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Request Lifecycle — End-to-End Data Flow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44068" y="153619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8932" y="153619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0700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0700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User submits part description or question via slash command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691640"/>
            <a:ext cx="320040" cy="32004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0992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068" y="203911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" y="203911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17099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Command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0992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Identifies command: /pl-dfm-review, /pl-ask, /pl-governance, etc.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4068" y="254203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" y="254203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221284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Keyword 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21284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Extracts process, mode, vertical, and compliance keywords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71576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44068" y="304495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" y="304495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271576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Intent Classifier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71576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Determines: design eval, Q&amp;A, strategy, or governance assessment.</a:t>
            </a:r>
            <a:br/>
            <a:r>
              <a:t>Change management keywords → bypass to orchestrator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21868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44068" y="354787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932" y="354787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321868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Agent Resolver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21868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Maps classified intent to specialist agent ID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372160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44068" y="405079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8932" y="405079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372160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KB Slice Loader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72160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Loads only required KB files per agent's loads: frontmatter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420624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22452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44068" y="455371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8932" y="455371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" y="42245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Agent Execution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22452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Runs design eval or Q&amp;A procedure against loaded KB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470916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472744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44068" y="505663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8932" y="505663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5840" y="472744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Compliance Check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72744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If regulated keywords detected, injects compliance warnings</a:t>
            </a:r>
          </a:p>
        </p:txBody>
      </p:sp>
      <p:sp>
        <p:nvSpPr>
          <p:cNvPr id="52" name="Oval 51"/>
          <p:cNvSpPr/>
          <p:nvPr/>
        </p:nvSpPr>
        <p:spPr>
          <a:xfrm>
            <a:off x="457200" y="521208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523036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44068" y="555955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8932" y="555955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5840" y="523036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Template Render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523036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Formats output: dfm-eval-report / qa-response / compliance-assessment</a:t>
            </a:r>
          </a:p>
        </p:txBody>
      </p:sp>
      <p:sp>
        <p:nvSpPr>
          <p:cNvPr id="58" name="Oval 57"/>
          <p:cNvSpPr/>
          <p:nvPr/>
        </p:nvSpPr>
        <p:spPr>
          <a:xfrm>
            <a:off x="457200" y="5715000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573328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544068" y="6062472"/>
            <a:ext cx="146304" cy="914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8932" y="6062472"/>
            <a:ext cx="2540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05840" y="573328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Source Citation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0" y="573328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Appends [knowledge/&lt;file&gt;.md → source_url] for every claim</a:t>
            </a:r>
          </a:p>
        </p:txBody>
      </p:sp>
      <p:sp>
        <p:nvSpPr>
          <p:cNvPr id="64" name="Oval 63"/>
          <p:cNvSpPr/>
          <p:nvPr/>
        </p:nvSpPr>
        <p:spPr>
          <a:xfrm>
            <a:off x="457200" y="6217920"/>
            <a:ext cx="320040" cy="320040"/>
          </a:xfrm>
          <a:prstGeom prst="ellipse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6236208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623620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6236208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Delivers grounded, cited, compliance-checked response to user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8CBA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Knowledge Base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99999"/>
                </a:solidFill>
                <a:latin typeface="Calibri Light"/>
              </a:defRPr>
            </a:pPr>
            <a:r>
              <a:t>68+ cached articles, 7 governance stages, and source-grounded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Knowledge Base — 68+ Cached ProtoLabs Articles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Folder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knowledge/cnc-machining/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Complex features, tolerances, threading, prototypes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knowledge/injection-molding/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Moldability, wall thickness, overmolding, LSR, materials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knowledge/sheet-metal/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Sheet metal fabrication guide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knowledge/3d-printing/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for AM, materials, end-use production, MJF vs SLS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knowledge/materials/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Corrosion-resistant metals, UV plastics, glass transition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knowledge/verticals/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Aerospace, medical, automotive, EV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knowledge/trends/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2026 innovation, Industry 4.0, product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knowledge/compliance/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ITAR, EAR, ISO, FDA, NIST, GDPR, EU AI Act, RoHS, REACH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knowledge/cad/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CAD parsing, feature recognition, VLM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knowledge/ai/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governance, prompt injection, adversarial defense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Each with source_url frontmatter + fetched_at 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03D6B"/>
                </a:solidFill>
                <a:latin typeface="Calibri"/>
              </a:defRPr>
            </a:pPr>
            <a:r>
              <a:t>Source Grounding: Every claim cites [KB file path → original ProtoLabs URL]  |  KB Freshness: Articles cached with timestamps; /pl-refresh-kb for updates  |  SLA: Manual → Automated weekly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Governance Framework — 7-Stage Lifecycle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Artifacts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00 — Getting 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How do we begin?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Lifecycle canvas, navigation guide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01 — Discovery Governance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we build it?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 registry, feasibility gates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02 — Development Governance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How do we build it safely?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Skill manifests, SAFEST assessments (112 pts)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03 — Runtime Governance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How do we protect it live?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KILLSWITCH files, guardrails, monitoring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04 — Operational Governance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How do we respond to incidents?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Incident response, audit trails, regulatory 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05 — Cross-Cutting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 applies everywhere?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Glossary, RACI, regulatory index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06 — Executive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 does the board see?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T1–T4 dashboards, quarterly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07 — Enterprise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How do we scale?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Org model, process integration, risk-based adoption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3D6B"/>
                </a:solidFill>
                <a:latin typeface="Calibri"/>
              </a:defRPr>
            </a:pPr>
            <a:r>
              <a:t>Protolabs-Specific Governance Artifacts (governance/protolabs/):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Agent Risk Registry (ARI-scored)  •  SAFEST Coverage Matrix (10 × 112)  •  Customer CAD IP Guardrail  •  DFM Accuracy Eval Suite  •  Source-Grounding Contract  •  Red-Team Playbook (20–30 tests)  •  KB Freshness Contract  •  Per-Agent: registry.yaml, KILLSWITCH.md, SAFEST assessment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Compliance Coverage — 12 Regulatory Frameworks Mapped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03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Relevance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Artifacts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ISO/IEC 42001:2023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Management System certifiable 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65%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18 certification artifacts, Q1 2027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NIST AI RMF 1.0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GOVERN/MAP/MEASURE/MANAGE alignment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Operational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Per-client-journey-stage mapping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EU AI 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Annex III enforcement Aug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⚠️ Gaps closing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 new procedures, 116-control matrix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GDPR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EU data protection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Covered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Data processing agreements, DLP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ITAR / 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Defense export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Covered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Access controls, data residency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 9001 / AS9100D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Quality management / aerospace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Mapped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Process integration, audit trails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 13485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Medical device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Mapped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controls,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IATF 16949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Automotive quality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Mapped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PPAP integration, process control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FDA 21 CFR 820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Medical device QSR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Mapped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history, CAPA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NIST CSF / 800-171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Cybersecurity / CUI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WP01-WP04 work packages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RoHS / REACH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Environmental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Covered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Material declarations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2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Singapore MGF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governance framework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Operational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Hard guardrails, human accountability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008CBA"/>
                </a:solidFill>
                <a:latin typeface="Calibri Light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Implementation &amp; Strategic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99999"/>
                </a:solidFill>
                <a:latin typeface="Calibri Light"/>
              </a:defRPr>
            </a:pPr>
            <a:r>
              <a:t>Work packages, CAD AI strategy, investment priorities, and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Implementation Workstreams — Status &amp; Risk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Track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WP-CAD — CAD AI 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🟡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$600K strategic initiative for automated DFM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WP01 — Input Sanitization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🔴 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Unprotected AI inputs (prompt injection)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WP02 — Adversarial Defense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🔴 Blocked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multi-layer defense against attacks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WP03 — Runtime Monitoring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🔴 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Blind spot in AI system behavior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WP04 — Audit &amp;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🔴 Blocked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Missing tamper-evident audit trails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P1 — Zero-Trust Architecture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👥 Discussion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Network segmentation for AI services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P1 — Insider Threat Program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👥 Discussion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Behavioral analytics for manufacturing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P1 — Nation-State Countermeasures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👥 Discussion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APT protection for manufacturing IP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CAD AI Strategic Initiative — $600K Investment, 12 Weeks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5349240"/>
            <a:ext cx="201168" cy="201168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303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CAD Parser (STEP, STL, OBJ, 3MF, IGES)</a:t>
            </a:r>
          </a:p>
        </p:txBody>
      </p:sp>
      <p:sp>
        <p:nvSpPr>
          <p:cNvPr id="8" name="Oval 7"/>
          <p:cNvSpPr/>
          <p:nvPr/>
        </p:nvSpPr>
        <p:spPr>
          <a:xfrm>
            <a:off x="4480559" y="5349240"/>
            <a:ext cx="201168" cy="201168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79" y="5303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Feature Recognition (&gt;95% precision)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5349240"/>
            <a:ext cx="201168" cy="201168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5303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VLM Analysis (&lt;5s inference)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852160"/>
            <a:ext cx="201168" cy="201168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8064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DFM Rule Engine (100% guideline coverage)</a:t>
            </a:r>
          </a:p>
        </p:txBody>
      </p:sp>
      <p:sp>
        <p:nvSpPr>
          <p:cNvPr id="14" name="Oval 13"/>
          <p:cNvSpPr/>
          <p:nvPr/>
        </p:nvSpPr>
        <p:spPr>
          <a:xfrm>
            <a:off x="4480559" y="5852160"/>
            <a:ext cx="201168" cy="201168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79" y="58064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Historical Comparison (&lt;100ms search)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5852160"/>
            <a:ext cx="201168" cy="201168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58064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REST API + Dashboard (24/7 self-service)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DFM Ambition — The AI-Powered Future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AI-Augmented Target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Quote Turnaround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2–5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&lt;24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 reduction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Iterations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3–5 per part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1–2 per part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40% reduction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DFM Issue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85% (manual review)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&gt;95% (AI + human)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+10%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First-Pass Yield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&gt;97%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+5% yield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Engineer Time per 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 hour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75% time savings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Client Satisfaction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4.1 / 5.0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&gt;4.5 / 5.0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+0.4 satisfaction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412480" y="1188720"/>
            <a:ext cx="3474720" cy="274320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0" y="13716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CAD AI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92024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Investment: $600K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Annual Savings: $2.5M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Payback: 3 months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3-Year NPV: $6.8M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Total Annual Return:</a:t>
            </a:r>
          </a:p>
          <a:p>
            <a:pPr algn="ctr">
              <a:spcAft>
                <a:spcPts val="519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$6.0M+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Total Investment Required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7548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Payback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 42001 Certification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$180K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Q2 2026 – Q1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Immediate (procurement gate)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CAD AI Strategic Initiative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$600K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weeks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months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Learning Roadmap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$750K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EU AI Act Gap Closure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$150K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Q2–Q3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Immediate (market access)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Governance 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$120K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$1.8M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589% ROI / 3-Year NPV: $12.4M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ISO 42001 Certification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3291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GAP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103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18 artifacts created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7 EU artifacts created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Pre-certification audit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560320"/>
            <a:ext cx="164592" cy="128016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651760" cy="3291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6517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4630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PRE-CERT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86000"/>
            <a:ext cx="2103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Internal audit complete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Remediation actions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Readiness review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2560320"/>
            <a:ext cx="164592" cy="128016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651760" cy="3291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651760" cy="73152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4630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830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3D6B"/>
                </a:solidFill>
                <a:latin typeface="Calibri"/>
              </a:defRPr>
            </a:pPr>
            <a:r>
              <a:t>STAGE 1 &amp;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2103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Stage 1 audit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Stage 2 audit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Closing meeting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52560" y="2560320"/>
            <a:ext cx="164592" cy="128016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1280160"/>
            <a:ext cx="2651760" cy="3291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1280160"/>
            <a:ext cx="2651760" cy="73152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14630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7830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8CBA"/>
                </a:solidFill>
                <a:latin typeface="Calibri"/>
              </a:defRPr>
            </a:pPr>
            <a:r>
              <a:t>CERTIFIED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286000"/>
            <a:ext cx="2103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ISO 42001 cert issued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First certified AI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manufacturing company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Clause Readiness Scorecard (Overall: 65% — On Track for Q1 2027)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65760" y="5303520"/>
          <a:ext cx="1295019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Clause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— Context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 — Leadership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 — Planning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— Support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 — Operation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 — Perf. Eval.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 — Improvement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Readiness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Strong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🔄 Board done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Strong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🔄 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✅ Strong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🔄 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🔄 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Risk Management — What Could Go Wrong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hallucination → bad DFM recommendation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Golden dataset &gt;90% accuracy, human PE review, kill switch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Safety Officer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Adversarial attack on AI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WP02 5-layer defense, &gt;98% detection 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Security Engineer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EU AI Act non-compliance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 new procedures, conformity assessment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Officer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 42001 certification delay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18 artifacts complete, Q1 2027 target, pre-audit planned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Client data breach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WP01 input sanitization, encryption, DLP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bias in recommendations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Bias audits, fairness evals, diverse test cases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Ethics Lead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Staff resistance to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Learning roadmap, change management, executive sponsorship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Competitor beats us to certification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Accelerated timeline, first-mover positioning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Safety Architecture — Defense in Depth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5486400"/>
          <a:ext cx="68580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81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Response Time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Kill Switch — Tier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Human confirmation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30-second override window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Kill Switch — Tier 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Automatic halt on anomaly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5-second emergency stop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Safety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Monitors all agent outputs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Temporal, spatial, parametric, functional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81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Adversarial Defense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5-layer multi-stage defense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&gt;98%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81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Trail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Tamper-evident logging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within 1s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Human-Augmented Manufacturing — 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003D6B"/>
                </a:solidFill>
                <a:latin typeface="Calibri Light"/>
              </a:defRPr>
            </a:pPr>
            <a:r>
              <a:t>"AI agents handle routine analysis, pattern recognition, and initial recommendations. Human experts apply judgment, creativity, and domain expertise to validate, refine, and decide."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1945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Mfg. Engineers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 AI literacy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AI-augmented domain experts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 hrs, 7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Quality Engineers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AI validation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quality validators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 hrs, 6 modules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Account Managers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AI explanation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client translators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hrs, 5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Software Engineers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Limited domain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Mfg. AI engineers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52 hrs, 7 modules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120 days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Compliance/Legal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Limited AI-specific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governance professionals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48 hrs, 7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120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Executives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Limited operational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AI-savvy leaders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18 hrs, 5 modules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Shop Floor Operators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AI interaction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AI-aware operators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 hrs, 4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Learning Roadmap Investment: $750K 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LMS Platform: $50K  |  Content Development: $200K  |  External Trainers: $100K  |  Lab Infrastructure: $75K  |  Staff Time: $300K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ADR-001: Architecture Decision — Modular Monolith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Status: ACCEPTED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Context: The ProtoLab system is maintained by a small team. Independent scaling of agents is not required. The primary concern is maintainability and ease of adding new agents/KB articles.</a:t>
            </a:r>
            <a:br/>
            <a:br/>
            <a:r>
              <a:t>Decision: Use a modular monolith architecture where agents are self-contained files that share a common routing and KB loading infrastructure. No independent deployable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✅ Advantages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29768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427939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Easier to add new agents (copy file, register in CLAUDE.md)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70916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69087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Single codebase, single review 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512064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10235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No distributed system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❌ Trade-offs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4297680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427939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Cannot scale individual agents independently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4709160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469087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All agents share the same release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t>File Organization: Convention-Driven Extensibility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agents/  •  knowledge/  •  templates/  •  governance/  •  .claude/commands/  •  .claude/skills/  •  tools/cad-parser/  •  web/src/  •  docs/  •  reference/  •  solutions-discovery/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Key Metrics &amp; Benchmarks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KB Articles Cached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Specialist Agents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Frameworks Mapped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Governance Stages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 (complete)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P0 Work Packages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 (all resolved)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Source Citation Coverage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KB Freshness SLA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Manual refresh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Automated weekly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DFM Issue Detection Accuracy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Quote Turnaround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2–5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&lt;24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First-Pass Yield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&gt;97%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 42001 Readiness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100% (Q1 2027)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Engineer Time per Quote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 hours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 hour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83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3-Year NPV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$12.4M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Board Decisions Required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Approve ISO 42001 certification program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$180K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Q1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Procurement gate for aerospace/medical/automotive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Approve CAD AI strategic initiative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$600K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weeks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 quote reduction, competitive differentiation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Approve AI learning roadmap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$750K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Workforce transformation, human-augmented 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Approve EU AI Act compliance program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$150K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Q2–Q3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EU market access, penalty avoidance (€35M max)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Endorse human-augmented mfg. 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Strategic direction, cultural transformation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 INVESTMENT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$1.8M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589% ROI | 3-Year NPV: $12.4M | Payback: &lt;6 months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If We Don't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⚠️  Lose aerospace, medical, automotive clients to certified competitors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⚠️  Competitors achieve 50% faster quotes; ProtoLabs loses market share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⚠️  Staff cannot work effectively with AI; adoption fails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⚠️  €35M penalty risk; EU market access denied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⚠️  Safety incident, regulatory fine, reputational damage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If We Do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5029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  First certified AI manufacturing company; procurement advantage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  50% faster quotes, 40% fewer iterations, happier clients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  AI-fluent workforce; human-augmented operations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  Unrestricted EU market access; zero penalty risk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  Unassailable competitive moat; client trust; regulatory confidence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Next Steps &amp;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Immediate Actions (Next 30 Days)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Board approval of investment package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15,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Resource allocation and hiring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CPO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30,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Kick off ISO 42001 pre-certification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Begin CAD AI development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CTO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15,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Launch AI awareness campaign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Update EU AI Act risk classification for mfg.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Officer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30,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1887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Quarterly Board Updates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737360"/>
          <a:ext cx="4389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Quarter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Q2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 closure, CAD AI 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Progress report,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Pre-cert, learning launch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readiness, metrics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Q4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Stage 1 audit, EU comp.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results,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Q1 2027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Certification, scale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 42001 cert, ROI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3D6B"/>
                </a:solidFill>
                <a:latin typeface="Calibri"/>
              </a:defRPr>
            </a:pPr>
            <a:r>
              <a:t>Accountability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5120640"/>
          <a:ext cx="1143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Accountability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</a:t>
                      </a:r>
                    </a:p>
                  </a:txBody>
                  <a:tcPr anchor="ctr"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governance, certification, strategy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ISO 42001 certification by Q1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CTO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CAD AI development, technical delivery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CAD AI live by Week 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Learning roadmap, change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100% L1 certification by Month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Officer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EU AI Act compliance, regulatory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Zero non-compliance by Aug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Safety Officer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safety, incident prevention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Zero safety incidents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  <a:latin typeface="Calibri Light"/>
              </a:defRPr>
            </a:pPr>
            <a:r>
              <a:t>"ProtoLabs will be the first ISO 42001-certified</a:t>
            </a:r>
            <a:br/>
            <a:r>
              <a:t>AI manufacturing company, delivering human-augmented,</a:t>
            </a:r>
            <a:br/>
            <a:r>
              <a:t>AI-powered design-for-manufacturability that is faster,</a:t>
            </a:r>
            <a:br/>
            <a:r>
              <a:t>more accurate, and safer than any competitor."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3017520" cy="22860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301752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3657600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8CBA"/>
                </a:solidFill>
                <a:latin typeface="Calibri"/>
              </a:defRPr>
            </a:pPr>
            <a:r>
              <a:t>STRATEGIC</a:t>
            </a:r>
            <a:br/>
            <a:r>
              <a:t>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48056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CAD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84632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50% faster quotes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21208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40% fewer iterations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474720"/>
            <a:ext cx="3017520" cy="22860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474720"/>
            <a:ext cx="301752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3657600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8CBA"/>
                </a:solidFill>
                <a:latin typeface="Calibri"/>
              </a:defRPr>
            </a:pPr>
            <a:r>
              <a:t>OPERATIONAL</a:t>
            </a:r>
            <a:br/>
            <a:r>
              <a:t>EXCELLENCE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48056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84632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60+ KB articles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21208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3474720"/>
            <a:ext cx="3017520" cy="22860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0" y="3474720"/>
            <a:ext cx="3017520" cy="54864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3657600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8CBA"/>
                </a:solidFill>
                <a:latin typeface="Calibri"/>
              </a:defRPr>
            </a:pPr>
            <a:r>
              <a:t>GOVERNANCE</a:t>
            </a:r>
            <a:br/>
            <a:r>
              <a:t>EXCELLENCE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48056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ISO 42001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84632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EU AI Act compliant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21208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NIST aligned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52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Calibri Light"/>
              </a:defRPr>
            </a:pPr>
            <a:r>
              <a:t>Approve $1.8M investment to establish ProtoLabs as the AI manufacturing leader.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6355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Questions?  •  ProtoLabs AI Governance Office  •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3355</Words>
  <Application>Microsoft Office PowerPoint</Application>
  <PresentationFormat>Widescreen</PresentationFormat>
  <Paragraphs>764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Dimos Gougousis</cp:lastModifiedBy>
  <cp:revision>2</cp:revision>
  <dcterms:created xsi:type="dcterms:W3CDTF">2013-01-27T09:14:16Z</dcterms:created>
  <dcterms:modified xsi:type="dcterms:W3CDTF">2026-05-03T21:27:21Z</dcterms:modified>
  <cp:category/>
</cp:coreProperties>
</file>